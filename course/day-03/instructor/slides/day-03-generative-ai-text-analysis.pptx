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講師關鍵句：今天的重點不是做一個聊天機器人，而是讓每個答案都能回到資料來源。
學生動作：打開課程 repo，確認已 clone Day-03 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講師關鍵句：今天不是先做聊天畫面；要先把自己的校務資料變成可用索引。
學生動作：確認今天的最終成果是自己的本機問答助手。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講師關鍵句：前 30 分鐘一起把工具裝好；之後每個階段都要留下可回查的產物。
學生動作：完成健康檢查後，依時程安排工作，午休前完成解析與品質檢查。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講師關鍵句：學生不會得到一個已完成的聊天室；資料處理完成後，才用 Codex 建立它。
學生動作：說出今天的四段順序。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講師關鍵句：Codex 依提示詞協作，MarkItDown 負責解析已下載文件，Ollama 在最後的索引與回答階段運作。
學生動作：完成一筆成功下載後，才以 file: URI 測試 MarkItDown MCP。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講師關鍵句：這些不是考試名詞，而是介面建立前必須完成的資料成果。
學生動作：在 repo README 找到資料夾結構與輸出檔。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講師關鍵句：學生不選網址；直接使用課程指定的四份公開資料，降低新手操作負擔。
學生動作：貼上提示詞 02-1、02-2，建立個人資料夾與固定 scope。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講師關鍵句：學生只貼一個批次提示詞；Codex 仍必須逐份確認、處理並記錄失敗原因。
學生動作：貼上提示詞 03，完成四份指定資料的結果表。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講師關鍵句：此時才實際確認 MarkItDown MCP，因為我們已經有一份可解析的檔案。
學生動作：提示詞 03 已批次完成取得、解析與品質檢查；講師帶學生核對任一成功來源的 raw、Markdown 與品質結果。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講師關鍵句：不要把 PDF 轉出一堆破碎表格，卻假裝它已經適合問答。
學生動作：為文件設定品質狀態，非 ready 必須寫下原因。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講師關鍵句：chunk 不只是一段文字；它同時帶著來源，才能被檢索和引用。
學生動作：處理 Markdown 後執行 python scripts/build_index.py。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講師關鍵句：這一頁確認的不是答案，而是 Streamlit 稍後會使用的資料來源與索引欄位。
學生動作：確認 vector_index.jsonl 已建立，並知道有哪些文件與 chunks。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講師關鍵句：介面在資料與索引完成後才建立；學生要核對的是找回的 evidence 是否支撐回答。
學生動作：依提示詞 05-1 到 05-4 建立 Streamlit 介面，再接上自己的向量索引。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講師關鍵句：這是學生以 Codex 從空白建立的 Streamlit 介面；問題先出現在右側，答案與引用在左側。
學生動作：以自己的索引提問，確認答案、年度與來源完整顯示。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講師關鍵句：資料不足不是失敗；它告訴學生下一輪應補哪一類公開文件，而不是讓模型猜。
學生動作：測試四類問題，確認英文與日期題會顯示適用年度或公告日期。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講師關鍵句：問答紀錄把一次問答轉成下一次改善的資料；它不是真實使用者回饋。
學生動作：確認本機問答紀錄表格會彙整每次對話的主要主題，並保留每題自我測試紀錄。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講師關鍵句：改善不是憑感覺調 prompt；每一項 backlog 都要回連 query_id 和證據。
學生動作：貼上提示詞 07-1，將自我測試紀錄分類為可執行的改善動作。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講師關鍵句：今天不是交作業；請每個人用自己的電腦核對完整證據鏈。
學生動作：完成個人自我檢核；不公開部署或分享連結。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YUNTECH WORKSHOP · 2026 / 08 / 05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Day 3｜生成式人工智慧於文本資料分析的應用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DAY 03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03504" y="1481328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先完成校務資料與索引，再用 Codex 做出自己的問答助手</a:t>
            </a:r>
            <a:endParaRPr lang="en-US" sz="2000" dirty="0"/>
          </a:p>
        </p:txBody>
      </p:sp>
      <p:sp>
        <p:nvSpPr>
          <p:cNvPr id="52" name="Shape 49"/>
          <p:cNvSpPr/>
          <p:nvPr/>
        </p:nvSpPr>
        <p:spPr>
          <a:xfrm>
            <a:off x="64008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2296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指定資料</a:t>
            </a:r>
            <a:endParaRPr lang="en-US" sz="1800" dirty="0"/>
          </a:p>
        </p:txBody>
      </p:sp>
      <p:sp>
        <p:nvSpPr>
          <p:cNvPr id="54" name="Text 51"/>
          <p:cNvSpPr/>
          <p:nvPr/>
        </p:nvSpPr>
        <p:spPr>
          <a:xfrm>
            <a:off x="285292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55" name="Shape 52"/>
          <p:cNvSpPr/>
          <p:nvPr/>
        </p:nvSpPr>
        <p:spPr>
          <a:xfrm>
            <a:off x="329184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347472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處理與索引</a:t>
            </a:r>
            <a:endParaRPr lang="en-US" sz="1800" dirty="0"/>
          </a:p>
        </p:txBody>
      </p:sp>
      <p:sp>
        <p:nvSpPr>
          <p:cNvPr id="57" name="Text 54"/>
          <p:cNvSpPr/>
          <p:nvPr/>
        </p:nvSpPr>
        <p:spPr>
          <a:xfrm>
            <a:off x="550468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58" name="Shape 55"/>
          <p:cNvSpPr/>
          <p:nvPr/>
        </p:nvSpPr>
        <p:spPr>
          <a:xfrm>
            <a:off x="594360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12648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Streamlit 介面</a:t>
            </a:r>
            <a:endParaRPr lang="en-US" sz="1800" dirty="0"/>
          </a:p>
        </p:txBody>
      </p:sp>
      <p:sp>
        <p:nvSpPr>
          <p:cNvPr id="60" name="Text 57"/>
          <p:cNvSpPr/>
          <p:nvPr/>
        </p:nvSpPr>
        <p:spPr>
          <a:xfrm>
            <a:off x="815644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61" name="Shape 58"/>
          <p:cNvSpPr/>
          <p:nvPr/>
        </p:nvSpPr>
        <p:spPr>
          <a:xfrm>
            <a:off x="859536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3679B9"/>
          </a:solidFill>
          <a:ln w="12700">
            <a:solidFill>
              <a:srgbClr val="3679B9">
                <a:alpha val="0"/>
              </a:srgbClr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877824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可引用問答</a:t>
            </a:r>
            <a:endParaRPr lang="en-US" sz="1800" dirty="0"/>
          </a:p>
        </p:txBody>
      </p:sp>
      <p:sp>
        <p:nvSpPr>
          <p:cNvPr id="63" name="Text 60"/>
          <p:cNvSpPr/>
          <p:nvPr/>
        </p:nvSpPr>
        <p:spPr>
          <a:xfrm>
            <a:off x="621792" y="53218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講師｜張育慈 Ruby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今日成果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今天結束前，你會完成什麼？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OPENING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85800" y="1417320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85800" y="1417320"/>
            <a:ext cx="91440" cy="1389888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41832" y="1645920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指定公開資料</a:t>
            </a:r>
            <a:endParaRPr lang="en-US" sz="1800" dirty="0"/>
          </a:p>
        </p:txBody>
      </p:sp>
      <p:sp>
        <p:nvSpPr>
          <p:cNvPr id="66" name="Text 63"/>
          <p:cNvSpPr/>
          <p:nvPr/>
        </p:nvSpPr>
        <p:spPr>
          <a:xfrm>
            <a:off x="941832" y="2112264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依課程給定的四份校務資料，不自行擴大網址。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6245352" y="1417320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6245352" y="1417320"/>
            <a:ext cx="91440" cy="1389888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6501384" y="1645920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自己的資料索引</a:t>
            </a:r>
            <a:endParaRPr lang="en-US" sz="1800" dirty="0"/>
          </a:p>
        </p:txBody>
      </p:sp>
      <p:sp>
        <p:nvSpPr>
          <p:cNvPr id="70" name="Text 67"/>
          <p:cNvSpPr/>
          <p:nvPr/>
        </p:nvSpPr>
        <p:spPr>
          <a:xfrm>
            <a:off x="6501384" y="2112264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 raw、Markdown、品質結果、chunks 與向量索引。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685800" y="3264408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3264408"/>
            <a:ext cx="91440" cy="1389888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941832" y="3493008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 建立介面</a:t>
            </a:r>
            <a:endParaRPr lang="en-US" sz="1800" dirty="0"/>
          </a:p>
        </p:txBody>
      </p:sp>
      <p:sp>
        <p:nvSpPr>
          <p:cNvPr id="74" name="Text 71"/>
          <p:cNvSpPr/>
          <p:nvPr/>
        </p:nvSpPr>
        <p:spPr>
          <a:xfrm>
            <a:off x="941832" y="3959352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從空白建立 Streamlit 聊天頁、開新對話與問答紀錄。</a:t>
            </a:r>
            <a:endParaRPr lang="en-US" sz="1600" dirty="0"/>
          </a:p>
        </p:txBody>
      </p:sp>
      <p:sp>
        <p:nvSpPr>
          <p:cNvPr id="75" name="Shape 72"/>
          <p:cNvSpPr/>
          <p:nvPr/>
        </p:nvSpPr>
        <p:spPr>
          <a:xfrm>
            <a:off x="6245352" y="3264408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6245352" y="3264408"/>
            <a:ext cx="91440" cy="1389888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6501384" y="3493008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可引用 RAG</a:t>
            </a:r>
            <a:endParaRPr lang="en-US" sz="1800" dirty="0"/>
          </a:p>
        </p:txBody>
      </p:sp>
      <p:sp>
        <p:nvSpPr>
          <p:cNvPr id="78" name="Text 75"/>
          <p:cNvSpPr/>
          <p:nvPr/>
        </p:nvSpPr>
        <p:spPr>
          <a:xfrm>
            <a:off x="6501384" y="3959352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回答只用自己的來源；證據不足時明確停止。</a:t>
            </a:r>
            <a:endParaRPr lang="en-US" sz="1600" dirty="0"/>
          </a:p>
        </p:txBody>
      </p:sp>
      <p:sp>
        <p:nvSpPr>
          <p:cNvPr id="79" name="Text 76"/>
          <p:cNvSpPr/>
          <p:nvPr/>
        </p:nvSpPr>
        <p:spPr>
          <a:xfrm>
            <a:off x="713232" y="541324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完成順序不能倒過來：資料 → 索引 → Streamlit → RAG 問答與歷程。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 — 16:30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今日時程與檢查點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OPENING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91440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85800" y="2670048"/>
            <a:ext cx="502920" cy="50292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7607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57607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工具建置</a:t>
            </a:r>
            <a:endParaRPr lang="en-US" sz="1400" dirty="0"/>
          </a:p>
        </p:txBody>
      </p:sp>
      <p:sp>
        <p:nvSpPr>
          <p:cNvPr id="67" name="Text 64"/>
          <p:cNvSpPr/>
          <p:nvPr/>
        </p:nvSpPr>
        <p:spPr>
          <a:xfrm>
            <a:off x="57607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 + Ollama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278892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560320" y="2670048"/>
            <a:ext cx="502920" cy="50292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245059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09:30</a:t>
            </a:r>
            <a:endParaRPr lang="en-US" sz="1400" dirty="0"/>
          </a:p>
        </p:txBody>
      </p:sp>
      <p:sp>
        <p:nvSpPr>
          <p:cNvPr id="71" name="Text 68"/>
          <p:cNvSpPr/>
          <p:nvPr/>
        </p:nvSpPr>
        <p:spPr>
          <a:xfrm>
            <a:off x="245059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固定資料範圍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245059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四份指定來源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466344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4434840" y="2670048"/>
            <a:ext cx="502920" cy="50292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32511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10:00</a:t>
            </a:r>
            <a:endParaRPr lang="en-US" sz="1400" dirty="0"/>
          </a:p>
        </p:txBody>
      </p:sp>
      <p:sp>
        <p:nvSpPr>
          <p:cNvPr id="76" name="Text 73"/>
          <p:cNvSpPr/>
          <p:nvPr/>
        </p:nvSpPr>
        <p:spPr>
          <a:xfrm>
            <a:off x="432511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取得、解析、檢查</a:t>
            </a:r>
            <a:endParaRPr lang="en-US" sz="1400" dirty="0"/>
          </a:p>
        </p:txBody>
      </p:sp>
      <p:sp>
        <p:nvSpPr>
          <p:cNvPr id="77" name="Text 74"/>
          <p:cNvSpPr/>
          <p:nvPr/>
        </p:nvSpPr>
        <p:spPr>
          <a:xfrm>
            <a:off x="432511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 → Markdown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653796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309360" y="2670048"/>
            <a:ext cx="502920" cy="50292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619963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13:30</a:t>
            </a:r>
            <a:endParaRPr lang="en-US" sz="1400" dirty="0"/>
          </a:p>
        </p:txBody>
      </p:sp>
      <p:sp>
        <p:nvSpPr>
          <p:cNvPr id="81" name="Text 78"/>
          <p:cNvSpPr/>
          <p:nvPr/>
        </p:nvSpPr>
        <p:spPr>
          <a:xfrm>
            <a:off x="619963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切塊與索引</a:t>
            </a:r>
            <a:endParaRPr lang="en-US" sz="1400" dirty="0"/>
          </a:p>
        </p:txBody>
      </p:sp>
      <p:sp>
        <p:nvSpPr>
          <p:cNvPr id="82" name="Text 79"/>
          <p:cNvSpPr/>
          <p:nvPr/>
        </p:nvSpPr>
        <p:spPr>
          <a:xfrm>
            <a:off x="619963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chunks → vectors</a:t>
            </a:r>
            <a:endParaRPr lang="en-US" sz="1000" dirty="0"/>
          </a:p>
        </p:txBody>
      </p:sp>
      <p:sp>
        <p:nvSpPr>
          <p:cNvPr id="83" name="Shape 80"/>
          <p:cNvSpPr/>
          <p:nvPr/>
        </p:nvSpPr>
        <p:spPr>
          <a:xfrm>
            <a:off x="841248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183880" y="2670048"/>
            <a:ext cx="502920" cy="50292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807415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14:30</a:t>
            </a:r>
            <a:endParaRPr lang="en-US" sz="1400" dirty="0"/>
          </a:p>
        </p:txBody>
      </p:sp>
      <p:sp>
        <p:nvSpPr>
          <p:cNvPr id="86" name="Text 83"/>
          <p:cNvSpPr/>
          <p:nvPr/>
        </p:nvSpPr>
        <p:spPr>
          <a:xfrm>
            <a:off x="807415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 Streamlit</a:t>
            </a:r>
            <a:endParaRPr lang="en-US" sz="1400" dirty="0"/>
          </a:p>
        </p:txBody>
      </p:sp>
      <p:sp>
        <p:nvSpPr>
          <p:cNvPr id="87" name="Text 84"/>
          <p:cNvSpPr/>
          <p:nvPr/>
        </p:nvSpPr>
        <p:spPr>
          <a:xfrm>
            <a:off x="807415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 + RAG</a:t>
            </a:r>
            <a:endParaRPr lang="en-US" sz="1000" dirty="0"/>
          </a:p>
        </p:txBody>
      </p:sp>
      <p:sp>
        <p:nvSpPr>
          <p:cNvPr id="88" name="Shape 85"/>
          <p:cNvSpPr/>
          <p:nvPr/>
        </p:nvSpPr>
        <p:spPr>
          <a:xfrm>
            <a:off x="10287000" y="2926080"/>
            <a:ext cx="1417320" cy="0"/>
          </a:xfrm>
          <a:prstGeom prst="line">
            <a:avLst/>
          </a:prstGeom>
          <a:noFill/>
          <a:ln w="25400">
            <a:solidFill>
              <a:srgbClr val="E8F1F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10058400" y="2670048"/>
            <a:ext cx="502920" cy="50292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994867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15:40</a:t>
            </a:r>
            <a:endParaRPr lang="en-US" sz="1400" dirty="0"/>
          </a:p>
        </p:txBody>
      </p:sp>
      <p:sp>
        <p:nvSpPr>
          <p:cNvPr id="91" name="Text 88"/>
          <p:cNvSpPr/>
          <p:nvPr/>
        </p:nvSpPr>
        <p:spPr>
          <a:xfrm>
            <a:off x="994867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測試與歷程</a:t>
            </a:r>
            <a:endParaRPr lang="en-US" sz="1400" dirty="0"/>
          </a:p>
        </p:txBody>
      </p:sp>
      <p:sp>
        <p:nvSpPr>
          <p:cNvPr id="92" name="Text 89"/>
          <p:cNvSpPr/>
          <p:nvPr/>
        </p:nvSpPr>
        <p:spPr>
          <a:xfrm>
            <a:off x="994867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問答紀錄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先資料、後介面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今天的成品，如何一步一步完成？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OVERVIEW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822960" y="1828800"/>
            <a:ext cx="297180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901952" y="1389888"/>
            <a:ext cx="822960" cy="82296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901952" y="16184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2000" dirty="0"/>
          </a:p>
        </p:txBody>
      </p:sp>
      <p:sp>
        <p:nvSpPr>
          <p:cNvPr id="66" name="Text 63"/>
          <p:cNvSpPr/>
          <p:nvPr/>
        </p:nvSpPr>
        <p:spPr>
          <a:xfrm>
            <a:off x="109728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指定資料</a:t>
            </a:r>
            <a:endParaRPr lang="en-US" sz="2100" dirty="0"/>
          </a:p>
        </p:txBody>
      </p:sp>
      <p:sp>
        <p:nvSpPr>
          <p:cNvPr id="67" name="Text 64"/>
          <p:cNvSpPr/>
          <p:nvPr/>
        </p:nvSpPr>
        <p:spPr>
          <a:xfrm>
            <a:off x="1143000" y="29626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依序取得四份課程指定的公開文件</a:t>
            </a:r>
            <a:endParaRPr lang="en-US" sz="1350" dirty="0"/>
          </a:p>
        </p:txBody>
      </p:sp>
      <p:sp>
        <p:nvSpPr>
          <p:cNvPr id="68" name="Text 65"/>
          <p:cNvSpPr/>
          <p:nvPr/>
        </p:nvSpPr>
        <p:spPr>
          <a:xfrm>
            <a:off x="3877056" y="26060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00" dirty="0"/>
          </a:p>
        </p:txBody>
      </p:sp>
      <p:sp>
        <p:nvSpPr>
          <p:cNvPr id="69" name="Shape 66"/>
          <p:cNvSpPr/>
          <p:nvPr/>
        </p:nvSpPr>
        <p:spPr>
          <a:xfrm>
            <a:off x="4617720" y="1828800"/>
            <a:ext cx="297180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696712" y="1389888"/>
            <a:ext cx="822960" cy="82296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696712" y="16184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2000" dirty="0"/>
          </a:p>
        </p:txBody>
      </p:sp>
      <p:sp>
        <p:nvSpPr>
          <p:cNvPr id="72" name="Text 69"/>
          <p:cNvSpPr/>
          <p:nvPr/>
        </p:nvSpPr>
        <p:spPr>
          <a:xfrm>
            <a:off x="489204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資料處理</a:t>
            </a:r>
            <a:endParaRPr lang="en-US" sz="2100" dirty="0"/>
          </a:p>
        </p:txBody>
      </p:sp>
      <p:sp>
        <p:nvSpPr>
          <p:cNvPr id="73" name="Text 70"/>
          <p:cNvSpPr/>
          <p:nvPr/>
        </p:nvSpPr>
        <p:spPr>
          <a:xfrm>
            <a:off x="4937760" y="29626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raw、Markdown、品質、chunks 與索引</a:t>
            </a:r>
            <a:endParaRPr lang="en-US" sz="1350" dirty="0"/>
          </a:p>
        </p:txBody>
      </p:sp>
      <p:sp>
        <p:nvSpPr>
          <p:cNvPr id="74" name="Text 71"/>
          <p:cNvSpPr/>
          <p:nvPr/>
        </p:nvSpPr>
        <p:spPr>
          <a:xfrm>
            <a:off x="7671816" y="26060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00" dirty="0"/>
          </a:p>
        </p:txBody>
      </p:sp>
      <p:sp>
        <p:nvSpPr>
          <p:cNvPr id="75" name="Shape 72"/>
          <p:cNvSpPr/>
          <p:nvPr/>
        </p:nvSpPr>
        <p:spPr>
          <a:xfrm>
            <a:off x="8412480" y="1828800"/>
            <a:ext cx="297180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491472" y="1389888"/>
            <a:ext cx="822960" cy="822960"/>
          </a:xfrm>
          <a:prstGeom prst="ellipse">
            <a:avLst/>
          </a:prstGeom>
          <a:solidFill>
            <a:srgbClr val="153E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491472" y="16184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2000" dirty="0"/>
          </a:p>
        </p:txBody>
      </p:sp>
      <p:sp>
        <p:nvSpPr>
          <p:cNvPr id="78" name="Text 75"/>
          <p:cNvSpPr/>
          <p:nvPr/>
        </p:nvSpPr>
        <p:spPr>
          <a:xfrm>
            <a:off x="868680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Codex＋Streamlit</a:t>
            </a:r>
            <a:endParaRPr lang="en-US" sz="2100" dirty="0"/>
          </a:p>
        </p:txBody>
      </p:sp>
      <p:sp>
        <p:nvSpPr>
          <p:cNvPr id="79" name="Text 76"/>
          <p:cNvSpPr/>
          <p:nvPr/>
        </p:nvSpPr>
        <p:spPr>
          <a:xfrm>
            <a:off x="8732520" y="29626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從空白建立介面，再接上自己的 RAG</a:t>
            </a:r>
            <a:endParaRPr lang="en-US" sz="1350" dirty="0"/>
          </a:p>
        </p:txBody>
      </p:sp>
      <p:sp>
        <p:nvSpPr>
          <p:cNvPr id="80" name="Text 77"/>
          <p:cNvSpPr/>
          <p:nvPr/>
        </p:nvSpPr>
        <p:spPr>
          <a:xfrm>
            <a:off x="1188720" y="4983480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關鍵順序：先取得資料與索引，最後才建立問答介面。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概念橋接 02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Codex、MarkItDown 與 Ollama：各自在正確階段幫忙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VOCABULARY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86384" y="1572768"/>
            <a:ext cx="2834640" cy="3108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115568" y="1965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</a:t>
            </a:r>
            <a:endParaRPr lang="en-US" sz="2700" dirty="0"/>
          </a:p>
        </p:txBody>
      </p:sp>
      <p:sp>
        <p:nvSpPr>
          <p:cNvPr id="65" name="Text 62"/>
          <p:cNvSpPr/>
          <p:nvPr/>
        </p:nvSpPr>
        <p:spPr>
          <a:xfrm>
            <a:off x="1115568" y="2633472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依提示詞協助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建立資料流程與介面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4736592" y="2304288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3679B9"/>
          </a:solidFill>
          <a:ln w="12700">
            <a:solidFill>
              <a:srgbClr val="3679B9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828032" y="254203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MarkItDown MCP</a:t>
            </a:r>
            <a:endParaRPr lang="en-US" sz="2100" dirty="0"/>
          </a:p>
        </p:txBody>
      </p:sp>
      <p:sp>
        <p:nvSpPr>
          <p:cNvPr id="68" name="Text 65"/>
          <p:cNvSpPr/>
          <p:nvPr/>
        </p:nvSpPr>
        <p:spPr>
          <a:xfrm>
            <a:off x="5074920" y="30358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解析已下載文件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8366760" y="1572768"/>
            <a:ext cx="2880360" cy="3108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8622792" y="19659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MarkItDown</a:t>
            </a:r>
            <a:endParaRPr lang="en-US" sz="2400" dirty="0"/>
          </a:p>
        </p:txBody>
      </p:sp>
      <p:sp>
        <p:nvSpPr>
          <p:cNvPr id="71" name="Text 68"/>
          <p:cNvSpPr/>
          <p:nvPr/>
        </p:nvSpPr>
        <p:spPr>
          <a:xfrm>
            <a:off x="8622792" y="26334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HTML / PDF / DOCX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 Markdown</a:t>
            </a:r>
            <a:endParaRPr lang="en-US" sz="1600" dirty="0"/>
          </a:p>
        </p:txBody>
      </p:sp>
      <p:sp>
        <p:nvSpPr>
          <p:cNvPr id="72" name="Text 69"/>
          <p:cNvSpPr/>
          <p:nvPr/>
        </p:nvSpPr>
        <p:spPr>
          <a:xfrm>
            <a:off x="3767328" y="26974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↔</a:t>
            </a:r>
            <a:endParaRPr lang="en-US" sz="3200" dirty="0"/>
          </a:p>
        </p:txBody>
      </p:sp>
      <p:sp>
        <p:nvSpPr>
          <p:cNvPr id="73" name="Text 70"/>
          <p:cNvSpPr/>
          <p:nvPr/>
        </p:nvSpPr>
        <p:spPr>
          <a:xfrm>
            <a:off x="7498080" y="26974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↔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不是先做聊天畫面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資料完成前，必須看見的七個產物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VOCABULARY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76072" y="1417320"/>
            <a:ext cx="91440" cy="141732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3210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scope</a:t>
            </a:r>
            <a:endParaRPr lang="en-US" sz="1700" dirty="0"/>
          </a:p>
        </p:txBody>
      </p:sp>
      <p:sp>
        <p:nvSpPr>
          <p:cNvPr id="66" name="Text 63"/>
          <p:cNvSpPr/>
          <p:nvPr/>
        </p:nvSpPr>
        <p:spPr>
          <a:xfrm>
            <a:off x="83210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四份指定來源與規則</a:t>
            </a:r>
            <a:endParaRPr lang="en-US" sz="1250" dirty="0"/>
          </a:p>
        </p:txBody>
      </p:sp>
      <p:sp>
        <p:nvSpPr>
          <p:cNvPr id="67" name="Shape 64"/>
          <p:cNvSpPr/>
          <p:nvPr/>
        </p:nvSpPr>
        <p:spPr>
          <a:xfrm>
            <a:off x="345643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456432" y="1417320"/>
            <a:ext cx="91440" cy="141732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371246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</a:t>
            </a:r>
            <a:endParaRPr lang="en-US" sz="1700" dirty="0"/>
          </a:p>
        </p:txBody>
      </p:sp>
      <p:sp>
        <p:nvSpPr>
          <p:cNvPr id="70" name="Text 67"/>
          <p:cNvSpPr/>
          <p:nvPr/>
        </p:nvSpPr>
        <p:spPr>
          <a:xfrm>
            <a:off x="371246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保留不改的原始檔</a:t>
            </a:r>
            <a:endParaRPr lang="en-US" sz="1250" dirty="0"/>
          </a:p>
        </p:txBody>
      </p:sp>
      <p:sp>
        <p:nvSpPr>
          <p:cNvPr id="71" name="Shape 68"/>
          <p:cNvSpPr/>
          <p:nvPr/>
        </p:nvSpPr>
        <p:spPr>
          <a:xfrm>
            <a:off x="633679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336792" y="1417320"/>
            <a:ext cx="91440" cy="141732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59282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Markdown</a:t>
            </a:r>
            <a:endParaRPr lang="en-US" sz="1700" dirty="0"/>
          </a:p>
        </p:txBody>
      </p:sp>
      <p:sp>
        <p:nvSpPr>
          <p:cNvPr id="74" name="Text 71"/>
          <p:cNvSpPr/>
          <p:nvPr/>
        </p:nvSpPr>
        <p:spPr>
          <a:xfrm>
            <a:off x="659282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可閱讀、可搜尋的文字</a:t>
            </a:r>
            <a:endParaRPr lang="en-US" sz="1250" dirty="0"/>
          </a:p>
        </p:txBody>
      </p:sp>
      <p:sp>
        <p:nvSpPr>
          <p:cNvPr id="75" name="Shape 72"/>
          <p:cNvSpPr/>
          <p:nvPr/>
        </p:nvSpPr>
        <p:spPr>
          <a:xfrm>
            <a:off x="921715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217152" y="1417320"/>
            <a:ext cx="91440" cy="1417320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47318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quality</a:t>
            </a:r>
            <a:endParaRPr lang="en-US" sz="1700" dirty="0"/>
          </a:p>
        </p:txBody>
      </p:sp>
      <p:sp>
        <p:nvSpPr>
          <p:cNvPr id="78" name="Text 75"/>
          <p:cNvSpPr/>
          <p:nvPr/>
        </p:nvSpPr>
        <p:spPr>
          <a:xfrm>
            <a:off x="947318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可否進入分析與索引</a:t>
            </a:r>
            <a:endParaRPr lang="en-US" sz="1250" dirty="0"/>
          </a:p>
        </p:txBody>
      </p:sp>
      <p:sp>
        <p:nvSpPr>
          <p:cNvPr id="79" name="Shape 76"/>
          <p:cNvSpPr/>
          <p:nvPr/>
        </p:nvSpPr>
        <p:spPr>
          <a:xfrm>
            <a:off x="57607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576072" y="3383280"/>
            <a:ext cx="91440" cy="141732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3210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</a:t>
            </a:r>
            <a:endParaRPr lang="en-US" sz="1700" dirty="0"/>
          </a:p>
        </p:txBody>
      </p:sp>
      <p:sp>
        <p:nvSpPr>
          <p:cNvPr id="82" name="Text 79"/>
          <p:cNvSpPr/>
          <p:nvPr/>
        </p:nvSpPr>
        <p:spPr>
          <a:xfrm>
            <a:off x="83210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可檢索、可引用的段落</a:t>
            </a:r>
            <a:endParaRPr lang="en-US" sz="1250" dirty="0"/>
          </a:p>
        </p:txBody>
      </p:sp>
      <p:sp>
        <p:nvSpPr>
          <p:cNvPr id="83" name="Shape 80"/>
          <p:cNvSpPr/>
          <p:nvPr/>
        </p:nvSpPr>
        <p:spPr>
          <a:xfrm>
            <a:off x="345643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3456432" y="3383280"/>
            <a:ext cx="91440" cy="141732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371246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vector index</a:t>
            </a:r>
            <a:endParaRPr lang="en-US" sz="1700" dirty="0"/>
          </a:p>
        </p:txBody>
      </p:sp>
      <p:sp>
        <p:nvSpPr>
          <p:cNvPr id="86" name="Text 83"/>
          <p:cNvSpPr/>
          <p:nvPr/>
        </p:nvSpPr>
        <p:spPr>
          <a:xfrm>
            <a:off x="371246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向量索引給 RAG 使用</a:t>
            </a:r>
            <a:endParaRPr lang="en-US" sz="1250" dirty="0"/>
          </a:p>
        </p:txBody>
      </p:sp>
      <p:sp>
        <p:nvSpPr>
          <p:cNvPr id="87" name="Shape 84"/>
          <p:cNvSpPr/>
          <p:nvPr/>
        </p:nvSpPr>
        <p:spPr>
          <a:xfrm>
            <a:off x="633679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336792" y="3383280"/>
            <a:ext cx="91440" cy="141732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659282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JSONL</a:t>
            </a:r>
            <a:endParaRPr lang="en-US" sz="1700" dirty="0"/>
          </a:p>
        </p:txBody>
      </p:sp>
      <p:sp>
        <p:nvSpPr>
          <p:cNvPr id="90" name="Text 87"/>
          <p:cNvSpPr/>
          <p:nvPr/>
        </p:nvSpPr>
        <p:spPr>
          <a:xfrm>
            <a:off x="659282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來源與問答的本機紀錄</a:t>
            </a:r>
            <a:endParaRPr lang="en-US" sz="1250" dirty="0"/>
          </a:p>
        </p:txBody>
      </p:sp>
      <p:sp>
        <p:nvSpPr>
          <p:cNvPr id="91" name="Text 88"/>
          <p:cNvSpPr/>
          <p:nvPr/>
        </p:nvSpPr>
        <p:spPr>
          <a:xfrm>
            <a:off x="749808" y="5468112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以上產物完成後，才開始用 Codex 建立 Streamlit 問答助手。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01 · 00-CREATE-PROJECT-AND-START-URL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00｜建立個人專案，再寫入固定資料範圍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SCOPE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58368" y="1417320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58368" y="1417320"/>
            <a:ext cx="91440" cy="36118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16459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四份固定資料</a:t>
            </a:r>
            <a:endParaRPr lang="en-US" sz="1800" dirty="0"/>
          </a:p>
        </p:txBody>
      </p:sp>
      <p:sp>
        <p:nvSpPr>
          <p:cNvPr id="66" name="Text 63"/>
          <p:cNvSpPr/>
          <p:nvPr/>
        </p:nvSpPr>
        <p:spPr>
          <a:xfrm>
            <a:off x="914400" y="2112264"/>
            <a:ext cx="48737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1. 技職所碩士班修業流程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2. 115 研究生手冊（DOCX）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3. 語言中心英文畢業門檻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4. 115-1 校務行事曆（PDF）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6537960" y="1417320"/>
            <a:ext cx="4919472" cy="3611880"/>
          </a:xfrm>
          <a:prstGeom prst="roundRect">
            <a:avLst>
              <a:gd name="adj" fmla="val 2025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876288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預期產物</a:t>
            </a:r>
            <a:endParaRPr lang="en-US" sz="2000" dirty="0"/>
          </a:p>
        </p:txBody>
      </p:sp>
      <p:sp>
        <p:nvSpPr>
          <p:cNvPr id="69" name="Text 66"/>
          <p:cNvSpPr/>
          <p:nvPr/>
        </p:nvSpPr>
        <p:spPr>
          <a:xfrm>
            <a:off x="6931152" y="2331720"/>
            <a:ext cx="4069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my-project/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data/raw/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data/manifests/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data/markdown/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data/processed/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analysis/  rag/  feedback/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02 · 固定來源批次處理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01｜一次批次依序處理四份指定資料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CRAWL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822960" y="1874520"/>
            <a:ext cx="658368" cy="658368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2296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600" dirty="0"/>
          </a:p>
        </p:txBody>
      </p:sp>
      <p:sp>
        <p:nvSpPr>
          <p:cNvPr id="65" name="Text 62"/>
          <p:cNvSpPr/>
          <p:nvPr/>
        </p:nvSpPr>
        <p:spPr>
          <a:xfrm>
            <a:off x="64008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確認規範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53035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只確認該來源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是否可公開取得</a:t>
            </a:r>
            <a:endParaRPr lang="en-US" sz="880" dirty="0"/>
          </a:p>
        </p:txBody>
      </p:sp>
      <p:sp>
        <p:nvSpPr>
          <p:cNvPr id="67" name="Shape 64"/>
          <p:cNvSpPr/>
          <p:nvPr/>
        </p:nvSpPr>
        <p:spPr>
          <a:xfrm>
            <a:off x="3611880" y="1874520"/>
            <a:ext cx="658368" cy="658368"/>
          </a:xfrm>
          <a:prstGeom prst="ellipse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361188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342900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取得原始檔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331927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HTML／DOCX／PDF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不覆寫</a:t>
            </a:r>
            <a:endParaRPr lang="en-US" sz="880" dirty="0"/>
          </a:p>
        </p:txBody>
      </p:sp>
      <p:sp>
        <p:nvSpPr>
          <p:cNvPr id="71" name="Shape 68"/>
          <p:cNvSpPr/>
          <p:nvPr/>
        </p:nvSpPr>
        <p:spPr>
          <a:xfrm>
            <a:off x="6400800" y="1874520"/>
            <a:ext cx="658368" cy="658368"/>
          </a:xfrm>
          <a:prstGeom prst="ellipse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640080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00" dirty="0"/>
          </a:p>
        </p:txBody>
      </p:sp>
      <p:sp>
        <p:nvSpPr>
          <p:cNvPr id="73" name="Text 70"/>
          <p:cNvSpPr/>
          <p:nvPr/>
        </p:nvSpPr>
        <p:spPr>
          <a:xfrm>
            <a:off x="621792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解析文字</a:t>
            </a:r>
            <a:endParaRPr lang="en-US" sz="1200" dirty="0"/>
          </a:p>
        </p:txBody>
      </p:sp>
      <p:sp>
        <p:nvSpPr>
          <p:cNvPr id="74" name="Text 71"/>
          <p:cNvSpPr/>
          <p:nvPr/>
        </p:nvSpPr>
        <p:spPr>
          <a:xfrm>
            <a:off x="610819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MarkItDown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轉為 Markdown</a:t>
            </a:r>
            <a:endParaRPr lang="en-US" sz="880" dirty="0"/>
          </a:p>
        </p:txBody>
      </p:sp>
      <p:sp>
        <p:nvSpPr>
          <p:cNvPr id="75" name="Shape 72"/>
          <p:cNvSpPr/>
          <p:nvPr/>
        </p:nvSpPr>
        <p:spPr>
          <a:xfrm>
            <a:off x="9189720" y="1874520"/>
            <a:ext cx="658368" cy="65836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153E6E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918972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600" dirty="0"/>
          </a:p>
        </p:txBody>
      </p:sp>
      <p:sp>
        <p:nvSpPr>
          <p:cNvPr id="77" name="Text 74"/>
          <p:cNvSpPr/>
          <p:nvPr/>
        </p:nvSpPr>
        <p:spPr>
          <a:xfrm>
            <a:off x="900684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結果總表</a:t>
            </a:r>
            <a:endParaRPr lang="en-US" sz="1200" dirty="0"/>
          </a:p>
        </p:txBody>
      </p:sp>
      <p:sp>
        <p:nvSpPr>
          <p:cNvPr id="78" name="Text 75"/>
          <p:cNvSpPr/>
          <p:nvPr/>
        </p:nvSpPr>
        <p:spPr>
          <a:xfrm>
            <a:off x="889711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取得、解析、品質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逐份留下結果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03 · MARKITDOWN 與來源紀錄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02｜把自己的原始資料轉成可用文字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PARSE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31520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31520" y="1417320"/>
            <a:ext cx="91440" cy="342900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87552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原始資料</a:t>
            </a:r>
            <a:endParaRPr lang="en-US" sz="1800" dirty="0"/>
          </a:p>
        </p:txBody>
      </p:sp>
      <p:sp>
        <p:nvSpPr>
          <p:cNvPr id="66" name="Text 63"/>
          <p:cNvSpPr/>
          <p:nvPr/>
        </p:nvSpPr>
        <p:spPr>
          <a:xfrm>
            <a:off x="987552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每份成功來源保留 raw 檔。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HTML、DOCX、PDF 都不直接拿去聊天。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4462272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462272" y="1417320"/>
            <a:ext cx="91440" cy="342900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4718304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轉成 Markdown</a:t>
            </a:r>
            <a:endParaRPr lang="en-US" sz="1800" dirty="0"/>
          </a:p>
        </p:txBody>
      </p:sp>
      <p:sp>
        <p:nvSpPr>
          <p:cNvPr id="70" name="Text 67"/>
          <p:cNvSpPr/>
          <p:nvPr/>
        </p:nvSpPr>
        <p:spPr>
          <a:xfrm>
            <a:off x="4718304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透過 Codex 的 MarkItDown MCP，轉為可閱讀、可搜尋的 Markdown。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不修改 data/raw。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8193024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193024" y="1417320"/>
            <a:ext cx="91440" cy="342900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8449056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品質與來源</a:t>
            </a:r>
            <a:endParaRPr lang="en-US" sz="1800" dirty="0"/>
          </a:p>
        </p:txBody>
      </p:sp>
      <p:sp>
        <p:nvSpPr>
          <p:cNvPr id="74" name="Text 71"/>
          <p:cNvSpPr/>
          <p:nvPr/>
        </p:nvSpPr>
        <p:spPr>
          <a:xfrm>
            <a:off x="8449056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文件識別、URL、取得時間與品質結果都保留。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這些會變成之後的引用。</a:t>
            </a:r>
            <a:endParaRPr lang="en-US" sz="1600" dirty="0"/>
          </a:p>
        </p:txBody>
      </p:sp>
      <p:sp>
        <p:nvSpPr>
          <p:cNvPr id="75" name="Text 72"/>
          <p:cNvSpPr/>
          <p:nvPr/>
        </p:nvSpPr>
        <p:spPr>
          <a:xfrm>
            <a:off x="1097280" y="534924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先爬取 → 再解析：MarkItDown 不是網站爬蟲。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建立索引前的門檻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品質檢查：只有可用文字才能進入索引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PARSE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58952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3679B9"/>
          </a:solidFill>
          <a:ln w="12700">
            <a:solidFill>
              <a:srgbClr val="3679B9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87552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ready_for_analysis</a:t>
            </a:r>
            <a:endParaRPr lang="en-US" sz="1900" dirty="0"/>
          </a:p>
        </p:txBody>
      </p:sp>
      <p:sp>
        <p:nvSpPr>
          <p:cNvPr id="65" name="Text 62"/>
          <p:cNvSpPr/>
          <p:nvPr/>
        </p:nvSpPr>
        <p:spPr>
          <a:xfrm>
            <a:off x="1124712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標題、段落與表格可讀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可以進入 chunks</a:t>
            </a:r>
            <a:endParaRPr lang="en-US" sz="1600" dirty="0"/>
          </a:p>
        </p:txBody>
      </p:sp>
      <p:sp>
        <p:nvSpPr>
          <p:cNvPr id="66" name="Text 63"/>
          <p:cNvSpPr/>
          <p:nvPr/>
        </p:nvSpPr>
        <p:spPr>
          <a:xfrm>
            <a:off x="1124712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可進 RAG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4562856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E58A4A"/>
          </a:solidFill>
          <a:ln w="12700">
            <a:solidFill>
              <a:srgbClr val="E58A4A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791456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needs_review</a:t>
            </a:r>
            <a:endParaRPr lang="en-US" sz="1900" dirty="0"/>
          </a:p>
        </p:txBody>
      </p:sp>
      <p:sp>
        <p:nvSpPr>
          <p:cNvPr id="69" name="Text 66"/>
          <p:cNvSpPr/>
          <p:nvPr/>
        </p:nvSpPr>
        <p:spPr>
          <a:xfrm>
            <a:off x="4928616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掃描、表格或結構有缺失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先人工檢視</a:t>
            </a:r>
            <a:endParaRPr lang="en-US" sz="1600" dirty="0"/>
          </a:p>
        </p:txBody>
      </p:sp>
      <p:sp>
        <p:nvSpPr>
          <p:cNvPr id="70" name="Text 67"/>
          <p:cNvSpPr/>
          <p:nvPr/>
        </p:nvSpPr>
        <p:spPr>
          <a:xfrm>
            <a:off x="4928616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暫停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8366760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49657A"/>
          </a:solidFill>
          <a:ln w="12700">
            <a:solidFill>
              <a:srgbClr val="49657A">
                <a:alpha val="0"/>
              </a:srgbClr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8595360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excluded</a:t>
            </a:r>
            <a:endParaRPr lang="en-US" sz="1900" dirty="0"/>
          </a:p>
        </p:txBody>
      </p:sp>
      <p:sp>
        <p:nvSpPr>
          <p:cNvPr id="73" name="Text 70"/>
          <p:cNvSpPr/>
          <p:nvPr/>
        </p:nvSpPr>
        <p:spPr>
          <a:xfrm>
            <a:off x="8732520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受限、白名單外或無法確認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不進後續流程</a:t>
            </a:r>
            <a:endParaRPr lang="en-US" sz="1600" dirty="0"/>
          </a:p>
        </p:txBody>
      </p:sp>
      <p:sp>
        <p:nvSpPr>
          <p:cNvPr id="74" name="Text 71"/>
          <p:cNvSpPr/>
          <p:nvPr/>
        </p:nvSpPr>
        <p:spPr>
          <a:xfrm>
            <a:off x="8732520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暫停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04 · 資料處理與索引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03｜切成 chunks，建立自己的向量索引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ANALYZE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77240" y="1444752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097280" y="1783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一份長文件</a:t>
            </a:r>
            <a:endParaRPr lang="en-US" sz="2000" dirty="0"/>
          </a:p>
        </p:txBody>
      </p:sp>
      <p:sp>
        <p:nvSpPr>
          <p:cNvPr id="65" name="Shape 62"/>
          <p:cNvSpPr/>
          <p:nvPr/>
        </p:nvSpPr>
        <p:spPr>
          <a:xfrm>
            <a:off x="1115568" y="2359152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F4F8FB"/>
          </a:solidFill>
          <a:ln w="12700">
            <a:solidFill>
              <a:srgbClr val="F4F8FB">
                <a:alpha val="0"/>
              </a:srgbClr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115568" y="301752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E8F1F8"/>
          </a:solidFill>
          <a:ln w="12700">
            <a:solidFill>
              <a:srgbClr val="E8F1F8">
                <a:alpha val="0"/>
              </a:srgbClr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115568" y="3675888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F4F8FB"/>
          </a:solidFill>
          <a:ln w="12700">
            <a:solidFill>
              <a:srgbClr val="F4F8FB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1243584" y="24688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第一章：修業規定</a:t>
            </a:r>
            <a:endParaRPr lang="en-US" sz="1150" dirty="0"/>
          </a:p>
        </p:txBody>
      </p:sp>
      <p:sp>
        <p:nvSpPr>
          <p:cNvPr id="69" name="Text 66"/>
          <p:cNvSpPr/>
          <p:nvPr/>
        </p:nvSpPr>
        <p:spPr>
          <a:xfrm>
            <a:off x="1243584" y="312724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第二章：英文門檻</a:t>
            </a:r>
            <a:endParaRPr lang="en-US" sz="1150" dirty="0"/>
          </a:p>
        </p:txBody>
      </p:sp>
      <p:sp>
        <p:nvSpPr>
          <p:cNvPr id="70" name="Text 67"/>
          <p:cNvSpPr/>
          <p:nvPr/>
        </p:nvSpPr>
        <p:spPr>
          <a:xfrm>
            <a:off x="1243584" y="3785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第三章：行事曆</a:t>
            </a:r>
            <a:endParaRPr lang="en-US" sz="1150" dirty="0"/>
          </a:p>
        </p:txBody>
      </p:sp>
      <p:sp>
        <p:nvSpPr>
          <p:cNvPr id="71" name="Text 68"/>
          <p:cNvSpPr/>
          <p:nvPr/>
        </p:nvSpPr>
        <p:spPr>
          <a:xfrm>
            <a:off x="3703320" y="28346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00" dirty="0"/>
          </a:p>
        </p:txBody>
      </p:sp>
      <p:sp>
        <p:nvSpPr>
          <p:cNvPr id="72" name="Shape 69"/>
          <p:cNvSpPr/>
          <p:nvPr/>
        </p:nvSpPr>
        <p:spPr>
          <a:xfrm>
            <a:off x="4498848" y="1508760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4498848" y="1508760"/>
            <a:ext cx="91440" cy="1298448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4754880" y="1737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chunk-001</a:t>
            </a:r>
            <a:endParaRPr lang="en-US" sz="1600" dirty="0"/>
          </a:p>
        </p:txBody>
      </p:sp>
      <p:sp>
        <p:nvSpPr>
          <p:cNvPr id="75" name="Text 72"/>
          <p:cNvSpPr/>
          <p:nvPr/>
        </p:nvSpPr>
        <p:spPr>
          <a:xfrm>
            <a:off x="4754880" y="2203704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段落＋來源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可建立向量索引</a:t>
            </a:r>
            <a:endParaRPr lang="en-US" sz="1250" dirty="0"/>
          </a:p>
        </p:txBody>
      </p:sp>
      <p:sp>
        <p:nvSpPr>
          <p:cNvPr id="76" name="Shape 73"/>
          <p:cNvSpPr/>
          <p:nvPr/>
        </p:nvSpPr>
        <p:spPr>
          <a:xfrm>
            <a:off x="7900416" y="1508760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7900416" y="1508760"/>
            <a:ext cx="91440" cy="1298448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8156448" y="1737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chunk-002</a:t>
            </a:r>
            <a:endParaRPr lang="en-US" sz="1600" dirty="0"/>
          </a:p>
        </p:txBody>
      </p:sp>
      <p:sp>
        <p:nvSpPr>
          <p:cNvPr id="79" name="Text 76"/>
          <p:cNvSpPr/>
          <p:nvPr/>
        </p:nvSpPr>
        <p:spPr>
          <a:xfrm>
            <a:off x="8156448" y="2203704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段落＋來源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可建立向量索引</a:t>
            </a:r>
            <a:endParaRPr lang="en-US" sz="1250" dirty="0"/>
          </a:p>
        </p:txBody>
      </p:sp>
      <p:sp>
        <p:nvSpPr>
          <p:cNvPr id="80" name="Shape 77"/>
          <p:cNvSpPr/>
          <p:nvPr/>
        </p:nvSpPr>
        <p:spPr>
          <a:xfrm>
            <a:off x="4498848" y="3355848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498848" y="3355848"/>
            <a:ext cx="91440" cy="1298448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754880" y="35844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chunk-003</a:t>
            </a:r>
            <a:endParaRPr lang="en-US" sz="1600" dirty="0"/>
          </a:p>
        </p:txBody>
      </p:sp>
      <p:sp>
        <p:nvSpPr>
          <p:cNvPr id="83" name="Text 80"/>
          <p:cNvSpPr/>
          <p:nvPr/>
        </p:nvSpPr>
        <p:spPr>
          <a:xfrm>
            <a:off x="4754880" y="4050792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段落＋來源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可建立向量索引</a:t>
            </a:r>
            <a:endParaRPr lang="en-US" sz="1250" dirty="0"/>
          </a:p>
        </p:txBody>
      </p:sp>
      <p:sp>
        <p:nvSpPr>
          <p:cNvPr id="84" name="Text 81"/>
          <p:cNvSpPr/>
          <p:nvPr/>
        </p:nvSpPr>
        <p:spPr>
          <a:xfrm>
            <a:off x="1261872" y="534924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只讓 ready_for_analysis 的 chunks 進入 vector_index.jsonl。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 STREAMLIT 前的最後確認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索引完成檢查：RAG 只能讀自己的資料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ANALYZE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03504" y="1600200"/>
            <a:ext cx="114300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76656" y="1773936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chunk_id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1746504" y="1600200"/>
            <a:ext cx="205740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1819656" y="1773936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document</a:t>
            </a:r>
            <a:endParaRPr lang="en-US" sz="1050" dirty="0"/>
          </a:p>
        </p:txBody>
      </p:sp>
      <p:sp>
        <p:nvSpPr>
          <p:cNvPr id="67" name="Shape 64"/>
          <p:cNvSpPr/>
          <p:nvPr/>
        </p:nvSpPr>
        <p:spPr>
          <a:xfrm>
            <a:off x="3803904" y="1600200"/>
            <a:ext cx="141732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3877056" y="1773936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source_url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5221224" y="1600200"/>
            <a:ext cx="306324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5294376" y="1773936"/>
            <a:ext cx="2916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section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8284464" y="1600200"/>
            <a:ext cx="306324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8357616" y="1773936"/>
            <a:ext cx="2916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crawled_at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603504" y="2157984"/>
            <a:ext cx="11430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85800" y="2304288"/>
            <a:ext cx="978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master-115-001</a:t>
            </a:r>
            <a:endParaRPr lang="en-US" sz="1150" dirty="0"/>
          </a:p>
        </p:txBody>
      </p:sp>
      <p:sp>
        <p:nvSpPr>
          <p:cNvPr id="75" name="Shape 72"/>
          <p:cNvSpPr/>
          <p:nvPr/>
        </p:nvSpPr>
        <p:spPr>
          <a:xfrm>
            <a:off x="1746504" y="2157984"/>
            <a:ext cx="2057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1828800" y="2304288"/>
            <a:ext cx="1892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研究生手冊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3803904" y="2157984"/>
            <a:ext cx="141732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886200" y="2304288"/>
            <a:ext cx="1252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tve.yuntech.edu.tw</a:t>
            </a:r>
            <a:endParaRPr lang="en-US" sz="1150" dirty="0"/>
          </a:p>
        </p:txBody>
      </p:sp>
      <p:sp>
        <p:nvSpPr>
          <p:cNvPr id="79" name="Shape 76"/>
          <p:cNvSpPr/>
          <p:nvPr/>
        </p:nvSpPr>
        <p:spPr>
          <a:xfrm>
            <a:off x="5221224" y="2157984"/>
            <a:ext cx="3063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5303520" y="2304288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修業規定</a:t>
            </a:r>
            <a:endParaRPr lang="en-US" sz="1050" dirty="0"/>
          </a:p>
        </p:txBody>
      </p:sp>
      <p:sp>
        <p:nvSpPr>
          <p:cNvPr id="81" name="Shape 78"/>
          <p:cNvSpPr/>
          <p:nvPr/>
        </p:nvSpPr>
        <p:spPr>
          <a:xfrm>
            <a:off x="8284464" y="2157984"/>
            <a:ext cx="3063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8366760" y="2304288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2026-08-01</a:t>
            </a:r>
            <a:endParaRPr lang="en-US" sz="1050" dirty="0"/>
          </a:p>
        </p:txBody>
      </p:sp>
      <p:sp>
        <p:nvSpPr>
          <p:cNvPr id="83" name="Shape 80"/>
          <p:cNvSpPr/>
          <p:nvPr/>
        </p:nvSpPr>
        <p:spPr>
          <a:xfrm>
            <a:off x="603504" y="3200400"/>
            <a:ext cx="114300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685800" y="3346704"/>
            <a:ext cx="978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calendar-115-1</a:t>
            </a:r>
            <a:endParaRPr lang="en-US" sz="1150" dirty="0"/>
          </a:p>
        </p:txBody>
      </p:sp>
      <p:sp>
        <p:nvSpPr>
          <p:cNvPr id="85" name="Shape 82"/>
          <p:cNvSpPr/>
          <p:nvPr/>
        </p:nvSpPr>
        <p:spPr>
          <a:xfrm>
            <a:off x="1746504" y="3200400"/>
            <a:ext cx="205740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1828800" y="3346704"/>
            <a:ext cx="1892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115-1 行事曆</a:t>
            </a:r>
            <a:endParaRPr lang="en-US" sz="1150" dirty="0"/>
          </a:p>
        </p:txBody>
      </p:sp>
      <p:sp>
        <p:nvSpPr>
          <p:cNvPr id="87" name="Shape 84"/>
          <p:cNvSpPr/>
          <p:nvPr/>
        </p:nvSpPr>
        <p:spPr>
          <a:xfrm>
            <a:off x="3803904" y="3200400"/>
            <a:ext cx="141732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3886200" y="3346704"/>
            <a:ext cx="1252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aax.yuntech.edu.tw</a:t>
            </a:r>
            <a:endParaRPr lang="en-US" sz="1150" dirty="0"/>
          </a:p>
        </p:txBody>
      </p:sp>
      <p:sp>
        <p:nvSpPr>
          <p:cNvPr id="89" name="Shape 86"/>
          <p:cNvSpPr/>
          <p:nvPr/>
        </p:nvSpPr>
        <p:spPr>
          <a:xfrm>
            <a:off x="5221224" y="3200400"/>
            <a:ext cx="306324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5303520" y="3346704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加退選</a:t>
            </a:r>
            <a:endParaRPr lang="en-US" sz="1050" dirty="0"/>
          </a:p>
        </p:txBody>
      </p:sp>
      <p:sp>
        <p:nvSpPr>
          <p:cNvPr id="91" name="Shape 88"/>
          <p:cNvSpPr/>
          <p:nvPr/>
        </p:nvSpPr>
        <p:spPr>
          <a:xfrm>
            <a:off x="8284464" y="3200400"/>
            <a:ext cx="306324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8366760" y="3346704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2026-08-01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05 · 05-1 → 05-4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04｜用 Codex 建立 Streamlit RAG 問答助手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8580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85800" y="1828800"/>
            <a:ext cx="91440" cy="201168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4183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先建介面</a:t>
            </a:r>
            <a:endParaRPr lang="en-US" sz="1700" dirty="0"/>
          </a:p>
        </p:txBody>
      </p:sp>
      <p:sp>
        <p:nvSpPr>
          <p:cNvPr id="66" name="Text 63"/>
          <p:cNvSpPr/>
          <p:nvPr/>
        </p:nvSpPr>
        <p:spPr>
          <a:xfrm>
            <a:off x="94183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 從空白建立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rag/app.py</a:t>
            </a:r>
            <a:endParaRPr lang="en-US" sz="1350" dirty="0"/>
          </a:p>
        </p:txBody>
      </p:sp>
      <p:sp>
        <p:nvSpPr>
          <p:cNvPr id="67" name="Text 64"/>
          <p:cNvSpPr/>
          <p:nvPr/>
        </p:nvSpPr>
        <p:spPr>
          <a:xfrm>
            <a:off x="308152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68" name="Shape 65"/>
          <p:cNvSpPr/>
          <p:nvPr/>
        </p:nvSpPr>
        <p:spPr>
          <a:xfrm>
            <a:off x="352044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520440" y="1828800"/>
            <a:ext cx="91440" cy="20116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377647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接上我的索引</a:t>
            </a:r>
            <a:endParaRPr lang="en-US" sz="1700" dirty="0"/>
          </a:p>
        </p:txBody>
      </p:sp>
      <p:sp>
        <p:nvSpPr>
          <p:cNvPr id="71" name="Text 68"/>
          <p:cNvSpPr/>
          <p:nvPr/>
        </p:nvSpPr>
        <p:spPr>
          <a:xfrm>
            <a:off x="377647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vector_index.jsonl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最多三筆</a:t>
            </a:r>
            <a:endParaRPr lang="en-US" sz="1350" dirty="0"/>
          </a:p>
        </p:txBody>
      </p:sp>
      <p:sp>
        <p:nvSpPr>
          <p:cNvPr id="72" name="Text 69"/>
          <p:cNvSpPr/>
          <p:nvPr/>
        </p:nvSpPr>
        <p:spPr>
          <a:xfrm>
            <a:off x="591616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3" name="Shape 70"/>
          <p:cNvSpPr/>
          <p:nvPr/>
        </p:nvSpPr>
        <p:spPr>
          <a:xfrm>
            <a:off x="635508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355080" y="1828800"/>
            <a:ext cx="91440" cy="201168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661111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本機模型</a:t>
            </a:r>
            <a:endParaRPr lang="en-US" sz="1700" dirty="0"/>
          </a:p>
        </p:txBody>
      </p:sp>
      <p:sp>
        <p:nvSpPr>
          <p:cNvPr id="76" name="Text 73"/>
          <p:cNvSpPr/>
          <p:nvPr/>
        </p:nvSpPr>
        <p:spPr>
          <a:xfrm>
            <a:off x="661111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Ollama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qwen2.5:3b</a:t>
            </a:r>
            <a:endParaRPr lang="en-US" sz="1350" dirty="0"/>
          </a:p>
        </p:txBody>
      </p:sp>
      <p:sp>
        <p:nvSpPr>
          <p:cNvPr id="77" name="Text 74"/>
          <p:cNvSpPr/>
          <p:nvPr/>
        </p:nvSpPr>
        <p:spPr>
          <a:xfrm>
            <a:off x="875080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8" name="Shape 75"/>
          <p:cNvSpPr/>
          <p:nvPr/>
        </p:nvSpPr>
        <p:spPr>
          <a:xfrm>
            <a:off x="918972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189720" y="1828800"/>
            <a:ext cx="91440" cy="20116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44575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回答＋引用</a:t>
            </a:r>
            <a:endParaRPr lang="en-US" sz="1700" dirty="0"/>
          </a:p>
        </p:txBody>
      </p:sp>
      <p:sp>
        <p:nvSpPr>
          <p:cNvPr id="81" name="Text 78"/>
          <p:cNvSpPr/>
          <p:nvPr/>
        </p:nvSpPr>
        <p:spPr>
          <a:xfrm>
            <a:off x="944575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答案、URL、年度、時間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學生建立的 STREAMLIT 問答頁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 RAG：從底部輸入問題，顯示答案與引用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960120" y="1389888"/>
            <a:ext cx="101955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417320" y="1847088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E8F1F8"/>
          </a:solidFill>
          <a:ln w="12700">
            <a:solidFill>
              <a:srgbClr val="E8F1F8">
                <a:alpha val="0"/>
              </a:srgbClr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691640" y="20574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學年度碩士班畢業至少需要幾學分？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5074920" y="2862072"/>
            <a:ext cx="5440680" cy="987552"/>
          </a:xfrm>
          <a:prstGeom prst="roundRect">
            <a:avLst>
              <a:gd name="adj" fmla="val 7407"/>
            </a:avLst>
          </a:prstGeom>
          <a:solidFill>
            <a:srgbClr val="E0F1EC"/>
          </a:solidFill>
          <a:ln w="12700">
            <a:solidFill>
              <a:srgbClr val="E0F1EC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5376672" y="3136392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 39 學分</a:t>
            </a:r>
            <a:endParaRPr lang="en-US" sz="1900" dirty="0"/>
          </a:p>
        </p:txBody>
      </p:sp>
      <p:sp>
        <p:nvSpPr>
          <p:cNvPr id="68" name="Text 65"/>
          <p:cNvSpPr/>
          <p:nvPr/>
        </p:nvSpPr>
        <p:spPr>
          <a:xfrm>
            <a:off x="5376672" y="349300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狀態：supported</a:t>
            </a:r>
            <a:endParaRPr lang="en-US" sz="1150" dirty="0"/>
          </a:p>
        </p:txBody>
      </p:sp>
      <p:sp>
        <p:nvSpPr>
          <p:cNvPr id="69" name="Shape 66"/>
          <p:cNvSpPr/>
          <p:nvPr/>
        </p:nvSpPr>
        <p:spPr>
          <a:xfrm>
            <a:off x="1874520" y="4389120"/>
            <a:ext cx="8366760" cy="731520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12700">
            <a:solidFill>
              <a:srgbClr val="F4F8FB">
                <a:alpha val="0"/>
              </a:srgbClr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874520" y="4389120"/>
            <a:ext cx="91440" cy="73152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2130552" y="4498848"/>
            <a:ext cx="184068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引用與檢索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3971239" y="4498848"/>
            <a:ext cx="605058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研究生手冊｜五、修課規定｜115 學年度｜蒐集：2026-07-29｜相似度：0.87</a:t>
            </a:r>
            <a:endParaRPr lang="en-US" sz="1300" dirty="0"/>
          </a:p>
        </p:txBody>
      </p:sp>
      <p:sp>
        <p:nvSpPr>
          <p:cNvPr id="73" name="Text 70"/>
          <p:cNvSpPr/>
          <p:nvPr/>
        </p:nvSpPr>
        <p:spPr>
          <a:xfrm>
            <a:off x="1828800" y="54864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期限、數字、單位名稱都必須可逐字回查。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四類自我測試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 測試：有證據回答，資料不足就停止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31520" y="1371600"/>
            <a:ext cx="516636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078992" y="1783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學年度第 2 學期何時開學？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1078992" y="2395728"/>
            <a:ext cx="4480560" cy="1005840"/>
          </a:xfrm>
          <a:prstGeom prst="roundRect">
            <a:avLst>
              <a:gd name="adj" fmla="val 7273"/>
            </a:avLst>
          </a:prstGeom>
          <a:solidFill>
            <a:srgbClr val="FDE7E1"/>
          </a:solidFill>
          <a:ln w="12700">
            <a:solidFill>
              <a:srgbClr val="FDE7E1">
                <a:alpha val="0"/>
              </a:srgbClr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1371600" y="26974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目前語料沒有足夠證據回答此問題。</a:t>
            </a:r>
            <a:endParaRPr lang="en-US" sz="1650" dirty="0"/>
          </a:p>
        </p:txBody>
      </p:sp>
      <p:sp>
        <p:nvSpPr>
          <p:cNvPr id="67" name="Text 64"/>
          <p:cNvSpPr/>
          <p:nvPr/>
        </p:nvSpPr>
        <p:spPr>
          <a:xfrm>
            <a:off x="1307592" y="3182112"/>
            <a:ext cx="4041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狀態：insufficient_evidence</a:t>
            </a:r>
            <a:endParaRPr lang="en-US" sz="1150" dirty="0"/>
          </a:p>
        </p:txBody>
      </p:sp>
      <p:sp>
        <p:nvSpPr>
          <p:cNvPr id="68" name="Shape 65"/>
          <p:cNvSpPr/>
          <p:nvPr/>
        </p:nvSpPr>
        <p:spPr>
          <a:xfrm>
            <a:off x="6537960" y="1371600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537960" y="1371600"/>
            <a:ext cx="91440" cy="114300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6793992" y="160020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800" dirty="0"/>
          </a:p>
        </p:txBody>
      </p:sp>
      <p:sp>
        <p:nvSpPr>
          <p:cNvPr id="71" name="Text 68"/>
          <p:cNvSpPr/>
          <p:nvPr/>
        </p:nvSpPr>
        <p:spPr>
          <a:xfrm>
            <a:off x="6793992" y="2066544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修課與畢業學分</a:t>
            </a:r>
            <a:endParaRPr lang="en-US" sz="1250" dirty="0"/>
          </a:p>
        </p:txBody>
      </p:sp>
      <p:sp>
        <p:nvSpPr>
          <p:cNvPr id="72" name="Shape 69"/>
          <p:cNvSpPr/>
          <p:nvPr/>
        </p:nvSpPr>
        <p:spPr>
          <a:xfrm>
            <a:off x="9025128" y="1371600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9025128" y="1371600"/>
            <a:ext cx="91440" cy="114300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81160" y="160020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800" dirty="0"/>
          </a:p>
        </p:txBody>
      </p:sp>
      <p:sp>
        <p:nvSpPr>
          <p:cNvPr id="75" name="Text 72"/>
          <p:cNvSpPr/>
          <p:nvPr/>
        </p:nvSpPr>
        <p:spPr>
          <a:xfrm>
            <a:off x="9281160" y="2066544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英文門檻與年度</a:t>
            </a:r>
            <a:endParaRPr lang="en-US" sz="1250" dirty="0"/>
          </a:p>
        </p:txBody>
      </p:sp>
      <p:sp>
        <p:nvSpPr>
          <p:cNvPr id="76" name="Shape 73"/>
          <p:cNvSpPr/>
          <p:nvPr/>
        </p:nvSpPr>
        <p:spPr>
          <a:xfrm>
            <a:off x="6537960" y="2944368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6537960" y="2944368"/>
            <a:ext cx="91440" cy="114300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6793992" y="317296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800" dirty="0"/>
          </a:p>
        </p:txBody>
      </p:sp>
      <p:sp>
        <p:nvSpPr>
          <p:cNvPr id="79" name="Text 76"/>
          <p:cNvSpPr/>
          <p:nvPr/>
        </p:nvSpPr>
        <p:spPr>
          <a:xfrm>
            <a:off x="6793992" y="3639312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流程或表單</a:t>
            </a:r>
            <a:endParaRPr lang="en-US" sz="1250" dirty="0"/>
          </a:p>
        </p:txBody>
      </p:sp>
      <p:sp>
        <p:nvSpPr>
          <p:cNvPr id="80" name="Shape 77"/>
          <p:cNvSpPr/>
          <p:nvPr/>
        </p:nvSpPr>
        <p:spPr>
          <a:xfrm>
            <a:off x="9025128" y="2944368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9025128" y="2944368"/>
            <a:ext cx="91440" cy="1143000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9281160" y="317296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800" dirty="0"/>
          </a:p>
        </p:txBody>
      </p:sp>
      <p:sp>
        <p:nvSpPr>
          <p:cNvPr id="83" name="Text 80"/>
          <p:cNvSpPr/>
          <p:nvPr/>
        </p:nvSpPr>
        <p:spPr>
          <a:xfrm>
            <a:off x="9281160" y="3639312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校務日期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學生自己本機的後台頁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05｜問答紀錄：把同一串對話整理成主要主題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IMPROVE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77240" y="1389888"/>
            <a:ext cx="106527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14400" y="1773936"/>
            <a:ext cx="141732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87552" y="1920240"/>
            <a:ext cx="12710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query_id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2331720" y="1773936"/>
            <a:ext cx="306324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2404872" y="1920240"/>
            <a:ext cx="2916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question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5394960" y="1773936"/>
            <a:ext cx="192024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5468112" y="1920240"/>
            <a:ext cx="1773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answer_status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315200" y="1773936"/>
            <a:ext cx="210312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7388352" y="1920240"/>
            <a:ext cx="19568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cited_chunk_ids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9418320" y="1773936"/>
            <a:ext cx="214884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9491472" y="1920240"/>
            <a:ext cx="2002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self_test_note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914400" y="2249424"/>
            <a:ext cx="141732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1005840" y="251460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q-103</a:t>
            </a:r>
            <a:endParaRPr lang="en-US" sz="1200" dirty="0"/>
          </a:p>
        </p:txBody>
      </p:sp>
      <p:sp>
        <p:nvSpPr>
          <p:cNvPr id="76" name="Shape 73"/>
          <p:cNvSpPr/>
          <p:nvPr/>
        </p:nvSpPr>
        <p:spPr>
          <a:xfrm>
            <a:off x="2331720" y="2249424"/>
            <a:ext cx="306324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2423160" y="2514600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115-1 加退選何時截止？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5394960" y="2249424"/>
            <a:ext cx="192024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5486400" y="251460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supported</a:t>
            </a:r>
            <a:endParaRPr lang="en-US" sz="1050" dirty="0"/>
          </a:p>
        </p:txBody>
      </p:sp>
      <p:sp>
        <p:nvSpPr>
          <p:cNvPr id="80" name="Shape 77"/>
          <p:cNvSpPr/>
          <p:nvPr/>
        </p:nvSpPr>
        <p:spPr>
          <a:xfrm>
            <a:off x="7315200" y="2249424"/>
            <a:ext cx="210312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7406640" y="25146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calendar-115-1</a:t>
            </a:r>
            <a:endParaRPr lang="en-US" sz="1200" dirty="0"/>
          </a:p>
        </p:txBody>
      </p:sp>
      <p:sp>
        <p:nvSpPr>
          <p:cNvPr id="82" name="Shape 79"/>
          <p:cNvSpPr/>
          <p:nvPr/>
        </p:nvSpPr>
        <p:spPr>
          <a:xfrm>
            <a:off x="9418320" y="2249424"/>
            <a:ext cx="214884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509760" y="251460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確認年度與公告日期</a:t>
            </a:r>
            <a:endParaRPr lang="en-US" sz="1200" dirty="0"/>
          </a:p>
        </p:txBody>
      </p:sp>
      <p:sp>
        <p:nvSpPr>
          <p:cNvPr id="84" name="Text 81"/>
          <p:cNvSpPr/>
          <p:nvPr/>
        </p:nvSpPr>
        <p:spPr>
          <a:xfrm>
            <a:off x="1188720" y="370332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JSONL：每行一筆紀錄，方便追加、分類與分析。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不計分的自我檢查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從問答紀錄，找到下一步要改善什麼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IMPROVE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3152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31520" y="1828800"/>
            <a:ext cx="91440" cy="224028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8755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現象</a:t>
            </a:r>
            <a:endParaRPr lang="en-US" sz="1900" dirty="0"/>
          </a:p>
        </p:txBody>
      </p:sp>
      <p:sp>
        <p:nvSpPr>
          <p:cNvPr id="66" name="Text 63"/>
          <p:cNvSpPr/>
          <p:nvPr/>
        </p:nvSpPr>
        <p:spPr>
          <a:xfrm>
            <a:off x="98755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英文門檻問題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反覆無法回答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31546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68" name="Shape 65"/>
          <p:cNvSpPr/>
          <p:nvPr/>
        </p:nvSpPr>
        <p:spPr>
          <a:xfrm>
            <a:off x="356616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566160" y="1828800"/>
            <a:ext cx="91440" cy="224028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382219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證據</a:t>
            </a:r>
            <a:endParaRPr lang="en-US" sz="1900" dirty="0"/>
          </a:p>
        </p:txBody>
      </p:sp>
      <p:sp>
        <p:nvSpPr>
          <p:cNvPr id="71" name="Text 68"/>
          <p:cNvSpPr/>
          <p:nvPr/>
        </p:nvSpPr>
        <p:spPr>
          <a:xfrm>
            <a:off x="382219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query_id · 狀態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沒有引用</a:t>
            </a:r>
            <a:endParaRPr lang="en-US" sz="1500" dirty="0"/>
          </a:p>
        </p:txBody>
      </p:sp>
      <p:sp>
        <p:nvSpPr>
          <p:cNvPr id="72" name="Text 69"/>
          <p:cNvSpPr/>
          <p:nvPr/>
        </p:nvSpPr>
        <p:spPr>
          <a:xfrm>
            <a:off x="598932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3" name="Shape 70"/>
          <p:cNvSpPr/>
          <p:nvPr/>
        </p:nvSpPr>
        <p:spPr>
          <a:xfrm>
            <a:off x="640080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400800" y="1828800"/>
            <a:ext cx="91440" cy="2240280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665683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原因</a:t>
            </a:r>
            <a:endParaRPr lang="en-US" sz="1900" dirty="0"/>
          </a:p>
        </p:txBody>
      </p:sp>
      <p:sp>
        <p:nvSpPr>
          <p:cNvPr id="76" name="Text 73"/>
          <p:cNvSpPr/>
          <p:nvPr/>
        </p:nvSpPr>
        <p:spPr>
          <a:xfrm>
            <a:off x="665683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缺少適用年度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或解析失敗</a:t>
            </a:r>
            <a:endParaRPr lang="en-US" sz="1500" dirty="0"/>
          </a:p>
        </p:txBody>
      </p:sp>
      <p:sp>
        <p:nvSpPr>
          <p:cNvPr id="77" name="Text 74"/>
          <p:cNvSpPr/>
          <p:nvPr/>
        </p:nvSpPr>
        <p:spPr>
          <a:xfrm>
            <a:off x="882396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8" name="Shape 75"/>
          <p:cNvSpPr/>
          <p:nvPr/>
        </p:nvSpPr>
        <p:spPr>
          <a:xfrm>
            <a:off x="923544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35440" y="1828800"/>
            <a:ext cx="91440" cy="22402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49147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動作</a:t>
            </a:r>
            <a:endParaRPr lang="en-US" sz="1900" dirty="0"/>
          </a:p>
        </p:txBody>
      </p:sp>
      <p:sp>
        <p:nvSpPr>
          <p:cNvPr id="81" name="Text 78"/>
          <p:cNvSpPr/>
          <p:nvPr/>
        </p:nvSpPr>
        <p:spPr>
          <a:xfrm>
            <a:off x="949147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add_source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repair_parse</a:t>
            </a:r>
            <a:endParaRPr lang="en-US" sz="1500" dirty="0"/>
          </a:p>
        </p:txBody>
      </p:sp>
      <p:sp>
        <p:nvSpPr>
          <p:cNvPr id="82" name="Text 79"/>
          <p:cNvSpPr/>
          <p:nvPr/>
        </p:nvSpPr>
        <p:spPr>
          <a:xfrm>
            <a:off x="841248" y="5001768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允許的改善動作：add_source · repair_parse · revise_chunking_or_metadata · improve_retrieval · revise_prompt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個人自我完成檢核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把文件變成可用的知識，前提是它仍然可追溯。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WRAP UP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94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94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700" dirty="0"/>
          </a:p>
        </p:txBody>
      </p:sp>
      <p:sp>
        <p:nvSpPr>
          <p:cNvPr id="65" name="Text 62"/>
          <p:cNvSpPr/>
          <p:nvPr/>
        </p:nvSpPr>
        <p:spPr>
          <a:xfrm>
            <a:off x="347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四份指定資料</a:t>
            </a:r>
            <a:endParaRPr lang="en-US" sz="1500" dirty="0"/>
          </a:p>
        </p:txBody>
      </p:sp>
      <p:sp>
        <p:nvSpPr>
          <p:cNvPr id="66" name="Shape 63"/>
          <p:cNvSpPr/>
          <p:nvPr/>
        </p:nvSpPr>
        <p:spPr>
          <a:xfrm>
            <a:off x="2980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2980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700" dirty="0"/>
          </a:p>
        </p:txBody>
      </p:sp>
      <p:sp>
        <p:nvSpPr>
          <p:cNvPr id="68" name="Text 65"/>
          <p:cNvSpPr/>
          <p:nvPr/>
        </p:nvSpPr>
        <p:spPr>
          <a:xfrm>
            <a:off x="2633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品質與 chunks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5266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5266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700" dirty="0"/>
          </a:p>
        </p:txBody>
      </p:sp>
      <p:sp>
        <p:nvSpPr>
          <p:cNvPr id="71" name="Text 68"/>
          <p:cNvSpPr/>
          <p:nvPr/>
        </p:nvSpPr>
        <p:spPr>
          <a:xfrm>
            <a:off x="4919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向量索引</a:t>
            </a:r>
            <a:endParaRPr lang="en-US" sz="1500" dirty="0"/>
          </a:p>
        </p:txBody>
      </p:sp>
      <p:sp>
        <p:nvSpPr>
          <p:cNvPr id="72" name="Shape 69"/>
          <p:cNvSpPr/>
          <p:nvPr/>
        </p:nvSpPr>
        <p:spPr>
          <a:xfrm>
            <a:off x="7552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7552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700" dirty="0"/>
          </a:p>
        </p:txBody>
      </p:sp>
      <p:sp>
        <p:nvSpPr>
          <p:cNvPr id="74" name="Text 71"/>
          <p:cNvSpPr/>
          <p:nvPr/>
        </p:nvSpPr>
        <p:spPr>
          <a:xfrm>
            <a:off x="7205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Streamlit 問答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9838944" y="2240280"/>
            <a:ext cx="932688" cy="932688"/>
          </a:xfrm>
          <a:prstGeom prst="ellipse">
            <a:avLst/>
          </a:prstGeom>
          <a:solidFill>
            <a:srgbClr val="E58A4A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9838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700" dirty="0"/>
          </a:p>
        </p:txBody>
      </p:sp>
      <p:sp>
        <p:nvSpPr>
          <p:cNvPr id="77" name="Text 74"/>
          <p:cNvSpPr/>
          <p:nvPr/>
        </p:nvSpPr>
        <p:spPr>
          <a:xfrm>
            <a:off x="9491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歷程與改善</a:t>
            </a:r>
            <a:endParaRPr lang="en-US" sz="1500" dirty="0"/>
          </a:p>
        </p:txBody>
      </p:sp>
      <p:sp>
        <p:nvSpPr>
          <p:cNvPr id="78" name="Text 75"/>
          <p:cNvSpPr/>
          <p:nvPr/>
        </p:nvSpPr>
        <p:spPr>
          <a:xfrm>
            <a:off x="1097280" y="512064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完成順序：資料與索引 → Codex 建立 Streamlit → RAG 問答與歷程。</a:t>
            </a:r>
            <a:endParaRPr lang="en-US" sz="2000" dirty="0"/>
          </a:p>
        </p:txBody>
      </p:sp>
      <p:sp>
        <p:nvSpPr>
          <p:cNvPr id="79" name="Text 76"/>
          <p:cNvSpPr/>
          <p:nvPr/>
        </p:nvSpPr>
        <p:spPr>
          <a:xfrm>
            <a:off x="1417320" y="571500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只在本機執行｜回答附來源｜證據不足時不猜｜以原始網站最新公告為準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YunTech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3｜生成式人工智慧於文本資料分析的應用</dc:title>
  <dc:subject>Day 3 — 生成式人工智慧於文本資料分析的應用</dc:subject>
  <dc:creator>張育慈 Ruby</dc:creator>
  <cp:lastModifiedBy>張育慈 Ruby</cp:lastModifiedBy>
  <cp:revision>1</cp:revision>
  <dcterms:created xsi:type="dcterms:W3CDTF">2026-08-01T15:12:35Z</dcterms:created>
  <dcterms:modified xsi:type="dcterms:W3CDTF">2026-08-01T15:12:35Z</dcterms:modified>
</cp:coreProperties>
</file>