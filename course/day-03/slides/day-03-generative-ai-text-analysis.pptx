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7" r:id="rId2"/>
    <p:sldId id="259" r:id="rId3"/>
    <p:sldId id="260" r:id="rId4"/>
    <p:sldId id="262" r:id="rId5"/>
    <p:sldId id="263" r:id="rId6"/>
    <p:sldId id="264" r:id="rId7"/>
    <p:sldId id="282" r:id="rId8"/>
    <p:sldId id="266" r:id="rId9"/>
    <p:sldId id="267" r:id="rId10"/>
    <p:sldId id="300" r:id="rId11"/>
    <p:sldId id="302" r:id="rId12"/>
    <p:sldId id="289" r:id="rId13"/>
    <p:sldId id="303" r:id="rId14"/>
    <p:sldId id="272" r:id="rId15"/>
    <p:sldId id="291" r:id="rId16"/>
    <p:sldId id="293" r:id="rId17"/>
    <p:sldId id="304" r:id="rId18"/>
    <p:sldId id="277" r:id="rId1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5B8A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308"/>
    <p:restoredTop sz="94610"/>
  </p:normalViewPr>
  <p:slideViewPr>
    <p:cSldViewPr snapToGrid="0" snapToObjects="1">
      <p:cViewPr>
        <p:scale>
          <a:sx n="112" d="100"/>
          <a:sy n="112" d="100"/>
        </p:scale>
        <p:origin x="768" y="4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158619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講師關鍵句：先讓大家看見最後成果，接下來每一步才知道為何需要。
學生動作：確認今天的任務是小組完成一條資料管線。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講師關鍵句：許多混亂都來自把工具角色混在一起。今天要把每個工具放在正確位置。
學生動作：說出：MarkItDown 是解析器，不是爬蟲。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講師關鍵句：MCP 不是模型，也不是爬蟲；它是讓 Codex 能使用外部工具的標準接頭。
學生動作：完成一筆成功下載後，才以 file: URI 測試 MarkItDown MCP。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講師關鍵句：資料邊界先於工具操作。先確認範圍，是為了讓結果可重現也可說明。
學生動作：貼上 Prompt 00，提出 crawl scope，等待講師確認。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講師關鍵句：請學生互相檢查 scope，因為範圍錯了，後面每一層都會錯。
學生動作：展示 crawl_scope.json，確認各欄位都已填妥。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講師關鍵句：爬取不是把網頁抓下來而已；它要同時產生可追溯的 manifest。
學生動作：貼上 Prompt 01，限制在確認過的 crawl scope。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講師關鍵句：manifest 是資料資產的護照。沒有它，後面的引用就無法交代來源。
學生動作：檢查每筆成功與失敗資料都有 manifest 紀錄。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講師關鍵句：此時才實際確認 MarkItDown MCP，因為我們已經有一份可解析的檔案。
學生動作：貼上 Prompt 02，選擇一筆成功下載的 raw_path。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講師關鍵句：不要把 PDF 轉出一堆破碎表格，卻假裝它已經適合問答。
學生動作：為文件設定品質狀態，非 ready 必須寫下原因。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講師關鍵句：chunk 不是隨意切字數；它要保留足夠語意，也保留回查來源。
學生動作：只處理 ready_for_analysis 的 Markdown，建立 chunks JSONL。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講師關鍵句：AI 可以幫忙摘要與分類，但不能把自己的推論寫成文件原文。
學生動作：建立 text_analysis.md，檢查 evidence 與 interpretation 是否分欄。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講師關鍵句：RAG 的 G 在後面：不是先叫模型猜，再找引用；而是先取得 evidence。
學生動作：開啟 Prompt 04，建立本機 Streamlit 問答介面。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講師關鍵句：支持性答案不是模型講得像真的，而是每個關鍵事實都有來源。
學生動作：在 Streamlit 介面輸入有證據的問題，確認引用完整顯示。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講師關鍵句：不知道不是失敗。缺少證據時不生成，才是可以被信任的系統行為。
學生動作：各組完成四類測試，確認每題都留下 query log。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講師關鍵句：query log 把一次問答，轉成下一次改善的資料。
學生動作：確認 feedback/query_log.jsonl 每題都有一筆紀錄。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講師關鍵句：改善不是憑感覺調 prompt；每一項 backlog 都要回連 query_id 和證據。
學生動作：貼上 Prompt 05，將問答紀錄分類為可執行的改善動作。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講師關鍵句：用這張讓學生回看整天產物，確認沒有只完成 chatbot 而漏掉資料流程。
學生動作：依五項繳交物自我檢查小組資料夾。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講師關鍵句：回到今天第一張：我們不是只做問答，而是建立一條可改善的資料與 AI 流程。
學生動作：完成檔案整理與小組展示準備。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8255">
            <a:solidFill>
              <a:srgbClr val="BCD3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064240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667A7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01</a:t>
            </a:r>
            <a:endParaRPr lang="en-US" sz="10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grpSp>
        <p:nvGrpSpPr>
          <p:cNvPr id="51" name="群組 50">
            <a:extLst>
              <a:ext uri="{FF2B5EF4-FFF2-40B4-BE49-F238E27FC236}">
                <a16:creationId xmlns:a16="http://schemas.microsoft.com/office/drawing/2014/main" id="{0BD691EB-0C10-18A8-0209-4FB3D669E983}"/>
              </a:ext>
            </a:extLst>
          </p:cNvPr>
          <p:cNvGrpSpPr/>
          <p:nvPr/>
        </p:nvGrpSpPr>
        <p:grpSpPr>
          <a:xfrm>
            <a:off x="774192" y="2887380"/>
            <a:ext cx="10643616" cy="3236976"/>
            <a:chOff x="771864" y="1869146"/>
            <a:chExt cx="10643616" cy="3236976"/>
          </a:xfrm>
        </p:grpSpPr>
        <p:sp>
          <p:nvSpPr>
            <p:cNvPr id="19" name="Shape 17"/>
            <p:cNvSpPr/>
            <p:nvPr/>
          </p:nvSpPr>
          <p:spPr>
            <a:xfrm>
              <a:off x="771864" y="1869146"/>
              <a:ext cx="5084064" cy="1389888"/>
            </a:xfrm>
            <a:prstGeom prst="roundRect">
              <a:avLst>
                <a:gd name="adj" fmla="val 5263"/>
              </a:avLst>
            </a:prstGeom>
            <a:solidFill>
              <a:srgbClr val="FFFF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0" name="Shape 18"/>
            <p:cNvSpPr/>
            <p:nvPr/>
          </p:nvSpPr>
          <p:spPr>
            <a:xfrm>
              <a:off x="771864" y="1869146"/>
              <a:ext cx="91440" cy="1389888"/>
            </a:xfrm>
            <a:prstGeom prst="rect">
              <a:avLst/>
            </a:prstGeom>
            <a:solidFill>
              <a:srgbClr val="65B8A6"/>
            </a:solidFill>
            <a:ln w="12700">
              <a:solidFill>
                <a:srgbClr val="65B8A6"/>
              </a:solidFill>
              <a:prstDash val="solid"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1" name="Text 19"/>
            <p:cNvSpPr/>
            <p:nvPr/>
          </p:nvSpPr>
          <p:spPr>
            <a:xfrm>
              <a:off x="1027896" y="2097746"/>
              <a:ext cx="4626864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>
                <a:buNone/>
              </a:pPr>
              <a:r>
                <a:rPr lang="en-US" sz="1800" b="1" dirty="0">
                  <a:solidFill>
                    <a:srgbClr val="163A35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Noto Sans TC" pitchFamily="34" charset="-120"/>
                </a:rPr>
                <a:t>資料範圍</a:t>
              </a:r>
              <a:endParaRPr lang="en-US" sz="180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</p:txBody>
        </p:sp>
        <p:sp>
          <p:nvSpPr>
            <p:cNvPr id="22" name="Text 20"/>
            <p:cNvSpPr/>
            <p:nvPr/>
          </p:nvSpPr>
          <p:spPr>
            <a:xfrm>
              <a:off x="1027896" y="2564090"/>
              <a:ext cx="4608576" cy="5212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 marL="0" indent="0">
                <a:buNone/>
              </a:pPr>
              <a:r>
                <a:rPr lang="en-US" sz="1600" dirty="0" err="1">
                  <a:solidFill>
                    <a:srgbClr val="47645F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Noto Sans TC" pitchFamily="34" charset="-120"/>
                </a:rPr>
                <a:t>確認起始網址與名單，不任意擴大</a:t>
              </a:r>
              <a:r>
                <a:rPr lang="en-US" sz="1600" dirty="0">
                  <a:solidFill>
                    <a:srgbClr val="47645F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Noto Sans TC" pitchFamily="34" charset="-120"/>
                </a:rPr>
                <a:t>。</a:t>
              </a:r>
              <a:endParaRPr lang="en-US" sz="160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</p:txBody>
        </p:sp>
        <p:sp>
          <p:nvSpPr>
            <p:cNvPr id="23" name="Shape 21"/>
            <p:cNvSpPr/>
            <p:nvPr/>
          </p:nvSpPr>
          <p:spPr>
            <a:xfrm>
              <a:off x="6331416" y="1869146"/>
              <a:ext cx="5084064" cy="1389888"/>
            </a:xfrm>
            <a:prstGeom prst="roundRect">
              <a:avLst>
                <a:gd name="adj" fmla="val 5263"/>
              </a:avLst>
            </a:prstGeom>
            <a:solidFill>
              <a:srgbClr val="FFFF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4" name="Shape 22"/>
            <p:cNvSpPr/>
            <p:nvPr/>
          </p:nvSpPr>
          <p:spPr>
            <a:xfrm>
              <a:off x="6331416" y="1869146"/>
              <a:ext cx="91440" cy="1389888"/>
            </a:xfrm>
            <a:prstGeom prst="rect">
              <a:avLst/>
            </a:prstGeom>
            <a:solidFill>
              <a:srgbClr val="E37B62"/>
            </a:solidFill>
            <a:ln w="12700">
              <a:solidFill>
                <a:srgbClr val="E37B62"/>
              </a:solidFill>
              <a:prstDash val="solid"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5" name="Text 23"/>
            <p:cNvSpPr/>
            <p:nvPr/>
          </p:nvSpPr>
          <p:spPr>
            <a:xfrm>
              <a:off x="6587448" y="2097746"/>
              <a:ext cx="4626864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>
                <a:buNone/>
              </a:pPr>
              <a:r>
                <a:rPr lang="en-US" sz="1800" b="1" dirty="0">
                  <a:solidFill>
                    <a:srgbClr val="163A35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Noto Sans TC" pitchFamily="34" charset="-120"/>
                </a:rPr>
                <a:t>文本資產</a:t>
              </a:r>
              <a:endParaRPr lang="en-US" sz="180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</p:txBody>
        </p:sp>
        <p:sp>
          <p:nvSpPr>
            <p:cNvPr id="26" name="Text 24"/>
            <p:cNvSpPr/>
            <p:nvPr/>
          </p:nvSpPr>
          <p:spPr>
            <a:xfrm>
              <a:off x="6587448" y="2564090"/>
              <a:ext cx="4608576" cy="5212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47645F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Noto Sans TC" pitchFamily="34" charset="-120"/>
                </a:rPr>
                <a:t>保留原始檔、Markdown、品質狀態與來源。</a:t>
              </a:r>
              <a:endParaRPr lang="en-US" sz="160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</p:txBody>
        </p:sp>
        <p:sp>
          <p:nvSpPr>
            <p:cNvPr id="27" name="Shape 25"/>
            <p:cNvSpPr/>
            <p:nvPr/>
          </p:nvSpPr>
          <p:spPr>
            <a:xfrm>
              <a:off x="771864" y="3716234"/>
              <a:ext cx="5084064" cy="1389888"/>
            </a:xfrm>
            <a:prstGeom prst="roundRect">
              <a:avLst>
                <a:gd name="adj" fmla="val 5263"/>
              </a:avLst>
            </a:prstGeom>
            <a:solidFill>
              <a:srgbClr val="FFFF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8" name="Shape 26"/>
            <p:cNvSpPr/>
            <p:nvPr/>
          </p:nvSpPr>
          <p:spPr>
            <a:xfrm>
              <a:off x="771864" y="3716234"/>
              <a:ext cx="91440" cy="1389888"/>
            </a:xfrm>
            <a:prstGeom prst="rect">
              <a:avLst/>
            </a:prstGeom>
            <a:solidFill>
              <a:srgbClr val="F4C95D"/>
            </a:solidFill>
            <a:ln w="12700">
              <a:solidFill>
                <a:srgbClr val="F4C95D"/>
              </a:solidFill>
              <a:prstDash val="solid"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9" name="Text 27"/>
            <p:cNvSpPr/>
            <p:nvPr/>
          </p:nvSpPr>
          <p:spPr>
            <a:xfrm>
              <a:off x="1027896" y="3944834"/>
              <a:ext cx="4626864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>
                <a:buNone/>
              </a:pPr>
              <a:r>
                <a:rPr lang="en-US" sz="1800" b="1" dirty="0">
                  <a:solidFill>
                    <a:srgbClr val="163A35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Noto Sans TC" pitchFamily="34" charset="-120"/>
                </a:rPr>
                <a:t>AI 應用</a:t>
              </a:r>
              <a:endParaRPr lang="en-US" sz="180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</p:txBody>
        </p:sp>
        <p:sp>
          <p:nvSpPr>
            <p:cNvPr id="30" name="Text 28"/>
            <p:cNvSpPr/>
            <p:nvPr/>
          </p:nvSpPr>
          <p:spPr>
            <a:xfrm>
              <a:off x="1027896" y="4411178"/>
              <a:ext cx="4608576" cy="5212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47645F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Noto Sans TC" pitchFamily="34" charset="-120"/>
                </a:rPr>
                <a:t>建立可引用問答，無證據時不猜測。</a:t>
              </a:r>
              <a:endParaRPr lang="en-US" sz="160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</p:txBody>
        </p:sp>
        <p:sp>
          <p:nvSpPr>
            <p:cNvPr id="31" name="Shape 29"/>
            <p:cNvSpPr/>
            <p:nvPr/>
          </p:nvSpPr>
          <p:spPr>
            <a:xfrm>
              <a:off x="6331416" y="3716234"/>
              <a:ext cx="5084064" cy="1389888"/>
            </a:xfrm>
            <a:prstGeom prst="roundRect">
              <a:avLst>
                <a:gd name="adj" fmla="val 5263"/>
              </a:avLst>
            </a:prstGeom>
            <a:solidFill>
              <a:srgbClr val="FFFF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2" name="Shape 30"/>
            <p:cNvSpPr/>
            <p:nvPr/>
          </p:nvSpPr>
          <p:spPr>
            <a:xfrm>
              <a:off x="6331416" y="3716234"/>
              <a:ext cx="91440" cy="1389888"/>
            </a:xfrm>
            <a:prstGeom prst="rect">
              <a:avLst/>
            </a:prstGeom>
            <a:solidFill>
              <a:srgbClr val="47645F"/>
            </a:solidFill>
            <a:ln w="12700">
              <a:solidFill>
                <a:srgbClr val="47645F"/>
              </a:solidFill>
              <a:prstDash val="solid"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3" name="Text 31"/>
            <p:cNvSpPr/>
            <p:nvPr/>
          </p:nvSpPr>
          <p:spPr>
            <a:xfrm>
              <a:off x="6587448" y="3944834"/>
              <a:ext cx="4626864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>
                <a:buNone/>
              </a:pPr>
              <a:r>
                <a:rPr lang="en-US" sz="1800" b="1" dirty="0">
                  <a:solidFill>
                    <a:srgbClr val="163A35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Noto Sans TC" pitchFamily="34" charset="-120"/>
                </a:rPr>
                <a:t>改善閉環</a:t>
              </a:r>
              <a:endParaRPr lang="en-US" sz="180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</p:txBody>
        </p:sp>
        <p:sp>
          <p:nvSpPr>
            <p:cNvPr id="34" name="Text 32"/>
            <p:cNvSpPr/>
            <p:nvPr/>
          </p:nvSpPr>
          <p:spPr>
            <a:xfrm>
              <a:off x="6587448" y="4411178"/>
              <a:ext cx="4608576" cy="5212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47645F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Noto Sans TC" pitchFamily="34" charset="-120"/>
                </a:rPr>
                <a:t>由問答紀錄找出下一輪要補的資料或規則。</a:t>
              </a:r>
              <a:endParaRPr lang="en-US" sz="160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</p:txBody>
        </p:sp>
      </p:grpSp>
      <p:grpSp>
        <p:nvGrpSpPr>
          <p:cNvPr id="36" name="群組 35">
            <a:extLst>
              <a:ext uri="{FF2B5EF4-FFF2-40B4-BE49-F238E27FC236}">
                <a16:creationId xmlns:a16="http://schemas.microsoft.com/office/drawing/2014/main" id="{2BCADBDF-D10F-14CD-9F54-90C44B4C622D}"/>
              </a:ext>
            </a:extLst>
          </p:cNvPr>
          <p:cNvGrpSpPr/>
          <p:nvPr/>
        </p:nvGrpSpPr>
        <p:grpSpPr>
          <a:xfrm>
            <a:off x="1047234" y="1673413"/>
            <a:ext cx="10104120" cy="798286"/>
            <a:chOff x="792480" y="2139696"/>
            <a:chExt cx="10104120" cy="798286"/>
          </a:xfrm>
        </p:grpSpPr>
        <p:sp>
          <p:nvSpPr>
            <p:cNvPr id="37" name="Shape 8">
              <a:extLst>
                <a:ext uri="{FF2B5EF4-FFF2-40B4-BE49-F238E27FC236}">
                  <a16:creationId xmlns:a16="http://schemas.microsoft.com/office/drawing/2014/main" id="{7D69765C-EB80-FE60-1C64-0CB5832E96F4}"/>
                </a:ext>
              </a:extLst>
            </p:cNvPr>
            <p:cNvSpPr/>
            <p:nvPr/>
          </p:nvSpPr>
          <p:spPr>
            <a:xfrm>
              <a:off x="792480" y="2139696"/>
              <a:ext cx="2148840" cy="798286"/>
            </a:xfrm>
            <a:prstGeom prst="roundRect">
              <a:avLst>
                <a:gd name="adj" fmla="val 6400"/>
              </a:avLst>
            </a:prstGeom>
            <a:solidFill>
              <a:srgbClr val="65B8A6"/>
            </a:solidFill>
            <a:ln w="12700">
              <a:solidFill>
                <a:srgbClr val="244842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8" name="Text 9">
              <a:extLst>
                <a:ext uri="{FF2B5EF4-FFF2-40B4-BE49-F238E27FC236}">
                  <a16:creationId xmlns:a16="http://schemas.microsoft.com/office/drawing/2014/main" id="{BC431BCF-7D1A-B8C1-0F88-00AD2B645078}"/>
                </a:ext>
              </a:extLst>
            </p:cNvPr>
            <p:cNvSpPr/>
            <p:nvPr/>
          </p:nvSpPr>
          <p:spPr>
            <a:xfrm>
              <a:off x="975360" y="2450592"/>
              <a:ext cx="178308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lnSpcReduction="10000"/>
            </a:bodyPr>
            <a:lstStyle/>
            <a:p>
              <a:pPr marL="0" indent="0" algn="ctr">
                <a:buNone/>
              </a:pPr>
              <a:r>
                <a:rPr lang="en-US" sz="1800" b="1" dirty="0">
                  <a:solidFill>
                    <a:srgbClr val="FFFFFF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Noto Sans TC" pitchFamily="34" charset="-120"/>
                </a:rPr>
                <a:t>公開網站</a:t>
              </a:r>
              <a:endParaRPr lang="en-US" sz="180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</p:txBody>
        </p:sp>
        <p:sp>
          <p:nvSpPr>
            <p:cNvPr id="39" name="Text 10">
              <a:extLst>
                <a:ext uri="{FF2B5EF4-FFF2-40B4-BE49-F238E27FC236}">
                  <a16:creationId xmlns:a16="http://schemas.microsoft.com/office/drawing/2014/main" id="{8436F0EF-26C6-D032-2E1E-33A252E05C1A}"/>
                </a:ext>
              </a:extLst>
            </p:cNvPr>
            <p:cNvSpPr/>
            <p:nvPr/>
          </p:nvSpPr>
          <p:spPr>
            <a:xfrm>
              <a:off x="3032760" y="2440103"/>
              <a:ext cx="32004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fontScale="85000" lnSpcReduction="20000"/>
            </a:bodyPr>
            <a:lstStyle/>
            <a:p>
              <a:pPr marL="0" indent="0" algn="ctr">
                <a:buNone/>
              </a:pPr>
              <a:r>
                <a:rPr lang="en-US" sz="2500" b="1" dirty="0">
                  <a:latin typeface="Microsoft JhengHei" panose="020B0604030504040204" pitchFamily="34" charset="-120"/>
                  <a:ea typeface="Microsoft JhengHei" panose="020B0604030504040204" pitchFamily="34" charset="-120"/>
                  <a:cs typeface="Noto Sans TC" pitchFamily="34" charset="-120"/>
                </a:rPr>
                <a:t>→</a:t>
              </a:r>
              <a:endParaRPr lang="en-US" sz="250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</p:txBody>
        </p:sp>
        <p:sp>
          <p:nvSpPr>
            <p:cNvPr id="40" name="Shape 11">
              <a:extLst>
                <a:ext uri="{FF2B5EF4-FFF2-40B4-BE49-F238E27FC236}">
                  <a16:creationId xmlns:a16="http://schemas.microsoft.com/office/drawing/2014/main" id="{E668D051-A03A-6F45-1E87-F335893D68FB}"/>
                </a:ext>
              </a:extLst>
            </p:cNvPr>
            <p:cNvSpPr/>
            <p:nvPr/>
          </p:nvSpPr>
          <p:spPr>
            <a:xfrm>
              <a:off x="3444240" y="2139696"/>
              <a:ext cx="2148840" cy="798282"/>
            </a:xfrm>
            <a:prstGeom prst="roundRect">
              <a:avLst>
                <a:gd name="adj" fmla="val 6400"/>
              </a:avLst>
            </a:prstGeom>
            <a:solidFill>
              <a:srgbClr val="65B8A6"/>
            </a:solidFill>
            <a:ln w="12700">
              <a:solidFill>
                <a:srgbClr val="244842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1" name="Text 12">
              <a:extLst>
                <a:ext uri="{FF2B5EF4-FFF2-40B4-BE49-F238E27FC236}">
                  <a16:creationId xmlns:a16="http://schemas.microsoft.com/office/drawing/2014/main" id="{21A701DA-6612-8015-DC53-313C1BB8A957}"/>
                </a:ext>
              </a:extLst>
            </p:cNvPr>
            <p:cNvSpPr/>
            <p:nvPr/>
          </p:nvSpPr>
          <p:spPr>
            <a:xfrm>
              <a:off x="3627120" y="2450592"/>
              <a:ext cx="178308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lnSpcReduction="10000"/>
            </a:bodyPr>
            <a:lstStyle/>
            <a:p>
              <a:pPr marL="0" indent="0" algn="ctr">
                <a:buNone/>
              </a:pPr>
              <a:r>
                <a:rPr lang="en-US" sz="1800" b="1" dirty="0">
                  <a:solidFill>
                    <a:srgbClr val="FFFFFF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Noto Sans TC" pitchFamily="34" charset="-120"/>
                </a:rPr>
                <a:t>原始文件</a:t>
              </a:r>
              <a:endParaRPr lang="en-US" sz="180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</p:txBody>
        </p:sp>
        <p:sp>
          <p:nvSpPr>
            <p:cNvPr id="42" name="Text 13">
              <a:extLst>
                <a:ext uri="{FF2B5EF4-FFF2-40B4-BE49-F238E27FC236}">
                  <a16:creationId xmlns:a16="http://schemas.microsoft.com/office/drawing/2014/main" id="{75A5076B-1FA7-F79B-FE6E-A3A00B8526EB}"/>
                </a:ext>
              </a:extLst>
            </p:cNvPr>
            <p:cNvSpPr/>
            <p:nvPr/>
          </p:nvSpPr>
          <p:spPr>
            <a:xfrm>
              <a:off x="5684520" y="2440103"/>
              <a:ext cx="32004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fontScale="85000" lnSpcReduction="20000"/>
            </a:bodyPr>
            <a:lstStyle/>
            <a:p>
              <a:pPr marL="0" indent="0" algn="ctr">
                <a:buNone/>
              </a:pPr>
              <a:r>
                <a:rPr lang="en-US" sz="2500" b="1" dirty="0">
                  <a:latin typeface="Microsoft JhengHei" panose="020B0604030504040204" pitchFamily="34" charset="-120"/>
                  <a:ea typeface="Microsoft JhengHei" panose="020B0604030504040204" pitchFamily="34" charset="-120"/>
                  <a:cs typeface="Noto Sans TC" pitchFamily="34" charset="-120"/>
                </a:rPr>
                <a:t>→</a:t>
              </a:r>
              <a:endParaRPr lang="en-US" sz="250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</p:txBody>
        </p:sp>
        <p:sp>
          <p:nvSpPr>
            <p:cNvPr id="43" name="Shape 14">
              <a:extLst>
                <a:ext uri="{FF2B5EF4-FFF2-40B4-BE49-F238E27FC236}">
                  <a16:creationId xmlns:a16="http://schemas.microsoft.com/office/drawing/2014/main" id="{D113DE9D-B9DA-74EE-4228-7A8133E16BA2}"/>
                </a:ext>
              </a:extLst>
            </p:cNvPr>
            <p:cNvSpPr/>
            <p:nvPr/>
          </p:nvSpPr>
          <p:spPr>
            <a:xfrm>
              <a:off x="6096000" y="2139696"/>
              <a:ext cx="2148840" cy="798277"/>
            </a:xfrm>
            <a:prstGeom prst="roundRect">
              <a:avLst>
                <a:gd name="adj" fmla="val 6400"/>
              </a:avLst>
            </a:prstGeom>
            <a:solidFill>
              <a:srgbClr val="65B8A6"/>
            </a:solidFill>
            <a:ln w="12700">
              <a:solidFill>
                <a:srgbClr val="244842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4" name="Text 15">
              <a:extLst>
                <a:ext uri="{FF2B5EF4-FFF2-40B4-BE49-F238E27FC236}">
                  <a16:creationId xmlns:a16="http://schemas.microsoft.com/office/drawing/2014/main" id="{F749CE04-86C6-F236-BE14-C6628A32A42C}"/>
                </a:ext>
              </a:extLst>
            </p:cNvPr>
            <p:cNvSpPr/>
            <p:nvPr/>
          </p:nvSpPr>
          <p:spPr>
            <a:xfrm>
              <a:off x="6278880" y="2450592"/>
              <a:ext cx="178308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lnSpcReduction="10000"/>
            </a:bodyPr>
            <a:lstStyle/>
            <a:p>
              <a:pPr marL="0" indent="0" algn="ctr">
                <a:buNone/>
              </a:pPr>
              <a:r>
                <a:rPr lang="en-US" sz="1800" b="1" dirty="0">
                  <a:solidFill>
                    <a:srgbClr val="FFFFFF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Noto Sans TC" pitchFamily="34" charset="-120"/>
                </a:rPr>
                <a:t>可讀文字</a:t>
              </a:r>
              <a:endParaRPr lang="en-US" sz="180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</p:txBody>
        </p:sp>
        <p:sp>
          <p:nvSpPr>
            <p:cNvPr id="45" name="Text 16">
              <a:extLst>
                <a:ext uri="{FF2B5EF4-FFF2-40B4-BE49-F238E27FC236}">
                  <a16:creationId xmlns:a16="http://schemas.microsoft.com/office/drawing/2014/main" id="{799BDB9B-DD7C-C938-6C3E-08C685EAF284}"/>
                </a:ext>
              </a:extLst>
            </p:cNvPr>
            <p:cNvSpPr/>
            <p:nvPr/>
          </p:nvSpPr>
          <p:spPr>
            <a:xfrm>
              <a:off x="8336280" y="2440103"/>
              <a:ext cx="32004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fontScale="85000" lnSpcReduction="20000"/>
            </a:bodyPr>
            <a:lstStyle/>
            <a:p>
              <a:pPr marL="0" indent="0" algn="ctr">
                <a:buNone/>
              </a:pPr>
              <a:r>
                <a:rPr lang="en-US" sz="2500" b="1" dirty="0">
                  <a:latin typeface="Microsoft JhengHei" panose="020B0604030504040204" pitchFamily="34" charset="-120"/>
                  <a:ea typeface="Microsoft JhengHei" panose="020B0604030504040204" pitchFamily="34" charset="-120"/>
                  <a:cs typeface="Noto Sans TC" pitchFamily="34" charset="-120"/>
                </a:rPr>
                <a:t>→</a:t>
              </a:r>
              <a:endParaRPr lang="en-US" sz="250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</p:txBody>
        </p:sp>
        <p:sp>
          <p:nvSpPr>
            <p:cNvPr id="46" name="Shape 17">
              <a:extLst>
                <a:ext uri="{FF2B5EF4-FFF2-40B4-BE49-F238E27FC236}">
                  <a16:creationId xmlns:a16="http://schemas.microsoft.com/office/drawing/2014/main" id="{B940033D-C74B-64C2-EDCE-88FA490FE5C9}"/>
                </a:ext>
              </a:extLst>
            </p:cNvPr>
            <p:cNvSpPr/>
            <p:nvPr/>
          </p:nvSpPr>
          <p:spPr>
            <a:xfrm>
              <a:off x="8747760" y="2139696"/>
              <a:ext cx="2148840" cy="798271"/>
            </a:xfrm>
            <a:prstGeom prst="roundRect">
              <a:avLst>
                <a:gd name="adj" fmla="val 6400"/>
              </a:avLst>
            </a:prstGeom>
            <a:solidFill>
              <a:srgbClr val="65B8A6"/>
            </a:solidFill>
            <a:ln w="12700">
              <a:solidFill>
                <a:srgbClr val="65B8A6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7" name="Text 18">
              <a:extLst>
                <a:ext uri="{FF2B5EF4-FFF2-40B4-BE49-F238E27FC236}">
                  <a16:creationId xmlns:a16="http://schemas.microsoft.com/office/drawing/2014/main" id="{6B1B6253-B887-B651-14C2-E65CB8616FDA}"/>
                </a:ext>
              </a:extLst>
            </p:cNvPr>
            <p:cNvSpPr/>
            <p:nvPr/>
          </p:nvSpPr>
          <p:spPr>
            <a:xfrm>
              <a:off x="8930640" y="2450592"/>
              <a:ext cx="178308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lnSpcReduction="10000"/>
            </a:bodyPr>
            <a:lstStyle/>
            <a:p>
              <a:pPr marL="0" indent="0" algn="ctr">
                <a:buNone/>
              </a:pPr>
              <a:r>
                <a:rPr lang="en-US" sz="1800" b="1" dirty="0">
                  <a:solidFill>
                    <a:srgbClr val="FFFFFF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Noto Sans TC" pitchFamily="34" charset="-120"/>
                </a:rPr>
                <a:t>可引用答案</a:t>
              </a:r>
              <a:endParaRPr lang="en-US" sz="180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</p:txBody>
        </p:sp>
      </p:grpSp>
      <p:sp>
        <p:nvSpPr>
          <p:cNvPr id="48" name="Text 3">
            <a:extLst>
              <a:ext uri="{FF2B5EF4-FFF2-40B4-BE49-F238E27FC236}">
                <a16:creationId xmlns:a16="http://schemas.microsoft.com/office/drawing/2014/main" id="{2DD1DD0C-F3F3-C017-7A7A-51D6033E524E}"/>
              </a:ext>
            </a:extLst>
          </p:cNvPr>
          <p:cNvSpPr/>
          <p:nvPr/>
        </p:nvSpPr>
        <p:spPr>
          <a:xfrm>
            <a:off x="566928" y="667512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altLang="zh-TW" sz="3200" b="1" dirty="0" err="1"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從公開文本到可引用的校務知識應用</a:t>
            </a:r>
            <a:endParaRPr lang="en-US" altLang="zh-TW" sz="3200" b="1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49" name="Text 7">
            <a:extLst>
              <a:ext uri="{FF2B5EF4-FFF2-40B4-BE49-F238E27FC236}">
                <a16:creationId xmlns:a16="http://schemas.microsoft.com/office/drawing/2014/main" id="{07F0E109-1323-265E-379E-30C871E1DB14}"/>
              </a:ext>
            </a:extLst>
          </p:cNvPr>
          <p:cNvSpPr/>
          <p:nvPr/>
        </p:nvSpPr>
        <p:spPr>
          <a:xfrm>
            <a:off x="566928" y="1297446"/>
            <a:ext cx="7498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sz="22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53" name="文字方塊 52">
            <a:extLst>
              <a:ext uri="{FF2B5EF4-FFF2-40B4-BE49-F238E27FC236}">
                <a16:creationId xmlns:a16="http://schemas.microsoft.com/office/drawing/2014/main" id="{D98B9818-3E58-2E6B-EA01-451E9B1896EF}"/>
              </a:ext>
            </a:extLst>
          </p:cNvPr>
          <p:cNvSpPr txBox="1"/>
          <p:nvPr/>
        </p:nvSpPr>
        <p:spPr>
          <a:xfrm>
            <a:off x="502920" y="6473952"/>
            <a:ext cx="609790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spcAft>
                <a:spcPts val="1200"/>
              </a:spcAft>
              <a:buNone/>
            </a:pPr>
            <a:r>
              <a:rPr lang="en-US" altLang="zh-TW" sz="1050" i="0" dirty="0"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Day3 | </a:t>
            </a:r>
            <a:r>
              <a:rPr lang="zh-TW" altLang="zh-TW" sz="1050" i="0" dirty="0"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生成式人工智慧於文本資料分析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8255">
            <a:solidFill>
              <a:srgbClr val="BCD3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064240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667A7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02</a:t>
            </a:r>
            <a:endParaRPr lang="en-US" sz="10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grpSp>
        <p:nvGrpSpPr>
          <p:cNvPr id="37" name="群組 36">
            <a:extLst>
              <a:ext uri="{FF2B5EF4-FFF2-40B4-BE49-F238E27FC236}">
                <a16:creationId xmlns:a16="http://schemas.microsoft.com/office/drawing/2014/main" id="{0933FFAC-5841-52DC-4083-8611AD89EE0D}"/>
              </a:ext>
            </a:extLst>
          </p:cNvPr>
          <p:cNvGrpSpPr/>
          <p:nvPr/>
        </p:nvGrpSpPr>
        <p:grpSpPr>
          <a:xfrm>
            <a:off x="815340" y="3103312"/>
            <a:ext cx="10561320" cy="2197788"/>
            <a:chOff x="786384" y="2325803"/>
            <a:chExt cx="10561320" cy="2197788"/>
          </a:xfrm>
        </p:grpSpPr>
        <p:sp>
          <p:nvSpPr>
            <p:cNvPr id="19" name="Shape 17"/>
            <p:cNvSpPr/>
            <p:nvPr/>
          </p:nvSpPr>
          <p:spPr>
            <a:xfrm>
              <a:off x="786384" y="2764715"/>
              <a:ext cx="2971800" cy="1758876"/>
            </a:xfrm>
            <a:prstGeom prst="roundRect">
              <a:avLst>
                <a:gd name="adj" fmla="val 3509"/>
              </a:avLst>
            </a:prstGeom>
            <a:solidFill>
              <a:srgbClr val="FFFF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zh-TW" altLang="en-US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1865376" y="2325803"/>
              <a:ext cx="822960" cy="822960"/>
            </a:xfrm>
            <a:prstGeom prst="ellipse">
              <a:avLst/>
            </a:prstGeom>
            <a:solidFill>
              <a:srgbClr val="E37B62"/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1" name="Text 19"/>
            <p:cNvSpPr/>
            <p:nvPr/>
          </p:nvSpPr>
          <p:spPr>
            <a:xfrm>
              <a:off x="1865376" y="2554403"/>
              <a:ext cx="8229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fontScale="85000" lnSpcReduction="20000"/>
            </a:bodyPr>
            <a:lstStyle/>
            <a:p>
              <a:pPr marL="0" indent="0" algn="ctr">
                <a:buNone/>
              </a:pPr>
              <a:r>
                <a:rPr lang="en-US" sz="2000" b="1" dirty="0">
                  <a:solidFill>
                    <a:srgbClr val="FFFFFF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Noto Sans TC" pitchFamily="34" charset="-120"/>
                </a:rPr>
                <a:t>1</a:t>
              </a:r>
              <a:endParaRPr 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</p:txBody>
        </p:sp>
        <p:sp>
          <p:nvSpPr>
            <p:cNvPr id="22" name="Text 20"/>
            <p:cNvSpPr/>
            <p:nvPr/>
          </p:nvSpPr>
          <p:spPr>
            <a:xfrm>
              <a:off x="1060704" y="3359075"/>
              <a:ext cx="24231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fontScale="92500" lnSpcReduction="10000"/>
            </a:bodyPr>
            <a:lstStyle/>
            <a:p>
              <a:pPr marL="0" indent="0" algn="ctr">
                <a:buNone/>
              </a:pPr>
              <a:r>
                <a:rPr lang="en-US" sz="2100" b="1" dirty="0">
                  <a:solidFill>
                    <a:srgbClr val="163A35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Noto Sans TC" pitchFamily="34" charset="-120"/>
                </a:rPr>
                <a:t>Crawler</a:t>
              </a:r>
              <a:endParaRPr lang="en-US" sz="210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</p:txBody>
        </p:sp>
        <p:sp>
          <p:nvSpPr>
            <p:cNvPr id="23" name="Text 21"/>
            <p:cNvSpPr/>
            <p:nvPr/>
          </p:nvSpPr>
          <p:spPr>
            <a:xfrm>
              <a:off x="1060704" y="3898571"/>
              <a:ext cx="2423160" cy="42062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Autofit/>
            </a:bodyPr>
            <a:lstStyle/>
            <a:p>
              <a:pPr marL="0" indent="0" algn="ctr">
                <a:buNone/>
              </a:pPr>
              <a:r>
                <a:rPr lang="en-US" sz="1400" dirty="0" err="1">
                  <a:solidFill>
                    <a:srgbClr val="47645F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Noto Sans TC" pitchFamily="34" charset="-120"/>
                </a:rPr>
                <a:t>取得名單內的公開網頁與附件</a:t>
              </a:r>
              <a:endParaRPr lang="en-US" sz="140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</p:txBody>
        </p:sp>
        <p:sp>
          <p:nvSpPr>
            <p:cNvPr id="24" name="Text 22"/>
            <p:cNvSpPr/>
            <p:nvPr/>
          </p:nvSpPr>
          <p:spPr>
            <a:xfrm>
              <a:off x="3840480" y="3541955"/>
              <a:ext cx="5029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fontScale="77500" lnSpcReduction="20000"/>
            </a:bodyPr>
            <a:lstStyle/>
            <a:p>
              <a:pPr marL="0" indent="0" algn="ctr">
                <a:buNone/>
              </a:pPr>
              <a:r>
                <a:rPr lang="en-US" sz="2800" b="1" dirty="0">
                  <a:latin typeface="Microsoft JhengHei" panose="020B0604030504040204" pitchFamily="34" charset="-120"/>
                  <a:ea typeface="Microsoft JhengHei" panose="020B0604030504040204" pitchFamily="34" charset="-120"/>
                  <a:cs typeface="Noto Sans TC" pitchFamily="34" charset="-120"/>
                </a:rPr>
                <a:t>→</a:t>
              </a:r>
              <a:endParaRPr lang="en-US" sz="280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</p:txBody>
        </p:sp>
        <p:sp>
          <p:nvSpPr>
            <p:cNvPr id="25" name="Shape 23"/>
            <p:cNvSpPr/>
            <p:nvPr/>
          </p:nvSpPr>
          <p:spPr>
            <a:xfrm>
              <a:off x="4581144" y="2764715"/>
              <a:ext cx="2971800" cy="1758876"/>
            </a:xfrm>
            <a:prstGeom prst="roundRect">
              <a:avLst>
                <a:gd name="adj" fmla="val 3509"/>
              </a:avLst>
            </a:prstGeom>
            <a:solidFill>
              <a:srgbClr val="FFFF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zh-TW" altLang="en-US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5660136" y="2325803"/>
              <a:ext cx="822960" cy="822960"/>
            </a:xfrm>
            <a:prstGeom prst="ellipse">
              <a:avLst/>
            </a:prstGeom>
            <a:solidFill>
              <a:srgbClr val="65B8A6"/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7" name="Text 25"/>
            <p:cNvSpPr/>
            <p:nvPr/>
          </p:nvSpPr>
          <p:spPr>
            <a:xfrm>
              <a:off x="5660136" y="2554403"/>
              <a:ext cx="8229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fontScale="85000" lnSpcReduction="20000"/>
            </a:bodyPr>
            <a:lstStyle/>
            <a:p>
              <a:pPr marL="0" indent="0" algn="ctr">
                <a:buNone/>
              </a:pPr>
              <a:r>
                <a:rPr lang="en-US" sz="2000" b="1" dirty="0">
                  <a:solidFill>
                    <a:srgbClr val="FFFFFF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Noto Sans TC" pitchFamily="34" charset="-120"/>
                </a:rPr>
                <a:t>2</a:t>
              </a:r>
              <a:endParaRPr 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</p:txBody>
        </p:sp>
        <p:sp>
          <p:nvSpPr>
            <p:cNvPr id="28" name="Text 26"/>
            <p:cNvSpPr/>
            <p:nvPr/>
          </p:nvSpPr>
          <p:spPr>
            <a:xfrm>
              <a:off x="4855464" y="3359075"/>
              <a:ext cx="24231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fontScale="92500" lnSpcReduction="10000"/>
            </a:bodyPr>
            <a:lstStyle/>
            <a:p>
              <a:pPr marL="0" indent="0" algn="ctr">
                <a:buNone/>
              </a:pPr>
              <a:r>
                <a:rPr lang="en-US" sz="2100" b="1" dirty="0">
                  <a:solidFill>
                    <a:srgbClr val="163A35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Noto Sans TC" pitchFamily="34" charset="-120"/>
                </a:rPr>
                <a:t>MarkItDown</a:t>
              </a:r>
              <a:endParaRPr lang="en-US" sz="210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</p:txBody>
        </p:sp>
        <p:sp>
          <p:nvSpPr>
            <p:cNvPr id="29" name="Text 27"/>
            <p:cNvSpPr/>
            <p:nvPr/>
          </p:nvSpPr>
          <p:spPr>
            <a:xfrm>
              <a:off x="4793831" y="3898571"/>
              <a:ext cx="2546425" cy="42062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 marL="0" indent="0" algn="ctr">
                <a:buNone/>
              </a:pPr>
              <a:r>
                <a:rPr lang="en-US" sz="1400" dirty="0">
                  <a:solidFill>
                    <a:srgbClr val="47645F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Noto Sans TC" pitchFamily="34" charset="-120"/>
                </a:rPr>
                <a:t>把已下載的文件轉成 Markdown</a:t>
              </a:r>
              <a:endParaRPr lang="en-US" sz="140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</p:txBody>
        </p:sp>
        <p:sp>
          <p:nvSpPr>
            <p:cNvPr id="30" name="Text 28"/>
            <p:cNvSpPr/>
            <p:nvPr/>
          </p:nvSpPr>
          <p:spPr>
            <a:xfrm>
              <a:off x="7635240" y="3541955"/>
              <a:ext cx="5029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fontScale="77500" lnSpcReduction="20000"/>
            </a:bodyPr>
            <a:lstStyle/>
            <a:p>
              <a:pPr marL="0" indent="0" algn="ctr">
                <a:buNone/>
              </a:pPr>
              <a:r>
                <a:rPr lang="en-US" sz="2800" b="1" dirty="0">
                  <a:latin typeface="Microsoft JhengHei" panose="020B0604030504040204" pitchFamily="34" charset="-120"/>
                  <a:ea typeface="Microsoft JhengHei" panose="020B0604030504040204" pitchFamily="34" charset="-120"/>
                  <a:cs typeface="Noto Sans TC" pitchFamily="34" charset="-120"/>
                </a:rPr>
                <a:t>→</a:t>
              </a:r>
              <a:endParaRPr lang="en-US" sz="280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</p:txBody>
        </p:sp>
        <p:sp>
          <p:nvSpPr>
            <p:cNvPr id="31" name="Shape 29"/>
            <p:cNvSpPr/>
            <p:nvPr/>
          </p:nvSpPr>
          <p:spPr>
            <a:xfrm>
              <a:off x="8375904" y="2764715"/>
              <a:ext cx="2971800" cy="1758876"/>
            </a:xfrm>
            <a:prstGeom prst="roundRect">
              <a:avLst>
                <a:gd name="adj" fmla="val 3509"/>
              </a:avLst>
            </a:prstGeom>
            <a:solidFill>
              <a:srgbClr val="FFFF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zh-TW" altLang="en-US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9454896" y="2325803"/>
              <a:ext cx="822960" cy="822960"/>
            </a:xfrm>
            <a:prstGeom prst="ellipse">
              <a:avLst/>
            </a:prstGeom>
            <a:solidFill>
              <a:srgbClr val="163A35"/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3" name="Text 31"/>
            <p:cNvSpPr/>
            <p:nvPr/>
          </p:nvSpPr>
          <p:spPr>
            <a:xfrm>
              <a:off x="9454896" y="2554403"/>
              <a:ext cx="8229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fontScale="85000" lnSpcReduction="20000"/>
            </a:bodyPr>
            <a:lstStyle/>
            <a:p>
              <a:pPr marL="0" indent="0" algn="ctr">
                <a:buNone/>
              </a:pPr>
              <a:r>
                <a:rPr lang="en-US" sz="2000" b="1" dirty="0">
                  <a:solidFill>
                    <a:srgbClr val="FFFFFF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Noto Sans TC" pitchFamily="34" charset="-120"/>
                </a:rPr>
                <a:t>3</a:t>
              </a:r>
              <a:endParaRPr 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</p:txBody>
        </p:sp>
        <p:sp>
          <p:nvSpPr>
            <p:cNvPr id="34" name="Text 32"/>
            <p:cNvSpPr/>
            <p:nvPr/>
          </p:nvSpPr>
          <p:spPr>
            <a:xfrm>
              <a:off x="8650224" y="3359075"/>
              <a:ext cx="24231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fontScale="92500" lnSpcReduction="10000"/>
            </a:bodyPr>
            <a:lstStyle/>
            <a:p>
              <a:pPr marL="0" indent="0" algn="ctr">
                <a:buNone/>
              </a:pPr>
              <a:r>
                <a:rPr lang="en-US" sz="2100" b="1" dirty="0">
                  <a:solidFill>
                    <a:srgbClr val="163A35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Noto Sans TC" pitchFamily="34" charset="-120"/>
                </a:rPr>
                <a:t>RAG</a:t>
              </a:r>
              <a:endParaRPr lang="en-US" sz="210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</p:txBody>
        </p:sp>
        <p:sp>
          <p:nvSpPr>
            <p:cNvPr id="35" name="Text 33"/>
            <p:cNvSpPr/>
            <p:nvPr/>
          </p:nvSpPr>
          <p:spPr>
            <a:xfrm>
              <a:off x="8598004" y="3898571"/>
              <a:ext cx="2527599" cy="42062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Autofit/>
            </a:bodyPr>
            <a:lstStyle/>
            <a:p>
              <a:pPr marL="0" indent="0" algn="ctr">
                <a:buNone/>
              </a:pPr>
              <a:r>
                <a:rPr lang="en-US" sz="1400" dirty="0" err="1">
                  <a:solidFill>
                    <a:srgbClr val="47645F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Noto Sans TC" pitchFamily="34" charset="-120"/>
                </a:rPr>
                <a:t>找</a:t>
              </a:r>
              <a:r>
                <a:rPr lang="en-US" sz="1400" dirty="0">
                  <a:solidFill>
                    <a:srgbClr val="47645F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Noto Sans TC" pitchFamily="34" charset="-120"/>
                </a:rPr>
                <a:t> </a:t>
              </a:r>
              <a:r>
                <a:rPr lang="en-US" sz="1400" dirty="0" err="1">
                  <a:solidFill>
                    <a:srgbClr val="47645F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Noto Sans TC" pitchFamily="34" charset="-120"/>
                </a:rPr>
                <a:t>chunks再用模型回答與引用</a:t>
              </a:r>
              <a:endParaRPr lang="en-US" sz="140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</p:txBody>
        </p:sp>
      </p:grpSp>
      <p:sp>
        <p:nvSpPr>
          <p:cNvPr id="36" name="Text 34"/>
          <p:cNvSpPr/>
          <p:nvPr/>
        </p:nvSpPr>
        <p:spPr>
          <a:xfrm>
            <a:off x="1203960" y="5895460"/>
            <a:ext cx="9784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63A35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關鍵順序：先爬取，再解析；先檢索，再生成。</a:t>
            </a:r>
            <a:endParaRPr lang="en-US" sz="22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grpSp>
        <p:nvGrpSpPr>
          <p:cNvPr id="38" name="群組 37">
            <a:extLst>
              <a:ext uri="{FF2B5EF4-FFF2-40B4-BE49-F238E27FC236}">
                <a16:creationId xmlns:a16="http://schemas.microsoft.com/office/drawing/2014/main" id="{12191121-C655-9B11-894C-DB4B9FF39FA5}"/>
              </a:ext>
            </a:extLst>
          </p:cNvPr>
          <p:cNvGrpSpPr/>
          <p:nvPr/>
        </p:nvGrpSpPr>
        <p:grpSpPr>
          <a:xfrm>
            <a:off x="815340" y="1502036"/>
            <a:ext cx="10972800" cy="1298448"/>
            <a:chOff x="576072" y="2670048"/>
            <a:chExt cx="10972800" cy="1298448"/>
          </a:xfrm>
        </p:grpSpPr>
        <p:sp>
          <p:nvSpPr>
            <p:cNvPr id="39" name="Shape 17">
              <a:extLst>
                <a:ext uri="{FF2B5EF4-FFF2-40B4-BE49-F238E27FC236}">
                  <a16:creationId xmlns:a16="http://schemas.microsoft.com/office/drawing/2014/main" id="{4B53B3B2-A02C-B8BE-D7C4-C9DF797E51B0}"/>
                </a:ext>
              </a:extLst>
            </p:cNvPr>
            <p:cNvSpPr/>
            <p:nvPr/>
          </p:nvSpPr>
          <p:spPr>
            <a:xfrm>
              <a:off x="914400" y="2926080"/>
              <a:ext cx="1417320" cy="0"/>
            </a:xfrm>
            <a:prstGeom prst="line">
              <a:avLst/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sp>
        <p:sp>
          <p:nvSpPr>
            <p:cNvPr id="40" name="Shape 18">
              <a:extLst>
                <a:ext uri="{FF2B5EF4-FFF2-40B4-BE49-F238E27FC236}">
                  <a16:creationId xmlns:a16="http://schemas.microsoft.com/office/drawing/2014/main" id="{3B1A8D96-2445-F92D-E4D2-A30627DC7367}"/>
                </a:ext>
              </a:extLst>
            </p:cNvPr>
            <p:cNvSpPr/>
            <p:nvPr/>
          </p:nvSpPr>
          <p:spPr>
            <a:xfrm>
              <a:off x="685800" y="2670048"/>
              <a:ext cx="502920" cy="502920"/>
            </a:xfrm>
            <a:prstGeom prst="ellipse">
              <a:avLst/>
            </a:prstGeom>
            <a:solidFill>
              <a:srgbClr val="65B8A6"/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1" name="Text 20">
              <a:extLst>
                <a:ext uri="{FF2B5EF4-FFF2-40B4-BE49-F238E27FC236}">
                  <a16:creationId xmlns:a16="http://schemas.microsoft.com/office/drawing/2014/main" id="{382C62DE-1283-FC15-2BD5-E59D88D6882A}"/>
                </a:ext>
              </a:extLst>
            </p:cNvPr>
            <p:cNvSpPr/>
            <p:nvPr/>
          </p:nvSpPr>
          <p:spPr>
            <a:xfrm>
              <a:off x="576072" y="3401568"/>
              <a:ext cx="160020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163A35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Noto Sans TC" pitchFamily="34" charset="-120"/>
                </a:rPr>
                <a:t>範圍與來源</a:t>
              </a:r>
              <a:endParaRPr lang="en-US" sz="140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</p:txBody>
        </p:sp>
        <p:sp>
          <p:nvSpPr>
            <p:cNvPr id="42" name="Text 21">
              <a:extLst>
                <a:ext uri="{FF2B5EF4-FFF2-40B4-BE49-F238E27FC236}">
                  <a16:creationId xmlns:a16="http://schemas.microsoft.com/office/drawing/2014/main" id="{A9DA4A62-398F-131B-2992-967C9A779140}"/>
                </a:ext>
              </a:extLst>
            </p:cNvPr>
            <p:cNvSpPr/>
            <p:nvPr/>
          </p:nvSpPr>
          <p:spPr>
            <a:xfrm>
              <a:off x="576072" y="3767328"/>
              <a:ext cx="1600200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>
                <a:buNone/>
              </a:pPr>
              <a:r>
                <a:rPr lang="en-US" sz="1000" dirty="0">
                  <a:solidFill>
                    <a:srgbClr val="667A76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Noto Sans TC" pitchFamily="34" charset="-120"/>
                </a:rPr>
                <a:t>scope</a:t>
              </a:r>
              <a:endParaRPr lang="en-US" sz="100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</p:txBody>
        </p:sp>
        <p:sp>
          <p:nvSpPr>
            <p:cNvPr id="43" name="Shape 22">
              <a:extLst>
                <a:ext uri="{FF2B5EF4-FFF2-40B4-BE49-F238E27FC236}">
                  <a16:creationId xmlns:a16="http://schemas.microsoft.com/office/drawing/2014/main" id="{C1253B4F-7240-E1EF-3D4F-B99E272BB452}"/>
                </a:ext>
              </a:extLst>
            </p:cNvPr>
            <p:cNvSpPr/>
            <p:nvPr/>
          </p:nvSpPr>
          <p:spPr>
            <a:xfrm>
              <a:off x="2788920" y="2926080"/>
              <a:ext cx="1417320" cy="0"/>
            </a:xfrm>
            <a:prstGeom prst="line">
              <a:avLst/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sp>
        <p:sp>
          <p:nvSpPr>
            <p:cNvPr id="44" name="Shape 23">
              <a:extLst>
                <a:ext uri="{FF2B5EF4-FFF2-40B4-BE49-F238E27FC236}">
                  <a16:creationId xmlns:a16="http://schemas.microsoft.com/office/drawing/2014/main" id="{39E8A4C5-C52F-CE6E-9F4A-3DA76DE45D08}"/>
                </a:ext>
              </a:extLst>
            </p:cNvPr>
            <p:cNvSpPr/>
            <p:nvPr/>
          </p:nvSpPr>
          <p:spPr>
            <a:xfrm>
              <a:off x="2560320" y="2670048"/>
              <a:ext cx="502920" cy="502920"/>
            </a:xfrm>
            <a:prstGeom prst="ellipse">
              <a:avLst/>
            </a:prstGeom>
            <a:solidFill>
              <a:srgbClr val="65B8A6"/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5" name="Text 25">
              <a:extLst>
                <a:ext uri="{FF2B5EF4-FFF2-40B4-BE49-F238E27FC236}">
                  <a16:creationId xmlns:a16="http://schemas.microsoft.com/office/drawing/2014/main" id="{15576B90-223D-7419-4924-16B539775506}"/>
                </a:ext>
              </a:extLst>
            </p:cNvPr>
            <p:cNvSpPr/>
            <p:nvPr/>
          </p:nvSpPr>
          <p:spPr>
            <a:xfrm>
              <a:off x="2450592" y="3401568"/>
              <a:ext cx="160020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163A35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Noto Sans TC" pitchFamily="34" charset="-120"/>
                </a:rPr>
                <a:t>爬取</a:t>
              </a:r>
              <a:endParaRPr lang="en-US" sz="140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</p:txBody>
        </p:sp>
        <p:sp>
          <p:nvSpPr>
            <p:cNvPr id="46" name="Text 26">
              <a:extLst>
                <a:ext uri="{FF2B5EF4-FFF2-40B4-BE49-F238E27FC236}">
                  <a16:creationId xmlns:a16="http://schemas.microsoft.com/office/drawing/2014/main" id="{54A40F36-86B6-0A3E-8BA6-53B2994F4EBD}"/>
                </a:ext>
              </a:extLst>
            </p:cNvPr>
            <p:cNvSpPr/>
            <p:nvPr/>
          </p:nvSpPr>
          <p:spPr>
            <a:xfrm>
              <a:off x="2450592" y="3767328"/>
              <a:ext cx="1600200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>
                <a:buNone/>
              </a:pPr>
              <a:r>
                <a:rPr lang="en-US" sz="1000" dirty="0">
                  <a:solidFill>
                    <a:srgbClr val="667A76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Noto Sans TC" pitchFamily="34" charset="-120"/>
                </a:rPr>
                <a:t>raw + manifest</a:t>
              </a:r>
              <a:endParaRPr lang="en-US" sz="100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</p:txBody>
        </p:sp>
        <p:sp>
          <p:nvSpPr>
            <p:cNvPr id="47" name="Shape 27">
              <a:extLst>
                <a:ext uri="{FF2B5EF4-FFF2-40B4-BE49-F238E27FC236}">
                  <a16:creationId xmlns:a16="http://schemas.microsoft.com/office/drawing/2014/main" id="{CEF9DC48-E425-6AD7-B46D-4B45AFF1B143}"/>
                </a:ext>
              </a:extLst>
            </p:cNvPr>
            <p:cNvSpPr/>
            <p:nvPr/>
          </p:nvSpPr>
          <p:spPr>
            <a:xfrm>
              <a:off x="4663440" y="2926080"/>
              <a:ext cx="1417320" cy="0"/>
            </a:xfrm>
            <a:prstGeom prst="line">
              <a:avLst/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sp>
        <p:sp>
          <p:nvSpPr>
            <p:cNvPr id="48" name="Shape 28">
              <a:extLst>
                <a:ext uri="{FF2B5EF4-FFF2-40B4-BE49-F238E27FC236}">
                  <a16:creationId xmlns:a16="http://schemas.microsoft.com/office/drawing/2014/main" id="{D0A71F29-A3EC-8096-F070-01D227CD156E}"/>
                </a:ext>
              </a:extLst>
            </p:cNvPr>
            <p:cNvSpPr/>
            <p:nvPr/>
          </p:nvSpPr>
          <p:spPr>
            <a:xfrm>
              <a:off x="4434840" y="2670048"/>
              <a:ext cx="502920" cy="502920"/>
            </a:xfrm>
            <a:prstGeom prst="ellipse">
              <a:avLst/>
            </a:prstGeom>
            <a:solidFill>
              <a:srgbClr val="65B8A6"/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9" name="Text 30">
              <a:extLst>
                <a:ext uri="{FF2B5EF4-FFF2-40B4-BE49-F238E27FC236}">
                  <a16:creationId xmlns:a16="http://schemas.microsoft.com/office/drawing/2014/main" id="{445447A1-2B05-A946-EC0F-7EFFB49D8237}"/>
                </a:ext>
              </a:extLst>
            </p:cNvPr>
            <p:cNvSpPr/>
            <p:nvPr/>
          </p:nvSpPr>
          <p:spPr>
            <a:xfrm>
              <a:off x="4325112" y="3401568"/>
              <a:ext cx="160020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163A35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Noto Sans TC" pitchFamily="34" charset="-120"/>
                </a:rPr>
                <a:t>解析與檢查</a:t>
              </a:r>
              <a:endParaRPr lang="en-US" sz="140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</p:txBody>
        </p:sp>
        <p:sp>
          <p:nvSpPr>
            <p:cNvPr id="50" name="Text 31">
              <a:extLst>
                <a:ext uri="{FF2B5EF4-FFF2-40B4-BE49-F238E27FC236}">
                  <a16:creationId xmlns:a16="http://schemas.microsoft.com/office/drawing/2014/main" id="{E867DD49-F2BE-E156-2261-9EB4782D4949}"/>
                </a:ext>
              </a:extLst>
            </p:cNvPr>
            <p:cNvSpPr/>
            <p:nvPr/>
          </p:nvSpPr>
          <p:spPr>
            <a:xfrm>
              <a:off x="4325112" y="3767328"/>
              <a:ext cx="1600200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>
                <a:buNone/>
              </a:pPr>
              <a:r>
                <a:rPr lang="en-US" sz="1000" dirty="0">
                  <a:solidFill>
                    <a:srgbClr val="667A76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Noto Sans TC" pitchFamily="34" charset="-120"/>
                </a:rPr>
                <a:t>markdown</a:t>
              </a:r>
              <a:endParaRPr lang="en-US" sz="100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</p:txBody>
        </p:sp>
        <p:sp>
          <p:nvSpPr>
            <p:cNvPr id="51" name="Shape 32">
              <a:extLst>
                <a:ext uri="{FF2B5EF4-FFF2-40B4-BE49-F238E27FC236}">
                  <a16:creationId xmlns:a16="http://schemas.microsoft.com/office/drawing/2014/main" id="{434E1775-0F08-329C-8C1D-62E41262637F}"/>
                </a:ext>
              </a:extLst>
            </p:cNvPr>
            <p:cNvSpPr/>
            <p:nvPr/>
          </p:nvSpPr>
          <p:spPr>
            <a:xfrm>
              <a:off x="6537960" y="2926080"/>
              <a:ext cx="1417320" cy="0"/>
            </a:xfrm>
            <a:prstGeom prst="line">
              <a:avLst/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sp>
        <p:sp>
          <p:nvSpPr>
            <p:cNvPr id="52" name="Shape 33">
              <a:extLst>
                <a:ext uri="{FF2B5EF4-FFF2-40B4-BE49-F238E27FC236}">
                  <a16:creationId xmlns:a16="http://schemas.microsoft.com/office/drawing/2014/main" id="{F13552D4-742C-F720-BD0D-D151297E2205}"/>
                </a:ext>
              </a:extLst>
            </p:cNvPr>
            <p:cNvSpPr/>
            <p:nvPr/>
          </p:nvSpPr>
          <p:spPr>
            <a:xfrm>
              <a:off x="6309360" y="2670048"/>
              <a:ext cx="502920" cy="502920"/>
            </a:xfrm>
            <a:prstGeom prst="ellipse">
              <a:avLst/>
            </a:prstGeom>
            <a:solidFill>
              <a:srgbClr val="E37B62"/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3" name="Text 35">
              <a:extLst>
                <a:ext uri="{FF2B5EF4-FFF2-40B4-BE49-F238E27FC236}">
                  <a16:creationId xmlns:a16="http://schemas.microsoft.com/office/drawing/2014/main" id="{E2FBDDED-D6E0-439D-958E-0093A44919ED}"/>
                </a:ext>
              </a:extLst>
            </p:cNvPr>
            <p:cNvSpPr/>
            <p:nvPr/>
          </p:nvSpPr>
          <p:spPr>
            <a:xfrm>
              <a:off x="6199632" y="3401568"/>
              <a:ext cx="160020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163A35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Noto Sans TC" pitchFamily="34" charset="-120"/>
                </a:rPr>
                <a:t>AI 分析</a:t>
              </a:r>
              <a:endParaRPr lang="en-US" sz="140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</p:txBody>
        </p:sp>
        <p:sp>
          <p:nvSpPr>
            <p:cNvPr id="54" name="Text 36">
              <a:extLst>
                <a:ext uri="{FF2B5EF4-FFF2-40B4-BE49-F238E27FC236}">
                  <a16:creationId xmlns:a16="http://schemas.microsoft.com/office/drawing/2014/main" id="{7FB36C34-9E8B-32AD-1851-E90F380C481A}"/>
                </a:ext>
              </a:extLst>
            </p:cNvPr>
            <p:cNvSpPr/>
            <p:nvPr/>
          </p:nvSpPr>
          <p:spPr>
            <a:xfrm>
              <a:off x="6199632" y="3767328"/>
              <a:ext cx="1600200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>
                <a:buNone/>
              </a:pPr>
              <a:r>
                <a:rPr lang="en-US" sz="1000" dirty="0">
                  <a:solidFill>
                    <a:srgbClr val="667A76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Noto Sans TC" pitchFamily="34" charset="-120"/>
                </a:rPr>
                <a:t>chunks</a:t>
              </a:r>
              <a:endParaRPr lang="en-US" sz="100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</p:txBody>
        </p:sp>
        <p:sp>
          <p:nvSpPr>
            <p:cNvPr id="55" name="Shape 37">
              <a:extLst>
                <a:ext uri="{FF2B5EF4-FFF2-40B4-BE49-F238E27FC236}">
                  <a16:creationId xmlns:a16="http://schemas.microsoft.com/office/drawing/2014/main" id="{D73CFB9A-16C5-59B5-75DF-CC613BC2AA15}"/>
                </a:ext>
              </a:extLst>
            </p:cNvPr>
            <p:cNvSpPr/>
            <p:nvPr/>
          </p:nvSpPr>
          <p:spPr>
            <a:xfrm>
              <a:off x="8412480" y="2926080"/>
              <a:ext cx="1417320" cy="0"/>
            </a:xfrm>
            <a:prstGeom prst="line">
              <a:avLst/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sp>
        <p:sp>
          <p:nvSpPr>
            <p:cNvPr id="56" name="Shape 38">
              <a:extLst>
                <a:ext uri="{FF2B5EF4-FFF2-40B4-BE49-F238E27FC236}">
                  <a16:creationId xmlns:a16="http://schemas.microsoft.com/office/drawing/2014/main" id="{50260761-5CF2-4652-5031-DB8948338325}"/>
                </a:ext>
              </a:extLst>
            </p:cNvPr>
            <p:cNvSpPr/>
            <p:nvPr/>
          </p:nvSpPr>
          <p:spPr>
            <a:xfrm>
              <a:off x="8183880" y="2670048"/>
              <a:ext cx="502920" cy="502920"/>
            </a:xfrm>
            <a:prstGeom prst="ellipse">
              <a:avLst/>
            </a:prstGeom>
            <a:solidFill>
              <a:srgbClr val="E37B62"/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7" name="Text 40">
              <a:extLst>
                <a:ext uri="{FF2B5EF4-FFF2-40B4-BE49-F238E27FC236}">
                  <a16:creationId xmlns:a16="http://schemas.microsoft.com/office/drawing/2014/main" id="{7415C3D6-6B86-F5A4-441E-4FB34ABFEE13}"/>
                </a:ext>
              </a:extLst>
            </p:cNvPr>
            <p:cNvSpPr/>
            <p:nvPr/>
          </p:nvSpPr>
          <p:spPr>
            <a:xfrm>
              <a:off x="8074152" y="3401568"/>
              <a:ext cx="160020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163A35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Noto Sans TC" pitchFamily="34" charset="-120"/>
                </a:rPr>
                <a:t>可引用問答</a:t>
              </a:r>
              <a:endParaRPr lang="en-US" sz="140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</p:txBody>
        </p:sp>
        <p:sp>
          <p:nvSpPr>
            <p:cNvPr id="58" name="Text 41">
              <a:extLst>
                <a:ext uri="{FF2B5EF4-FFF2-40B4-BE49-F238E27FC236}">
                  <a16:creationId xmlns:a16="http://schemas.microsoft.com/office/drawing/2014/main" id="{A0BD1DFB-AA0E-2E5D-5551-C45AB2062E81}"/>
                </a:ext>
              </a:extLst>
            </p:cNvPr>
            <p:cNvSpPr/>
            <p:nvPr/>
          </p:nvSpPr>
          <p:spPr>
            <a:xfrm>
              <a:off x="8074152" y="3767328"/>
              <a:ext cx="1600200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>
                <a:buNone/>
              </a:pPr>
              <a:r>
                <a:rPr lang="en-US" sz="1000" dirty="0">
                  <a:solidFill>
                    <a:srgbClr val="667A76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Noto Sans TC" pitchFamily="34" charset="-120"/>
                </a:rPr>
                <a:t>RAG</a:t>
              </a:r>
              <a:endParaRPr lang="en-US" sz="100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</p:txBody>
        </p:sp>
        <p:sp>
          <p:nvSpPr>
            <p:cNvPr id="59" name="Shape 43">
              <a:extLst>
                <a:ext uri="{FF2B5EF4-FFF2-40B4-BE49-F238E27FC236}">
                  <a16:creationId xmlns:a16="http://schemas.microsoft.com/office/drawing/2014/main" id="{BD0D270A-3190-4070-C57B-1C64907C32A0}"/>
                </a:ext>
              </a:extLst>
            </p:cNvPr>
            <p:cNvSpPr/>
            <p:nvPr/>
          </p:nvSpPr>
          <p:spPr>
            <a:xfrm>
              <a:off x="10058400" y="2670048"/>
              <a:ext cx="502920" cy="502920"/>
            </a:xfrm>
            <a:prstGeom prst="ellipse">
              <a:avLst/>
            </a:prstGeom>
            <a:solidFill>
              <a:srgbClr val="E37B62"/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0" name="Text 45">
              <a:extLst>
                <a:ext uri="{FF2B5EF4-FFF2-40B4-BE49-F238E27FC236}">
                  <a16:creationId xmlns:a16="http://schemas.microsoft.com/office/drawing/2014/main" id="{2A63F824-F16D-59EF-47AF-4C39F8D90D27}"/>
                </a:ext>
              </a:extLst>
            </p:cNvPr>
            <p:cNvSpPr/>
            <p:nvPr/>
          </p:nvSpPr>
          <p:spPr>
            <a:xfrm>
              <a:off x="9948672" y="3401568"/>
              <a:ext cx="160020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163A35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Noto Sans TC" pitchFamily="34" charset="-120"/>
                </a:rPr>
                <a:t>回饋改善</a:t>
              </a:r>
              <a:endParaRPr lang="en-US" sz="140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</p:txBody>
        </p:sp>
        <p:sp>
          <p:nvSpPr>
            <p:cNvPr id="61" name="Text 46">
              <a:extLst>
                <a:ext uri="{FF2B5EF4-FFF2-40B4-BE49-F238E27FC236}">
                  <a16:creationId xmlns:a16="http://schemas.microsoft.com/office/drawing/2014/main" id="{F031C8F0-02A7-9D20-1DE9-9B3387073430}"/>
                </a:ext>
              </a:extLst>
            </p:cNvPr>
            <p:cNvSpPr/>
            <p:nvPr/>
          </p:nvSpPr>
          <p:spPr>
            <a:xfrm>
              <a:off x="9948672" y="3767328"/>
              <a:ext cx="1600200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>
                <a:buNone/>
              </a:pPr>
              <a:r>
                <a:rPr lang="en-US" sz="1000" dirty="0">
                  <a:solidFill>
                    <a:srgbClr val="667A76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Noto Sans TC" pitchFamily="34" charset="-120"/>
                </a:rPr>
                <a:t>backlog</a:t>
              </a:r>
              <a:endParaRPr lang="en-US" sz="100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</p:txBody>
        </p:sp>
      </p:grpSp>
      <p:sp>
        <p:nvSpPr>
          <p:cNvPr id="62" name="Text 1">
            <a:extLst>
              <a:ext uri="{FF2B5EF4-FFF2-40B4-BE49-F238E27FC236}">
                <a16:creationId xmlns:a16="http://schemas.microsoft.com/office/drawing/2014/main" id="{F6822158-9442-E0E1-F247-3B91F4D8E6D6}"/>
              </a:ext>
            </a:extLst>
          </p:cNvPr>
          <p:cNvSpPr/>
          <p:nvPr/>
        </p:nvSpPr>
        <p:spPr>
          <a:xfrm>
            <a:off x="566928" y="667512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 err="1">
                <a:solidFill>
                  <a:srgbClr val="163A35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概念流程</a:t>
            </a:r>
            <a:endParaRPr lang="en-US" sz="32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63" name="文字方塊 62">
            <a:extLst>
              <a:ext uri="{FF2B5EF4-FFF2-40B4-BE49-F238E27FC236}">
                <a16:creationId xmlns:a16="http://schemas.microsoft.com/office/drawing/2014/main" id="{1D27A351-839C-1B34-D758-1B2C08CE5514}"/>
              </a:ext>
            </a:extLst>
          </p:cNvPr>
          <p:cNvSpPr txBox="1"/>
          <p:nvPr/>
        </p:nvSpPr>
        <p:spPr>
          <a:xfrm>
            <a:off x="502920" y="6473952"/>
            <a:ext cx="609790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spcAft>
                <a:spcPts val="1200"/>
              </a:spcAft>
              <a:buNone/>
            </a:pPr>
            <a:r>
              <a:rPr lang="en-US" altLang="zh-TW" sz="1050" i="0" dirty="0"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Day3 | </a:t>
            </a:r>
            <a:r>
              <a:rPr lang="zh-TW" altLang="zh-TW" sz="1050" i="0" dirty="0"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生成式人工智慧於文本資料分析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66928" y="667512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163A35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MCP 與 MarkItDown：讓 Codex </a:t>
            </a:r>
            <a:r>
              <a:rPr lang="en-US" sz="3200" b="1" dirty="0" err="1">
                <a:solidFill>
                  <a:srgbClr val="163A35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有「文件解析能力</a:t>
            </a:r>
            <a:r>
              <a:rPr lang="en-US" sz="3200" b="1" dirty="0">
                <a:solidFill>
                  <a:srgbClr val="163A35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」</a:t>
            </a:r>
            <a:endParaRPr lang="en-US" sz="32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8255">
            <a:solidFill>
              <a:srgbClr val="BCD3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064240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667A7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03</a:t>
            </a:r>
            <a:endParaRPr lang="en-US" sz="10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781811" y="2686622"/>
            <a:ext cx="2834640" cy="1496753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0" name="Text 18"/>
          <p:cNvSpPr/>
          <p:nvPr/>
        </p:nvSpPr>
        <p:spPr>
          <a:xfrm>
            <a:off x="1124711" y="2878646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163A35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Codex</a:t>
            </a:r>
            <a:endParaRPr lang="en-US" sz="27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1124711" y="3425854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dirty="0">
                <a:solidFill>
                  <a:srgbClr val="47645F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理解你的指令</a:t>
            </a:r>
            <a:endParaRPr lang="en-US" sz="16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marL="0" indent="0" algn="ctr">
              <a:buNone/>
            </a:pPr>
            <a:r>
              <a:rPr lang="en-US" sz="1600" dirty="0">
                <a:solidFill>
                  <a:srgbClr val="47645F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協助整理與分析</a:t>
            </a:r>
            <a:endParaRPr lang="en-US" sz="16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4750307" y="2674620"/>
            <a:ext cx="2514600" cy="1508760"/>
          </a:xfrm>
          <a:prstGeom prst="roundRect">
            <a:avLst>
              <a:gd name="adj" fmla="val 4848"/>
            </a:avLst>
          </a:prstGeom>
          <a:solidFill>
            <a:srgbClr val="65B8A6"/>
          </a:solidFill>
          <a:ln w="12700">
            <a:solidFill>
              <a:srgbClr val="65B8A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3" name="Text 21"/>
          <p:cNvSpPr/>
          <p:nvPr/>
        </p:nvSpPr>
        <p:spPr>
          <a:xfrm>
            <a:off x="5081778" y="2942654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MCP</a:t>
            </a:r>
            <a:endParaRPr lang="en-US" sz="28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8385048" y="2674613"/>
            <a:ext cx="2880360" cy="1508761"/>
          </a:xfrm>
          <a:prstGeom prst="roundRect">
            <a:avLst>
              <a:gd name="adj" fmla="val 254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TW" altLang="en-US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8641080" y="2878646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63A35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MarkItDown</a:t>
            </a:r>
            <a:endParaRPr lang="en-US" sz="24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8641080" y="3433724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dirty="0">
                <a:solidFill>
                  <a:srgbClr val="47645F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HTML / PDF / DOCX</a:t>
            </a:r>
            <a:endParaRPr lang="en-US" sz="16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marL="0" indent="0" algn="ctr">
              <a:buNone/>
            </a:pPr>
            <a:r>
              <a:rPr lang="en-US" sz="1600" dirty="0">
                <a:solidFill>
                  <a:srgbClr val="47645F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→ Markdown</a:t>
            </a:r>
            <a:endParaRPr lang="en-US" sz="16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608C9FC0-01D9-7D71-1809-E4C412CD07FE}"/>
              </a:ext>
            </a:extLst>
          </p:cNvPr>
          <p:cNvSpPr txBox="1"/>
          <p:nvPr/>
        </p:nvSpPr>
        <p:spPr>
          <a:xfrm>
            <a:off x="4911984" y="3433724"/>
            <a:ext cx="2191245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500" dirty="0" err="1">
                <a:solidFill>
                  <a:schemeClr val="bg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呼叫工具的接頭</a:t>
            </a:r>
            <a:endParaRPr lang="zh-TW" altLang="en-US" dirty="0">
              <a:solidFill>
                <a:schemeClr val="bg1"/>
              </a:solidFill>
            </a:endParaRPr>
          </a:p>
        </p:txBody>
      </p:sp>
      <p:sp>
        <p:nvSpPr>
          <p:cNvPr id="40" name="Shape 17">
            <a:extLst>
              <a:ext uri="{FF2B5EF4-FFF2-40B4-BE49-F238E27FC236}">
                <a16:creationId xmlns:a16="http://schemas.microsoft.com/office/drawing/2014/main" id="{C0765D44-ACB1-D7CF-635C-02E0948EA232}"/>
              </a:ext>
            </a:extLst>
          </p:cNvPr>
          <p:cNvSpPr/>
          <p:nvPr/>
        </p:nvSpPr>
        <p:spPr>
          <a:xfrm>
            <a:off x="3875912" y="3451000"/>
            <a:ext cx="627887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sp>
      <p:sp>
        <p:nvSpPr>
          <p:cNvPr id="41" name="Shape 17">
            <a:extLst>
              <a:ext uri="{FF2B5EF4-FFF2-40B4-BE49-F238E27FC236}">
                <a16:creationId xmlns:a16="http://schemas.microsoft.com/office/drawing/2014/main" id="{97098A35-0347-B91C-0592-6DFE14D6FB11}"/>
              </a:ext>
            </a:extLst>
          </p:cNvPr>
          <p:cNvSpPr/>
          <p:nvPr/>
        </p:nvSpPr>
        <p:spPr>
          <a:xfrm>
            <a:off x="7532088" y="3426075"/>
            <a:ext cx="627887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sp>
      <p:sp>
        <p:nvSpPr>
          <p:cNvPr id="42" name="文字方塊 41">
            <a:extLst>
              <a:ext uri="{FF2B5EF4-FFF2-40B4-BE49-F238E27FC236}">
                <a16:creationId xmlns:a16="http://schemas.microsoft.com/office/drawing/2014/main" id="{1720D63F-6139-A1BD-C4D8-5226752696A8}"/>
              </a:ext>
            </a:extLst>
          </p:cNvPr>
          <p:cNvSpPr txBox="1"/>
          <p:nvPr/>
        </p:nvSpPr>
        <p:spPr>
          <a:xfrm>
            <a:off x="502920" y="6473952"/>
            <a:ext cx="609790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spcAft>
                <a:spcPts val="1200"/>
              </a:spcAft>
              <a:buNone/>
            </a:pPr>
            <a:r>
              <a:rPr lang="en-US" altLang="zh-TW" sz="1050" i="0" dirty="0"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Day3 | </a:t>
            </a:r>
            <a:r>
              <a:rPr lang="zh-TW" altLang="zh-TW" sz="1050" i="0" dirty="0"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生成式人工智慧於文本資料分析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66928" y="667512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163A35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Step 00｜建立個人專案與固定資料範圍</a:t>
            </a:r>
            <a:endParaRPr lang="en-US" sz="32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8255">
            <a:solidFill>
              <a:srgbClr val="BCD3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064240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667A7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04</a:t>
            </a:r>
            <a:endParaRPr lang="en-US" sz="10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673608" y="1889760"/>
            <a:ext cx="5349240" cy="361188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0" name="Shape 18"/>
          <p:cNvSpPr/>
          <p:nvPr/>
        </p:nvSpPr>
        <p:spPr>
          <a:xfrm>
            <a:off x="673608" y="1889760"/>
            <a:ext cx="91440" cy="3611880"/>
          </a:xfrm>
          <a:prstGeom prst="rect">
            <a:avLst/>
          </a:prstGeom>
          <a:solidFill>
            <a:srgbClr val="65B8A6"/>
          </a:solidFill>
          <a:ln w="12700">
            <a:solidFill>
              <a:srgbClr val="65B8A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Text 19"/>
          <p:cNvSpPr/>
          <p:nvPr/>
        </p:nvSpPr>
        <p:spPr>
          <a:xfrm>
            <a:off x="929640" y="2195298"/>
            <a:ext cx="4892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163A35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提示詞 00｜可貼給 Codex</a:t>
            </a:r>
            <a:endParaRPr lang="en-US" sz="20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929640" y="2820875"/>
            <a:ext cx="487375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47645F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1. 建立自訂名稱的個人專案資料夾</a:t>
            </a:r>
            <a:endParaRPr lang="en-US" sz="16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47645F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2. 填入統一起始網址</a:t>
            </a:r>
            <a:endParaRPr lang="en-US" sz="16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47645F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3. 寫入固定 host、路徑、格式與數量上限</a:t>
            </a:r>
            <a:endParaRPr lang="en-US" sz="16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47645F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4. 檢核 scope 後才開始爬取</a:t>
            </a:r>
            <a:endParaRPr lang="en-US" sz="16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6553200" y="1889760"/>
            <a:ext cx="4919472" cy="3611880"/>
          </a:xfrm>
          <a:prstGeom prst="roundRect">
            <a:avLst>
              <a:gd name="adj" fmla="val 2025"/>
            </a:avLst>
          </a:prstGeom>
          <a:solidFill>
            <a:srgbClr val="102A27"/>
          </a:solidFill>
          <a:ln w="12700">
            <a:solidFill>
              <a:srgbClr val="102A2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4" name="Text 22"/>
          <p:cNvSpPr/>
          <p:nvPr/>
        </p:nvSpPr>
        <p:spPr>
          <a:xfrm>
            <a:off x="6891528" y="22211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65B8A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預期產物</a:t>
            </a:r>
            <a:endParaRPr lang="en-US" sz="20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6937248" y="2820875"/>
            <a:ext cx="4069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Consolas" pitchFamily="34" charset="-120"/>
              </a:rPr>
              <a:t>my-project/</a:t>
            </a:r>
            <a:endParaRPr lang="en-US" sz="16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Consolas" pitchFamily="34" charset="-120"/>
              </a:rPr>
              <a:t>├── data/raw/</a:t>
            </a:r>
            <a:endParaRPr lang="en-US" sz="16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Consolas" pitchFamily="34" charset="-120"/>
              </a:rPr>
              <a:t>├── data/manifests/</a:t>
            </a:r>
            <a:endParaRPr lang="en-US" sz="16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Consolas" pitchFamily="34" charset="-120"/>
              </a:rPr>
              <a:t>├── data/markdown/</a:t>
            </a:r>
            <a:endParaRPr lang="en-US" sz="16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Consolas" pitchFamily="34" charset="-120"/>
              </a:rPr>
              <a:t>├── data/processed/</a:t>
            </a:r>
            <a:endParaRPr lang="en-US" sz="16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Consolas" pitchFamily="34" charset="-120"/>
              </a:rPr>
              <a:t>├── analysis/  rag/  feedback/</a:t>
            </a:r>
            <a:endParaRPr lang="en-US" sz="16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7A0AD922-741F-1238-426A-36704167B0A1}"/>
              </a:ext>
            </a:extLst>
          </p:cNvPr>
          <p:cNvSpPr txBox="1"/>
          <p:nvPr/>
        </p:nvSpPr>
        <p:spPr>
          <a:xfrm>
            <a:off x="502920" y="6473952"/>
            <a:ext cx="609790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spcAft>
                <a:spcPts val="1200"/>
              </a:spcAft>
              <a:buNone/>
            </a:pPr>
            <a:r>
              <a:rPr lang="en-US" altLang="zh-TW" sz="1050" i="0" dirty="0"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Day3 | </a:t>
            </a:r>
            <a:r>
              <a:rPr lang="zh-TW" altLang="zh-TW" sz="1050" i="0" dirty="0"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生成式人工智慧於文本資料分析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66928" y="667512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163A35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檢查點｜crawl scope 是否可重現？</a:t>
            </a:r>
            <a:endParaRPr lang="en-US" sz="32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8255">
            <a:solidFill>
              <a:srgbClr val="BCD3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064240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667A7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08</a:t>
            </a:r>
            <a:endParaRPr lang="en-US" sz="10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grpSp>
        <p:nvGrpSpPr>
          <p:cNvPr id="44" name="群組 43">
            <a:extLst>
              <a:ext uri="{FF2B5EF4-FFF2-40B4-BE49-F238E27FC236}">
                <a16:creationId xmlns:a16="http://schemas.microsoft.com/office/drawing/2014/main" id="{F09BD29A-0DF1-587D-F3BF-DA17AFF0F993}"/>
              </a:ext>
            </a:extLst>
          </p:cNvPr>
          <p:cNvGrpSpPr/>
          <p:nvPr/>
        </p:nvGrpSpPr>
        <p:grpSpPr>
          <a:xfrm>
            <a:off x="758952" y="1915668"/>
            <a:ext cx="10853928" cy="3026664"/>
            <a:chOff x="777240" y="1417320"/>
            <a:chExt cx="10853928" cy="3026664"/>
          </a:xfrm>
        </p:grpSpPr>
        <p:sp>
          <p:nvSpPr>
            <p:cNvPr id="19" name="Shape 17"/>
            <p:cNvSpPr/>
            <p:nvPr/>
          </p:nvSpPr>
          <p:spPr>
            <a:xfrm>
              <a:off x="777240" y="1554480"/>
              <a:ext cx="502920" cy="502920"/>
            </a:xfrm>
            <a:prstGeom prst="ellipse">
              <a:avLst/>
            </a:prstGeom>
            <a:solidFill>
              <a:srgbClr val="65B8A6"/>
            </a:solidFill>
            <a:ln w="12700">
              <a:solidFill>
                <a:srgbClr val="65B8A6"/>
              </a:solidFill>
              <a:prstDash val="solid"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0" name="Text 18"/>
            <p:cNvSpPr/>
            <p:nvPr/>
          </p:nvSpPr>
          <p:spPr>
            <a:xfrm>
              <a:off x="777240" y="1636776"/>
              <a:ext cx="50292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Noto Sans TC" pitchFamily="34" charset="-120"/>
                </a:rPr>
                <a:t>✓</a:t>
              </a:r>
              <a:endParaRPr lang="en-US" sz="120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</p:txBody>
        </p:sp>
        <p:sp>
          <p:nvSpPr>
            <p:cNvPr id="21" name="Shape 19"/>
            <p:cNvSpPr/>
            <p:nvPr/>
          </p:nvSpPr>
          <p:spPr>
            <a:xfrm>
              <a:off x="1435608" y="1417320"/>
              <a:ext cx="4572000" cy="1152144"/>
            </a:xfrm>
            <a:prstGeom prst="roundRect">
              <a:avLst>
                <a:gd name="adj" fmla="val 7767"/>
              </a:avLst>
            </a:prstGeom>
            <a:solidFill>
              <a:srgbClr val="FFFF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3" name="Text 21"/>
            <p:cNvSpPr/>
            <p:nvPr/>
          </p:nvSpPr>
          <p:spPr>
            <a:xfrm>
              <a:off x="1691640" y="1645920"/>
              <a:ext cx="411480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163A35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Noto Sans TC" pitchFamily="34" charset="-120"/>
                </a:rPr>
                <a:t>完整主機名稱</a:t>
              </a:r>
              <a:endParaRPr lang="en-US" sz="160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</p:txBody>
        </p:sp>
        <p:sp>
          <p:nvSpPr>
            <p:cNvPr id="24" name="Text 22"/>
            <p:cNvSpPr/>
            <p:nvPr/>
          </p:nvSpPr>
          <p:spPr>
            <a:xfrm>
              <a:off x="1691640" y="2112264"/>
              <a:ext cx="4096512" cy="7315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Autofit/>
            </a:bodyPr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47645F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Noto Sans TC" pitchFamily="34" charset="-120"/>
                </a:rPr>
                <a:t>只列允許的 host，不自動加子網域。</a:t>
              </a:r>
              <a:endParaRPr lang="en-US" sz="140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</p:txBody>
        </p:sp>
        <p:sp>
          <p:nvSpPr>
            <p:cNvPr id="25" name="Shape 23"/>
            <p:cNvSpPr/>
            <p:nvPr/>
          </p:nvSpPr>
          <p:spPr>
            <a:xfrm>
              <a:off x="6400800" y="1554480"/>
              <a:ext cx="502920" cy="502920"/>
            </a:xfrm>
            <a:prstGeom prst="ellipse">
              <a:avLst/>
            </a:prstGeom>
            <a:solidFill>
              <a:srgbClr val="65B8A6"/>
            </a:solidFill>
            <a:ln w="12700">
              <a:solidFill>
                <a:srgbClr val="65B8A6"/>
              </a:solidFill>
              <a:prstDash val="solid"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6" name="Text 24"/>
            <p:cNvSpPr/>
            <p:nvPr/>
          </p:nvSpPr>
          <p:spPr>
            <a:xfrm>
              <a:off x="6400800" y="1636776"/>
              <a:ext cx="50292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Noto Sans TC" pitchFamily="34" charset="-120"/>
                </a:rPr>
                <a:t>✓</a:t>
              </a:r>
              <a:endParaRPr lang="en-US" sz="120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</p:txBody>
        </p:sp>
        <p:sp>
          <p:nvSpPr>
            <p:cNvPr id="27" name="Shape 25"/>
            <p:cNvSpPr/>
            <p:nvPr/>
          </p:nvSpPr>
          <p:spPr>
            <a:xfrm>
              <a:off x="7059168" y="1417320"/>
              <a:ext cx="4572000" cy="1152144"/>
            </a:xfrm>
            <a:prstGeom prst="roundRect">
              <a:avLst>
                <a:gd name="adj" fmla="val 7767"/>
              </a:avLst>
            </a:prstGeom>
            <a:solidFill>
              <a:srgbClr val="FFFF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9" name="Text 27"/>
            <p:cNvSpPr/>
            <p:nvPr/>
          </p:nvSpPr>
          <p:spPr>
            <a:xfrm>
              <a:off x="7315200" y="1645920"/>
              <a:ext cx="411480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163A35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Noto Sans TC" pitchFamily="34" charset="-120"/>
                </a:rPr>
                <a:t>允許路徑</a:t>
              </a:r>
              <a:endParaRPr lang="en-US" sz="160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</p:txBody>
        </p:sp>
        <p:sp>
          <p:nvSpPr>
            <p:cNvPr id="30" name="Text 28"/>
            <p:cNvSpPr/>
            <p:nvPr/>
          </p:nvSpPr>
          <p:spPr>
            <a:xfrm>
              <a:off x="7315200" y="2112264"/>
              <a:ext cx="4096512" cy="7315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Autofit/>
            </a:bodyPr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47645F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Noto Sans TC" pitchFamily="34" charset="-120"/>
                </a:rPr>
                <a:t>清楚限定單位或資料區的 URL path。</a:t>
              </a:r>
              <a:endParaRPr lang="en-US" sz="140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</p:txBody>
        </p:sp>
        <p:sp>
          <p:nvSpPr>
            <p:cNvPr id="31" name="Shape 29"/>
            <p:cNvSpPr/>
            <p:nvPr/>
          </p:nvSpPr>
          <p:spPr>
            <a:xfrm>
              <a:off x="777240" y="3429000"/>
              <a:ext cx="502920" cy="502920"/>
            </a:xfrm>
            <a:prstGeom prst="ellipse">
              <a:avLst/>
            </a:prstGeom>
            <a:solidFill>
              <a:srgbClr val="65B8A6"/>
            </a:solidFill>
            <a:ln w="12700">
              <a:solidFill>
                <a:srgbClr val="65B8A6"/>
              </a:solidFill>
              <a:prstDash val="solid"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2" name="Text 30"/>
            <p:cNvSpPr/>
            <p:nvPr/>
          </p:nvSpPr>
          <p:spPr>
            <a:xfrm>
              <a:off x="777240" y="3511296"/>
              <a:ext cx="50292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Noto Sans TC" pitchFamily="34" charset="-120"/>
                </a:rPr>
                <a:t>✓</a:t>
              </a:r>
              <a:endParaRPr lang="en-US" sz="120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</p:txBody>
        </p:sp>
        <p:sp>
          <p:nvSpPr>
            <p:cNvPr id="33" name="Shape 31"/>
            <p:cNvSpPr/>
            <p:nvPr/>
          </p:nvSpPr>
          <p:spPr>
            <a:xfrm>
              <a:off x="1435608" y="3291840"/>
              <a:ext cx="4572000" cy="1152144"/>
            </a:xfrm>
            <a:prstGeom prst="roundRect">
              <a:avLst>
                <a:gd name="adj" fmla="val 7767"/>
              </a:avLst>
            </a:prstGeom>
            <a:solidFill>
              <a:srgbClr val="FFFF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5" name="Text 33"/>
            <p:cNvSpPr/>
            <p:nvPr/>
          </p:nvSpPr>
          <p:spPr>
            <a:xfrm>
              <a:off x="1691640" y="3520440"/>
              <a:ext cx="411480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163A35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Noto Sans TC" pitchFamily="34" charset="-120"/>
                </a:rPr>
                <a:t>格式與數量</a:t>
              </a:r>
              <a:endParaRPr lang="en-US" sz="160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</p:txBody>
        </p:sp>
        <p:sp>
          <p:nvSpPr>
            <p:cNvPr id="36" name="Text 34"/>
            <p:cNvSpPr/>
            <p:nvPr/>
          </p:nvSpPr>
          <p:spPr>
            <a:xfrm>
              <a:off x="1691640" y="3986784"/>
              <a:ext cx="4096512" cy="7315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Autofit/>
            </a:bodyPr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47645F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Noto Sans TC" pitchFamily="34" charset="-120"/>
                </a:rPr>
                <a:t>只處理 HTML、PDF、DOCX；設定上限。</a:t>
              </a:r>
              <a:endParaRPr lang="en-US" sz="140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</p:txBody>
        </p:sp>
        <p:sp>
          <p:nvSpPr>
            <p:cNvPr id="37" name="Shape 35"/>
            <p:cNvSpPr/>
            <p:nvPr/>
          </p:nvSpPr>
          <p:spPr>
            <a:xfrm>
              <a:off x="6400800" y="3429000"/>
              <a:ext cx="502920" cy="502920"/>
            </a:xfrm>
            <a:prstGeom prst="ellipse">
              <a:avLst/>
            </a:prstGeom>
            <a:solidFill>
              <a:srgbClr val="65B8A6"/>
            </a:solidFill>
            <a:ln w="12700">
              <a:solidFill>
                <a:srgbClr val="65B8A6"/>
              </a:solidFill>
              <a:prstDash val="solid"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8" name="Text 36"/>
            <p:cNvSpPr/>
            <p:nvPr/>
          </p:nvSpPr>
          <p:spPr>
            <a:xfrm>
              <a:off x="6400800" y="3511296"/>
              <a:ext cx="50292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Noto Sans TC" pitchFamily="34" charset="-120"/>
                </a:rPr>
                <a:t>✓</a:t>
              </a:r>
              <a:endParaRPr lang="en-US" sz="120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</p:txBody>
        </p:sp>
        <p:sp>
          <p:nvSpPr>
            <p:cNvPr id="39" name="Shape 37"/>
            <p:cNvSpPr/>
            <p:nvPr/>
          </p:nvSpPr>
          <p:spPr>
            <a:xfrm>
              <a:off x="7059168" y="3291839"/>
              <a:ext cx="4572000" cy="1152141"/>
            </a:xfrm>
            <a:prstGeom prst="roundRect">
              <a:avLst>
                <a:gd name="adj" fmla="val 7767"/>
              </a:avLst>
            </a:prstGeom>
            <a:solidFill>
              <a:srgbClr val="FFFF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1" name="Text 39"/>
            <p:cNvSpPr/>
            <p:nvPr/>
          </p:nvSpPr>
          <p:spPr>
            <a:xfrm>
              <a:off x="7315200" y="3520440"/>
              <a:ext cx="411480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163A35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Noto Sans TC" pitchFamily="34" charset="-120"/>
                </a:rPr>
                <a:t>尚未爬取</a:t>
              </a:r>
              <a:endParaRPr lang="en-US" sz="160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</p:txBody>
        </p:sp>
        <p:sp>
          <p:nvSpPr>
            <p:cNvPr id="42" name="Text 40"/>
            <p:cNvSpPr/>
            <p:nvPr/>
          </p:nvSpPr>
          <p:spPr>
            <a:xfrm>
              <a:off x="7315200" y="3986784"/>
              <a:ext cx="4096512" cy="7315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Autofit/>
            </a:bodyPr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47645F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Noto Sans TC" pitchFamily="34" charset="-120"/>
                </a:rPr>
                <a:t>scope 確認前，data/raw 應保持空白。</a:t>
              </a:r>
              <a:endParaRPr lang="en-US" sz="140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</p:txBody>
        </p:sp>
      </p:grpSp>
      <p:sp>
        <p:nvSpPr>
          <p:cNvPr id="43" name="Text 41"/>
          <p:cNvSpPr/>
          <p:nvPr/>
        </p:nvSpPr>
        <p:spPr>
          <a:xfrm>
            <a:off x="1051560" y="5600700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63A35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通過後才進入 Step 01：限定範圍爬取。</a:t>
            </a:r>
            <a:endParaRPr lang="en-US" sz="19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45" name="文字方塊 44">
            <a:extLst>
              <a:ext uri="{FF2B5EF4-FFF2-40B4-BE49-F238E27FC236}">
                <a16:creationId xmlns:a16="http://schemas.microsoft.com/office/drawing/2014/main" id="{CCAF4117-E855-7ACE-1BE3-C7560C3F1D19}"/>
              </a:ext>
            </a:extLst>
          </p:cNvPr>
          <p:cNvSpPr txBox="1"/>
          <p:nvPr/>
        </p:nvSpPr>
        <p:spPr>
          <a:xfrm>
            <a:off x="502920" y="6473952"/>
            <a:ext cx="609790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spcAft>
                <a:spcPts val="1200"/>
              </a:spcAft>
              <a:buNone/>
            </a:pPr>
            <a:r>
              <a:rPr lang="en-US" altLang="zh-TW" sz="1050" i="0" dirty="0"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Day3 | </a:t>
            </a:r>
            <a:r>
              <a:rPr lang="zh-TW" altLang="zh-TW" sz="1050" i="0" dirty="0"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生成式人工智慧於文本資料分析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66928" y="667512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163A35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Step 01｜限定範圍爬取，保留原始資料</a:t>
            </a:r>
            <a:endParaRPr lang="en-US" sz="32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8255">
            <a:solidFill>
              <a:srgbClr val="BCD3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064240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667A7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09</a:t>
            </a:r>
            <a:endParaRPr lang="en-US" sz="10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grpSp>
        <p:nvGrpSpPr>
          <p:cNvPr id="40" name="群組 39">
            <a:extLst>
              <a:ext uri="{FF2B5EF4-FFF2-40B4-BE49-F238E27FC236}">
                <a16:creationId xmlns:a16="http://schemas.microsoft.com/office/drawing/2014/main" id="{1E6B6366-F0AD-441A-8E2C-9F7921B96246}"/>
              </a:ext>
            </a:extLst>
          </p:cNvPr>
          <p:cNvGrpSpPr/>
          <p:nvPr/>
        </p:nvGrpSpPr>
        <p:grpSpPr>
          <a:xfrm>
            <a:off x="783046" y="1888587"/>
            <a:ext cx="10266244" cy="2092560"/>
            <a:chOff x="1663701" y="1874519"/>
            <a:chExt cx="8126585" cy="1656435"/>
          </a:xfrm>
        </p:grpSpPr>
        <p:sp>
          <p:nvSpPr>
            <p:cNvPr id="19" name="Shape 17"/>
            <p:cNvSpPr/>
            <p:nvPr/>
          </p:nvSpPr>
          <p:spPr>
            <a:xfrm>
              <a:off x="2012424" y="1874519"/>
              <a:ext cx="784627" cy="784627"/>
            </a:xfrm>
            <a:prstGeom prst="ellipse">
              <a:avLst/>
            </a:prstGeom>
            <a:solidFill>
              <a:srgbClr val="65B8A6"/>
            </a:solidFill>
            <a:ln w="12700">
              <a:solidFill>
                <a:srgbClr val="65B8A6"/>
              </a:solidFill>
              <a:prstDash val="solid"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0" name="Text 18"/>
            <p:cNvSpPr/>
            <p:nvPr/>
          </p:nvSpPr>
          <p:spPr>
            <a:xfrm>
              <a:off x="2012424" y="2070676"/>
              <a:ext cx="784627" cy="23974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Noto Sans TC" pitchFamily="34" charset="-120"/>
                </a:rPr>
                <a:t>1</a:t>
              </a:r>
              <a:endParaRPr lang="en-US" sz="120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</p:txBody>
        </p:sp>
        <p:sp>
          <p:nvSpPr>
            <p:cNvPr id="21" name="Text 19"/>
            <p:cNvSpPr/>
            <p:nvPr/>
          </p:nvSpPr>
          <p:spPr>
            <a:xfrm>
              <a:off x="1794472" y="2833508"/>
              <a:ext cx="1220531" cy="2724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163A35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Noto Sans TC" pitchFamily="34" charset="-120"/>
                </a:rPr>
                <a:t>提示詞 01｜讀 scope</a:t>
              </a:r>
              <a:endParaRPr lang="en-US" sz="160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</p:txBody>
        </p:sp>
        <p:sp>
          <p:nvSpPr>
            <p:cNvPr id="22" name="Text 20"/>
            <p:cNvSpPr/>
            <p:nvPr/>
          </p:nvSpPr>
          <p:spPr>
            <a:xfrm>
              <a:off x="1663701" y="3138640"/>
              <a:ext cx="1503869" cy="39231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Autofit/>
            </a:bodyPr>
            <a:lstStyle/>
            <a:p>
              <a:pPr marL="0" indent="0" algn="ctr">
                <a:buNone/>
              </a:pPr>
              <a:r>
                <a:rPr lang="en-US" sz="1200" dirty="0">
                  <a:solidFill>
                    <a:srgbClr val="667A76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Noto Sans TC" pitchFamily="34" charset="-120"/>
                </a:rPr>
                <a:t>allowed_hosts</a:t>
              </a:r>
              <a:endParaRPr lang="en-US" sz="120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  <a:p>
              <a:pPr marL="0" indent="0" algn="ctr">
                <a:buNone/>
              </a:pPr>
              <a:r>
                <a:rPr lang="en-US" sz="1200" dirty="0">
                  <a:solidFill>
                    <a:srgbClr val="667A76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Noto Sans TC" pitchFamily="34" charset="-120"/>
                </a:rPr>
                <a:t>allowed_path_prefix</a:t>
              </a:r>
              <a:endParaRPr lang="en-US" sz="120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</p:txBody>
        </p:sp>
        <p:sp>
          <p:nvSpPr>
            <p:cNvPr id="23" name="Shape 21"/>
            <p:cNvSpPr/>
            <p:nvPr/>
          </p:nvSpPr>
          <p:spPr>
            <a:xfrm>
              <a:off x="4202842" y="1874519"/>
              <a:ext cx="784627" cy="784627"/>
            </a:xfrm>
            <a:prstGeom prst="ellipse">
              <a:avLst/>
            </a:prstGeom>
            <a:solidFill>
              <a:srgbClr val="F4C95D"/>
            </a:solidFill>
            <a:ln w="12700">
              <a:solidFill>
                <a:srgbClr val="F4C95D"/>
              </a:solidFill>
              <a:prstDash val="solid"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4" name="Text 22"/>
            <p:cNvSpPr/>
            <p:nvPr/>
          </p:nvSpPr>
          <p:spPr>
            <a:xfrm>
              <a:off x="4202842" y="2070676"/>
              <a:ext cx="784627" cy="23974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Noto Sans TC" pitchFamily="34" charset="-120"/>
                </a:rPr>
                <a:t>2</a:t>
              </a:r>
              <a:endParaRPr lang="en-US" sz="120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</p:txBody>
        </p:sp>
        <p:sp>
          <p:nvSpPr>
            <p:cNvPr id="25" name="Text 23"/>
            <p:cNvSpPr/>
            <p:nvPr/>
          </p:nvSpPr>
          <p:spPr>
            <a:xfrm>
              <a:off x="3984890" y="2833508"/>
              <a:ext cx="1220531" cy="2724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163A35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Noto Sans TC" pitchFamily="34" charset="-120"/>
                </a:rPr>
                <a:t>判格式</a:t>
              </a:r>
              <a:endParaRPr lang="en-US" sz="160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</p:txBody>
        </p:sp>
        <p:sp>
          <p:nvSpPr>
            <p:cNvPr id="26" name="Text 24"/>
            <p:cNvSpPr/>
            <p:nvPr/>
          </p:nvSpPr>
          <p:spPr>
            <a:xfrm>
              <a:off x="3854118" y="3138640"/>
              <a:ext cx="1503869" cy="39231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Autofit/>
            </a:bodyPr>
            <a:lstStyle/>
            <a:p>
              <a:pPr marL="0" indent="0" algn="ctr">
                <a:buNone/>
              </a:pPr>
              <a:r>
                <a:rPr lang="en-US" sz="1200" dirty="0">
                  <a:solidFill>
                    <a:srgbClr val="667A76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Noto Sans TC" pitchFamily="34" charset="-120"/>
                </a:rPr>
                <a:t>Content-Type</a:t>
              </a:r>
              <a:endParaRPr lang="en-US" sz="120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  <a:p>
              <a:pPr marL="0" indent="0" algn="ctr">
                <a:buNone/>
              </a:pPr>
              <a:r>
                <a:rPr lang="en-US" sz="1200" dirty="0">
                  <a:solidFill>
                    <a:srgbClr val="667A76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Noto Sans TC" pitchFamily="34" charset="-120"/>
                </a:rPr>
                <a:t>Content-Disposition</a:t>
              </a:r>
              <a:endParaRPr lang="en-US" sz="120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  <a:p>
              <a:pPr marL="0" indent="0" algn="ctr">
                <a:buNone/>
              </a:pPr>
              <a:r>
                <a:rPr lang="en-US" sz="1200" dirty="0">
                  <a:solidFill>
                    <a:srgbClr val="667A76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Noto Sans TC" pitchFamily="34" charset="-120"/>
                </a:rPr>
                <a:t>連結文字</a:t>
              </a:r>
              <a:endParaRPr lang="en-US" sz="120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</p:txBody>
        </p:sp>
        <p:sp>
          <p:nvSpPr>
            <p:cNvPr id="27" name="Shape 25"/>
            <p:cNvSpPr/>
            <p:nvPr/>
          </p:nvSpPr>
          <p:spPr>
            <a:xfrm>
              <a:off x="6444723" y="1874519"/>
              <a:ext cx="784627" cy="784627"/>
            </a:xfrm>
            <a:prstGeom prst="ellipse">
              <a:avLst/>
            </a:prstGeom>
            <a:solidFill>
              <a:srgbClr val="E37B62"/>
            </a:solidFill>
            <a:ln w="12700">
              <a:solidFill>
                <a:srgbClr val="E37B62"/>
              </a:solidFill>
              <a:prstDash val="solid"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8" name="Text 26"/>
            <p:cNvSpPr/>
            <p:nvPr/>
          </p:nvSpPr>
          <p:spPr>
            <a:xfrm>
              <a:off x="6444723" y="2070676"/>
              <a:ext cx="784627" cy="23974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Noto Sans TC" pitchFamily="34" charset="-120"/>
                </a:rPr>
                <a:t>3</a:t>
              </a:r>
              <a:endParaRPr lang="en-US" sz="120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</p:txBody>
        </p:sp>
        <p:sp>
          <p:nvSpPr>
            <p:cNvPr id="29" name="Text 27"/>
            <p:cNvSpPr/>
            <p:nvPr/>
          </p:nvSpPr>
          <p:spPr>
            <a:xfrm>
              <a:off x="6226771" y="2833508"/>
              <a:ext cx="1220531" cy="2724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163A35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Noto Sans TC" pitchFamily="34" charset="-120"/>
                </a:rPr>
                <a:t>保存原始檔</a:t>
              </a:r>
              <a:endParaRPr lang="en-US" sz="160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</p:txBody>
        </p:sp>
        <p:sp>
          <p:nvSpPr>
            <p:cNvPr id="30" name="Text 28"/>
            <p:cNvSpPr/>
            <p:nvPr/>
          </p:nvSpPr>
          <p:spPr>
            <a:xfrm>
              <a:off x="6096000" y="3138640"/>
              <a:ext cx="1503869" cy="39231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Autofit/>
            </a:bodyPr>
            <a:lstStyle/>
            <a:p>
              <a:pPr marL="0" indent="0" algn="ctr">
                <a:buNone/>
              </a:pPr>
              <a:r>
                <a:rPr lang="en-US" sz="1200" dirty="0">
                  <a:solidFill>
                    <a:srgbClr val="667A76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Noto Sans TC" pitchFamily="34" charset="-120"/>
                </a:rPr>
                <a:t>data/raw/&lt;document_id&gt;/</a:t>
              </a:r>
              <a:endParaRPr lang="en-US" sz="120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  <a:p>
              <a:pPr marL="0" indent="0" algn="ctr">
                <a:buNone/>
              </a:pPr>
              <a:r>
                <a:rPr lang="en-US" sz="1200" dirty="0">
                  <a:solidFill>
                    <a:srgbClr val="667A76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Noto Sans TC" pitchFamily="34" charset="-120"/>
                </a:rPr>
                <a:t>&lt;原始檔名&gt;</a:t>
              </a:r>
              <a:endParaRPr lang="en-US" sz="120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</p:txBody>
        </p:sp>
        <p:sp>
          <p:nvSpPr>
            <p:cNvPr id="31" name="Shape 29"/>
            <p:cNvSpPr/>
            <p:nvPr/>
          </p:nvSpPr>
          <p:spPr>
            <a:xfrm>
              <a:off x="8635141" y="1874519"/>
              <a:ext cx="784627" cy="784627"/>
            </a:xfrm>
            <a:prstGeom prst="ellipse">
              <a:avLst/>
            </a:prstGeom>
            <a:solidFill>
              <a:srgbClr val="163A35"/>
            </a:solidFill>
            <a:ln w="12700">
              <a:solidFill>
                <a:srgbClr val="163A35"/>
              </a:solidFill>
              <a:prstDash val="solid"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2" name="Text 30"/>
            <p:cNvSpPr/>
            <p:nvPr/>
          </p:nvSpPr>
          <p:spPr>
            <a:xfrm>
              <a:off x="8635141" y="2070676"/>
              <a:ext cx="784627" cy="23974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Noto Sans TC" pitchFamily="34" charset="-120"/>
                </a:rPr>
                <a:t>4</a:t>
              </a:r>
              <a:endParaRPr lang="en-US" sz="120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</p:txBody>
        </p:sp>
        <p:sp>
          <p:nvSpPr>
            <p:cNvPr id="33" name="Text 31"/>
            <p:cNvSpPr/>
            <p:nvPr/>
          </p:nvSpPr>
          <p:spPr>
            <a:xfrm>
              <a:off x="8417189" y="2833508"/>
              <a:ext cx="1220531" cy="2724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163A35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Noto Sans TC" pitchFamily="34" charset="-120"/>
                </a:rPr>
                <a:t>寫 manifest</a:t>
              </a:r>
              <a:endParaRPr lang="en-US" sz="160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</p:txBody>
        </p:sp>
        <p:sp>
          <p:nvSpPr>
            <p:cNvPr id="34" name="Text 32"/>
            <p:cNvSpPr/>
            <p:nvPr/>
          </p:nvSpPr>
          <p:spPr>
            <a:xfrm>
              <a:off x="8286417" y="3138640"/>
              <a:ext cx="1503869" cy="39231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Autofit/>
            </a:bodyPr>
            <a:lstStyle/>
            <a:p>
              <a:pPr marL="0" indent="0" algn="ctr">
                <a:buNone/>
              </a:pPr>
              <a:r>
                <a:rPr lang="en-US" sz="1200" dirty="0">
                  <a:solidFill>
                    <a:srgbClr val="667A76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Noto Sans TC" pitchFamily="34" charset="-120"/>
                </a:rPr>
                <a:t>URL · 時間 · 狀態</a:t>
              </a:r>
              <a:endParaRPr lang="en-US" sz="120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  <a:p>
              <a:pPr marL="0" indent="0" algn="ctr">
                <a:buNone/>
              </a:pPr>
              <a:r>
                <a:rPr lang="en-US" sz="1200" dirty="0">
                  <a:solidFill>
                    <a:srgbClr val="667A76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Noto Sans TC" pitchFamily="34" charset="-120"/>
                </a:rPr>
                <a:t>raw_path</a:t>
              </a:r>
              <a:endParaRPr lang="en-US" sz="120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</p:txBody>
        </p:sp>
      </p:grp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6A3AFDD2-536A-A4AF-F1A5-9041882BA599}"/>
              </a:ext>
            </a:extLst>
          </p:cNvPr>
          <p:cNvSpPr txBox="1"/>
          <p:nvPr/>
        </p:nvSpPr>
        <p:spPr>
          <a:xfrm>
            <a:off x="502920" y="6473952"/>
            <a:ext cx="609790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spcAft>
                <a:spcPts val="1200"/>
              </a:spcAft>
              <a:buNone/>
            </a:pPr>
            <a:r>
              <a:rPr lang="en-US" altLang="zh-TW" sz="1050" i="0" dirty="0"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Day3 | </a:t>
            </a:r>
            <a:r>
              <a:rPr lang="zh-TW" altLang="zh-TW" sz="1050" i="0" dirty="0"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生成式人工智慧於文本資料分析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66928" y="667512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163A35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manifest：每一份資料都有一張「護照」</a:t>
            </a:r>
            <a:endParaRPr lang="en-US" sz="32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8255">
            <a:solidFill>
              <a:srgbClr val="BCD3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064240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667A7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10</a:t>
            </a:r>
            <a:endParaRPr lang="en-US" sz="10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grpSp>
        <p:nvGrpSpPr>
          <p:cNvPr id="40" name="群組 39">
            <a:extLst>
              <a:ext uri="{FF2B5EF4-FFF2-40B4-BE49-F238E27FC236}">
                <a16:creationId xmlns:a16="http://schemas.microsoft.com/office/drawing/2014/main" id="{E0AC1328-3109-B74C-11E4-933839DD0735}"/>
              </a:ext>
            </a:extLst>
          </p:cNvPr>
          <p:cNvGrpSpPr/>
          <p:nvPr/>
        </p:nvGrpSpPr>
        <p:grpSpPr>
          <a:xfrm>
            <a:off x="998220" y="1783080"/>
            <a:ext cx="10195560" cy="3977640"/>
            <a:chOff x="998220" y="1783080"/>
            <a:chExt cx="10195560" cy="3977640"/>
          </a:xfrm>
        </p:grpSpPr>
        <p:sp>
          <p:nvSpPr>
            <p:cNvPr id="19" name="Shape 17"/>
            <p:cNvSpPr/>
            <p:nvPr/>
          </p:nvSpPr>
          <p:spPr>
            <a:xfrm>
              <a:off x="998220" y="1783080"/>
              <a:ext cx="10195560" cy="3977640"/>
            </a:xfrm>
            <a:prstGeom prst="roundRect">
              <a:avLst>
                <a:gd name="adj" fmla="val 1839"/>
              </a:avLst>
            </a:prstGeom>
            <a:solidFill>
              <a:srgbClr val="FFFF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0" name="Text 18"/>
            <p:cNvSpPr/>
            <p:nvPr/>
          </p:nvSpPr>
          <p:spPr>
            <a:xfrm>
              <a:off x="1363980" y="2176272"/>
              <a:ext cx="32004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fontScale="92500" lnSpcReduction="20000"/>
            </a:bodyPr>
            <a:lstStyle/>
            <a:p>
              <a:pPr marL="0" indent="0">
                <a:buNone/>
              </a:pPr>
              <a:r>
                <a:rPr lang="en-US" sz="2400" dirty="0">
                  <a:solidFill>
                    <a:srgbClr val="65B8A6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Consolas" pitchFamily="34" charset="-120"/>
                </a:rPr>
                <a:t>{</a:t>
              </a:r>
              <a:endParaRPr 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</p:txBody>
        </p:sp>
        <p:sp>
          <p:nvSpPr>
            <p:cNvPr id="21" name="Text 19"/>
            <p:cNvSpPr/>
            <p:nvPr/>
          </p:nvSpPr>
          <p:spPr>
            <a:xfrm>
              <a:off x="1729740" y="2331720"/>
              <a:ext cx="2057400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lnSpcReduction="10000"/>
            </a:bodyPr>
            <a:lstStyle/>
            <a:p>
              <a:pPr marL="0" indent="0">
                <a:buNone/>
              </a:pPr>
              <a:r>
                <a:rPr lang="en-US" sz="1500" b="1" dirty="0">
                  <a:solidFill>
                    <a:srgbClr val="163A35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Consolas" pitchFamily="34" charset="-120"/>
                </a:rPr>
                <a:t>"document_id"</a:t>
              </a:r>
              <a:endParaRPr lang="en-US" sz="150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</p:txBody>
        </p:sp>
        <p:sp>
          <p:nvSpPr>
            <p:cNvPr id="22" name="Text 20"/>
            <p:cNvSpPr/>
            <p:nvPr/>
          </p:nvSpPr>
          <p:spPr>
            <a:xfrm>
              <a:off x="3741420" y="2331720"/>
              <a:ext cx="6309360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47645F"/>
                  </a:solidFill>
                  <a:latin typeface="Microsoft JhengHei"/>
                  <a:ea typeface="Microsoft JhengHei"/>
                  <a:cs typeface="Consolas"/>
                </a:rPr>
                <a:t>: "tve-003",</a:t>
              </a:r>
              <a:endParaRPr lang="en-US" sz="1400"/>
            </a:p>
          </p:txBody>
        </p:sp>
        <p:sp>
          <p:nvSpPr>
            <p:cNvPr id="23" name="Text 21"/>
            <p:cNvSpPr/>
            <p:nvPr/>
          </p:nvSpPr>
          <p:spPr>
            <a:xfrm>
              <a:off x="1729740" y="2807208"/>
              <a:ext cx="2057400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lnSpcReduction="10000"/>
            </a:bodyPr>
            <a:lstStyle/>
            <a:p>
              <a:pPr marL="0" indent="0">
                <a:buNone/>
              </a:pPr>
              <a:r>
                <a:rPr lang="en-US" sz="1500" b="1" dirty="0">
                  <a:solidFill>
                    <a:srgbClr val="163A35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Consolas" pitchFamily="34" charset="-120"/>
                </a:rPr>
                <a:t>"source_url"</a:t>
              </a:r>
              <a:endParaRPr lang="en-US" sz="150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</p:txBody>
        </p:sp>
        <p:sp>
          <p:nvSpPr>
            <p:cNvPr id="24" name="Text 22"/>
            <p:cNvSpPr/>
            <p:nvPr/>
          </p:nvSpPr>
          <p:spPr>
            <a:xfrm>
              <a:off x="3741420" y="2807208"/>
              <a:ext cx="6309360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47645F"/>
                  </a:solidFill>
                  <a:latin typeface="Microsoft JhengHei"/>
                  <a:ea typeface="Microsoft JhengHei"/>
                  <a:cs typeface="Consolas"/>
                </a:rPr>
                <a:t>: "https://tve.yuntech.edu.tw/...",</a:t>
              </a:r>
              <a:endParaRPr lang="en-US" sz="1400"/>
            </a:p>
          </p:txBody>
        </p:sp>
        <p:sp>
          <p:nvSpPr>
            <p:cNvPr id="25" name="Text 23"/>
            <p:cNvSpPr/>
            <p:nvPr/>
          </p:nvSpPr>
          <p:spPr>
            <a:xfrm>
              <a:off x="1729740" y="3282696"/>
              <a:ext cx="2057400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lnSpcReduction="10000"/>
            </a:bodyPr>
            <a:lstStyle/>
            <a:p>
              <a:pPr marL="0" indent="0">
                <a:buNone/>
              </a:pPr>
              <a:r>
                <a:rPr lang="en-US" sz="1500" b="1" dirty="0">
                  <a:solidFill>
                    <a:srgbClr val="163A35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Consolas" pitchFamily="34" charset="-120"/>
                </a:rPr>
                <a:t>"original_filename"</a:t>
              </a:r>
              <a:endParaRPr lang="en-US" sz="150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</p:txBody>
        </p:sp>
        <p:sp>
          <p:nvSpPr>
            <p:cNvPr id="26" name="Text 24"/>
            <p:cNvSpPr/>
            <p:nvPr/>
          </p:nvSpPr>
          <p:spPr>
            <a:xfrm>
              <a:off x="3741420" y="3282696"/>
              <a:ext cx="6309360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47645F"/>
                  </a:solidFill>
                  <a:latin typeface="Microsoft JhengHei"/>
                  <a:ea typeface="Microsoft JhengHei"/>
                  <a:cs typeface="Consolas"/>
                </a:rPr>
                <a:t>: "1-1博士生修課計畫.docx",</a:t>
              </a:r>
              <a:endParaRPr lang="en-US" sz="1400"/>
            </a:p>
          </p:txBody>
        </p:sp>
        <p:sp>
          <p:nvSpPr>
            <p:cNvPr id="27" name="Text 25"/>
            <p:cNvSpPr/>
            <p:nvPr/>
          </p:nvSpPr>
          <p:spPr>
            <a:xfrm>
              <a:off x="1729740" y="3758184"/>
              <a:ext cx="2057400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lnSpcReduction="10000"/>
            </a:bodyPr>
            <a:lstStyle/>
            <a:p>
              <a:pPr marL="0" indent="0">
                <a:buNone/>
              </a:pPr>
              <a:r>
                <a:rPr lang="en-US" sz="1500" b="1" dirty="0">
                  <a:solidFill>
                    <a:srgbClr val="163A35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Consolas" pitchFamily="34" charset="-120"/>
                </a:rPr>
                <a:t>"crawled_at"</a:t>
              </a:r>
              <a:endParaRPr lang="en-US" sz="150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</p:txBody>
        </p:sp>
        <p:sp>
          <p:nvSpPr>
            <p:cNvPr id="28" name="Text 26"/>
            <p:cNvSpPr/>
            <p:nvPr/>
          </p:nvSpPr>
          <p:spPr>
            <a:xfrm>
              <a:off x="3741420" y="3758184"/>
              <a:ext cx="6309360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47645F"/>
                  </a:solidFill>
                  <a:latin typeface="Microsoft JhengHei"/>
                  <a:ea typeface="Microsoft JhengHei"/>
                  <a:cs typeface="Consolas"/>
                </a:rPr>
                <a:t>: "2026-07-22T10:12:00+08:00",</a:t>
              </a:r>
              <a:endParaRPr lang="en-US" sz="1400"/>
            </a:p>
          </p:txBody>
        </p:sp>
        <p:sp>
          <p:nvSpPr>
            <p:cNvPr id="29" name="Text 27"/>
            <p:cNvSpPr/>
            <p:nvPr/>
          </p:nvSpPr>
          <p:spPr>
            <a:xfrm>
              <a:off x="1729740" y="4233672"/>
              <a:ext cx="2057400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lnSpcReduction="10000"/>
            </a:bodyPr>
            <a:lstStyle/>
            <a:p>
              <a:pPr marL="0" indent="0">
                <a:buNone/>
              </a:pPr>
              <a:r>
                <a:rPr lang="en-US" sz="1500" b="1" dirty="0">
                  <a:solidFill>
                    <a:srgbClr val="163A35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Consolas" pitchFamily="34" charset="-120"/>
                </a:rPr>
                <a:t>"raw_path"</a:t>
              </a:r>
              <a:endParaRPr lang="en-US" sz="150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</p:txBody>
        </p:sp>
        <p:sp>
          <p:nvSpPr>
            <p:cNvPr id="30" name="Text 28"/>
            <p:cNvSpPr/>
            <p:nvPr/>
          </p:nvSpPr>
          <p:spPr>
            <a:xfrm>
              <a:off x="3741420" y="4233672"/>
              <a:ext cx="6309360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47645F"/>
                  </a:solidFill>
                  <a:latin typeface="Microsoft JhengHei"/>
                  <a:ea typeface="Microsoft JhengHei"/>
                  <a:cs typeface="Consolas"/>
                </a:rPr>
                <a:t>: "data/raw/tve-003/1-1博士生修課計畫.docx",</a:t>
              </a:r>
              <a:endParaRPr lang="en-US" sz="1400"/>
            </a:p>
          </p:txBody>
        </p:sp>
        <p:sp>
          <p:nvSpPr>
            <p:cNvPr id="31" name="Text 29"/>
            <p:cNvSpPr/>
            <p:nvPr/>
          </p:nvSpPr>
          <p:spPr>
            <a:xfrm>
              <a:off x="1729740" y="4709160"/>
              <a:ext cx="2057400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lnSpcReduction="10000"/>
            </a:bodyPr>
            <a:lstStyle/>
            <a:p>
              <a:pPr marL="0" indent="0">
                <a:buNone/>
              </a:pPr>
              <a:r>
                <a:rPr lang="en-US" sz="1500" b="1" dirty="0">
                  <a:solidFill>
                    <a:srgbClr val="163A35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Consolas" pitchFamily="34" charset="-120"/>
                </a:rPr>
                <a:t>"crawl_status"</a:t>
              </a:r>
              <a:endParaRPr lang="en-US" sz="150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</p:txBody>
        </p:sp>
        <p:sp>
          <p:nvSpPr>
            <p:cNvPr id="32" name="Text 30"/>
            <p:cNvSpPr/>
            <p:nvPr/>
          </p:nvSpPr>
          <p:spPr>
            <a:xfrm>
              <a:off x="3741420" y="4709160"/>
              <a:ext cx="6309360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47645F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Consolas" pitchFamily="34" charset="-120"/>
                </a:rPr>
                <a:t>: "success"</a:t>
              </a:r>
              <a:endParaRPr lang="en-US" sz="140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</p:txBody>
        </p:sp>
        <p:sp>
          <p:nvSpPr>
            <p:cNvPr id="33" name="Text 31"/>
            <p:cNvSpPr/>
            <p:nvPr/>
          </p:nvSpPr>
          <p:spPr>
            <a:xfrm>
              <a:off x="1363980" y="5212080"/>
              <a:ext cx="32004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fontScale="92500" lnSpcReduction="20000"/>
            </a:bodyPr>
            <a:lstStyle/>
            <a:p>
              <a:pPr marL="0" indent="0">
                <a:buNone/>
              </a:pPr>
              <a:r>
                <a:rPr lang="en-US" sz="2400" dirty="0">
                  <a:solidFill>
                    <a:srgbClr val="65B8A6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Consolas" pitchFamily="34" charset="-120"/>
                </a:rPr>
                <a:t>}</a:t>
              </a:r>
              <a:endParaRPr 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</p:txBody>
        </p:sp>
      </p:grpSp>
      <p:sp>
        <p:nvSpPr>
          <p:cNvPr id="38" name="文字方塊 37">
            <a:extLst>
              <a:ext uri="{FF2B5EF4-FFF2-40B4-BE49-F238E27FC236}">
                <a16:creationId xmlns:a16="http://schemas.microsoft.com/office/drawing/2014/main" id="{A916FD03-5D17-AC1D-35E5-DDE9D47ACC41}"/>
              </a:ext>
            </a:extLst>
          </p:cNvPr>
          <p:cNvSpPr txBox="1"/>
          <p:nvPr/>
        </p:nvSpPr>
        <p:spPr>
          <a:xfrm>
            <a:off x="502920" y="6473952"/>
            <a:ext cx="609790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spcAft>
                <a:spcPts val="1200"/>
              </a:spcAft>
              <a:buNone/>
            </a:pPr>
            <a:r>
              <a:rPr lang="en-US" altLang="zh-TW" sz="1050" i="0" dirty="0"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Day3 | </a:t>
            </a:r>
            <a:r>
              <a:rPr lang="zh-TW" altLang="zh-TW" sz="1050" i="0" dirty="0"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生成式人工智慧於文本資料分析</a:t>
            </a:r>
          </a:p>
        </p:txBody>
      </p:sp>
    </p:spTree>
    <p:extLst>
      <p:ext uri="{BB962C8B-B14F-4D97-AF65-F5344CB8AC3E}">
        <p14:creationId xmlns:p14="http://schemas.microsoft.com/office/powerpoint/2010/main" val="22121337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66928" y="667512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163A35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Step 02｜用 MarkItDown MCP 解析已下載文件</a:t>
            </a:r>
            <a:endParaRPr lang="en-US" sz="32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8255">
            <a:solidFill>
              <a:srgbClr val="BCD3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064240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667A7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11</a:t>
            </a:r>
            <a:endParaRPr lang="en-US" sz="10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grpSp>
        <p:nvGrpSpPr>
          <p:cNvPr id="33" name="群組 32">
            <a:extLst>
              <a:ext uri="{FF2B5EF4-FFF2-40B4-BE49-F238E27FC236}">
                <a16:creationId xmlns:a16="http://schemas.microsoft.com/office/drawing/2014/main" id="{E9E77738-74EB-BF01-5665-046FD66AE307}"/>
              </a:ext>
            </a:extLst>
          </p:cNvPr>
          <p:cNvGrpSpPr/>
          <p:nvPr/>
        </p:nvGrpSpPr>
        <p:grpSpPr>
          <a:xfrm>
            <a:off x="737616" y="1764792"/>
            <a:ext cx="10707624" cy="3429000"/>
            <a:chOff x="742188" y="1760220"/>
            <a:chExt cx="10707624" cy="3429000"/>
          </a:xfrm>
        </p:grpSpPr>
        <p:sp>
          <p:nvSpPr>
            <p:cNvPr id="19" name="Shape 17"/>
            <p:cNvSpPr/>
            <p:nvPr/>
          </p:nvSpPr>
          <p:spPr>
            <a:xfrm>
              <a:off x="742188" y="1760220"/>
              <a:ext cx="3246120" cy="3429000"/>
            </a:xfrm>
            <a:prstGeom prst="roundRect">
              <a:avLst>
                <a:gd name="adj" fmla="val 2254"/>
              </a:avLst>
            </a:prstGeom>
            <a:solidFill>
              <a:srgbClr val="FFFF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0" name="Shape 18"/>
            <p:cNvSpPr/>
            <p:nvPr/>
          </p:nvSpPr>
          <p:spPr>
            <a:xfrm>
              <a:off x="742188" y="1760220"/>
              <a:ext cx="91440" cy="3429000"/>
            </a:xfrm>
            <a:prstGeom prst="rect">
              <a:avLst/>
            </a:prstGeom>
            <a:solidFill>
              <a:srgbClr val="E37B62"/>
            </a:solidFill>
            <a:ln w="12700">
              <a:solidFill>
                <a:srgbClr val="E37B62"/>
              </a:solidFill>
              <a:prstDash val="solid"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1" name="Text 19"/>
            <p:cNvSpPr/>
            <p:nvPr/>
          </p:nvSpPr>
          <p:spPr>
            <a:xfrm>
              <a:off x="998220" y="1988820"/>
              <a:ext cx="278892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>
                <a:buNone/>
              </a:pPr>
              <a:r>
                <a:rPr lang="en-US" sz="1800" b="1" dirty="0">
                  <a:solidFill>
                    <a:srgbClr val="163A35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Noto Sans TC" pitchFamily="34" charset="-120"/>
                </a:rPr>
                <a:t>提示詞 02｜輸入</a:t>
              </a:r>
              <a:endParaRPr lang="en-US" sz="180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</p:txBody>
        </p:sp>
        <p:sp>
          <p:nvSpPr>
            <p:cNvPr id="22" name="Text 20"/>
            <p:cNvSpPr/>
            <p:nvPr/>
          </p:nvSpPr>
          <p:spPr>
            <a:xfrm>
              <a:off x="998220" y="2455164"/>
              <a:ext cx="2770632" cy="2560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47645F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Noto Sans TC" pitchFamily="34" charset="-120"/>
                </a:rPr>
                <a:t>從 crawl_manifest.json 選 crawl_status: success 的 raw_path。</a:t>
              </a:r>
              <a:endParaRPr lang="en-US" sz="160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  <a:p>
              <a:pPr marL="0" indent="0">
                <a:buNone/>
              </a:pPr>
              <a:endParaRPr lang="en-US" sz="160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  <a:p>
              <a:pPr marL="0" indent="0">
                <a:buNone/>
              </a:pPr>
              <a:r>
                <a:rPr lang="en-US" sz="1600" dirty="0">
                  <a:solidFill>
                    <a:srgbClr val="47645F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Noto Sans TC" pitchFamily="34" charset="-120"/>
                </a:rPr>
                <a:t>使用本機 file: URI。</a:t>
              </a:r>
              <a:endParaRPr lang="en-US" sz="160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</p:txBody>
        </p:sp>
        <p:sp>
          <p:nvSpPr>
            <p:cNvPr id="23" name="Shape 21"/>
            <p:cNvSpPr/>
            <p:nvPr/>
          </p:nvSpPr>
          <p:spPr>
            <a:xfrm>
              <a:off x="4472940" y="1760220"/>
              <a:ext cx="3246120" cy="3429000"/>
            </a:xfrm>
            <a:prstGeom prst="roundRect">
              <a:avLst>
                <a:gd name="adj" fmla="val 2254"/>
              </a:avLst>
            </a:prstGeom>
            <a:solidFill>
              <a:srgbClr val="FFFF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4" name="Shape 22"/>
            <p:cNvSpPr/>
            <p:nvPr/>
          </p:nvSpPr>
          <p:spPr>
            <a:xfrm>
              <a:off x="4472940" y="1760220"/>
              <a:ext cx="91440" cy="3429000"/>
            </a:xfrm>
            <a:prstGeom prst="rect">
              <a:avLst/>
            </a:prstGeom>
            <a:solidFill>
              <a:srgbClr val="65B8A6"/>
            </a:solidFill>
            <a:ln w="12700">
              <a:solidFill>
                <a:srgbClr val="65B8A6"/>
              </a:solidFill>
              <a:prstDash val="solid"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5" name="Text 23"/>
            <p:cNvSpPr/>
            <p:nvPr/>
          </p:nvSpPr>
          <p:spPr>
            <a:xfrm>
              <a:off x="4728972" y="1988820"/>
              <a:ext cx="278892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>
                <a:buNone/>
              </a:pPr>
              <a:r>
                <a:rPr lang="en-US" sz="1800" b="1" dirty="0">
                  <a:solidFill>
                    <a:srgbClr val="163A35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Noto Sans TC" pitchFamily="34" charset="-120"/>
                </a:rPr>
                <a:t>轉換</a:t>
              </a:r>
              <a:endParaRPr lang="en-US" sz="180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</p:txBody>
        </p:sp>
        <p:sp>
          <p:nvSpPr>
            <p:cNvPr id="26" name="Text 24"/>
            <p:cNvSpPr/>
            <p:nvPr/>
          </p:nvSpPr>
          <p:spPr>
            <a:xfrm>
              <a:off x="4728972" y="2455164"/>
              <a:ext cx="2770632" cy="2560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47645F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Noto Sans TC" pitchFamily="34" charset="-120"/>
                </a:rPr>
                <a:t>透過 Codex 的 MarkItDown MCP，轉為 data/markdown/&lt;document_id&gt;.md。</a:t>
              </a:r>
              <a:endParaRPr lang="en-US" sz="160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  <a:p>
              <a:pPr marL="0" indent="0">
                <a:buNone/>
              </a:pPr>
              <a:endParaRPr lang="en-US" sz="160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  <a:p>
              <a:pPr marL="0" indent="0">
                <a:buNone/>
              </a:pPr>
              <a:r>
                <a:rPr lang="en-US" sz="1600" dirty="0">
                  <a:solidFill>
                    <a:srgbClr val="47645F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Noto Sans TC" pitchFamily="34" charset="-120"/>
                </a:rPr>
                <a:t>不修改 data/raw。</a:t>
              </a:r>
              <a:endParaRPr lang="en-US" sz="160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</p:txBody>
        </p:sp>
        <p:sp>
          <p:nvSpPr>
            <p:cNvPr id="27" name="Shape 25"/>
            <p:cNvSpPr/>
            <p:nvPr/>
          </p:nvSpPr>
          <p:spPr>
            <a:xfrm>
              <a:off x="8203692" y="1760220"/>
              <a:ext cx="3246120" cy="3429000"/>
            </a:xfrm>
            <a:prstGeom prst="roundRect">
              <a:avLst>
                <a:gd name="adj" fmla="val 2254"/>
              </a:avLst>
            </a:prstGeom>
            <a:solidFill>
              <a:srgbClr val="FFFF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8" name="Shape 26"/>
            <p:cNvSpPr/>
            <p:nvPr/>
          </p:nvSpPr>
          <p:spPr>
            <a:xfrm>
              <a:off x="8203692" y="1760220"/>
              <a:ext cx="91440" cy="3429000"/>
            </a:xfrm>
            <a:prstGeom prst="rect">
              <a:avLst/>
            </a:prstGeom>
            <a:solidFill>
              <a:srgbClr val="163A35"/>
            </a:solidFill>
            <a:ln w="12700">
              <a:solidFill>
                <a:srgbClr val="163A35"/>
              </a:solidFill>
              <a:prstDash val="solid"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9" name="Text 27"/>
            <p:cNvSpPr/>
            <p:nvPr/>
          </p:nvSpPr>
          <p:spPr>
            <a:xfrm>
              <a:off x="8459724" y="1988820"/>
              <a:ext cx="278892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>
                <a:buNone/>
              </a:pPr>
              <a:r>
                <a:rPr lang="en-US" sz="1800" b="1" dirty="0">
                  <a:solidFill>
                    <a:srgbClr val="163A35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Noto Sans TC" pitchFamily="34" charset="-120"/>
                </a:rPr>
                <a:t>保留 metadata</a:t>
              </a:r>
              <a:endParaRPr lang="en-US" sz="180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</p:txBody>
        </p:sp>
        <p:sp>
          <p:nvSpPr>
            <p:cNvPr id="30" name="Text 28"/>
            <p:cNvSpPr/>
            <p:nvPr/>
          </p:nvSpPr>
          <p:spPr>
            <a:xfrm>
              <a:off x="8459724" y="2455164"/>
              <a:ext cx="2770632" cy="2560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47645F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Noto Sans TC" pitchFamily="34" charset="-120"/>
                </a:rPr>
                <a:t>Markdown 檔頭：</a:t>
              </a:r>
              <a:endParaRPr lang="en-US" sz="160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  <a:p>
              <a:pPr marL="0" indent="0">
                <a:buNone/>
              </a:pPr>
              <a:r>
                <a:rPr lang="en-US" sz="1600" dirty="0">
                  <a:solidFill>
                    <a:srgbClr val="47645F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Noto Sans TC" pitchFamily="34" charset="-120"/>
                </a:rPr>
                <a:t>document_id</a:t>
              </a:r>
              <a:endParaRPr lang="en-US" sz="160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  <a:p>
              <a:pPr marL="0" indent="0">
                <a:buNone/>
              </a:pPr>
              <a:r>
                <a:rPr lang="en-US" sz="1600" dirty="0">
                  <a:solidFill>
                    <a:srgbClr val="47645F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Noto Sans TC" pitchFamily="34" charset="-120"/>
                </a:rPr>
                <a:t>source_url</a:t>
              </a:r>
              <a:endParaRPr lang="en-US" sz="160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  <a:p>
              <a:pPr marL="0" indent="0">
                <a:buNone/>
              </a:pPr>
              <a:r>
                <a:rPr lang="en-US" sz="1600" dirty="0">
                  <a:solidFill>
                    <a:srgbClr val="47645F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Noto Sans TC" pitchFamily="34" charset="-120"/>
                </a:rPr>
                <a:t>crawled_at</a:t>
              </a:r>
              <a:endParaRPr lang="en-US" sz="160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  <a:p>
              <a:pPr marL="0" indent="0">
                <a:buNone/>
              </a:pPr>
              <a:r>
                <a:rPr lang="en-US" sz="1600" dirty="0">
                  <a:solidFill>
                    <a:srgbClr val="47645F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Noto Sans TC" pitchFamily="34" charset="-120"/>
                </a:rPr>
                <a:t>raw_path</a:t>
              </a:r>
              <a:endParaRPr lang="en-US" sz="160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</p:txBody>
        </p:sp>
      </p:grpSp>
      <p:sp>
        <p:nvSpPr>
          <p:cNvPr id="31" name="Text 29"/>
          <p:cNvSpPr/>
          <p:nvPr/>
        </p:nvSpPr>
        <p:spPr>
          <a:xfrm>
            <a:off x="1107948" y="5692140"/>
            <a:ext cx="996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63A35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先爬取 → 再解析：MarkItDown 不是網站爬蟲。</a:t>
            </a:r>
            <a:endParaRPr lang="en-US" sz="20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CA2EDA2D-786E-D330-DC15-61130C39E756}"/>
              </a:ext>
            </a:extLst>
          </p:cNvPr>
          <p:cNvSpPr txBox="1"/>
          <p:nvPr/>
        </p:nvSpPr>
        <p:spPr>
          <a:xfrm>
            <a:off x="502920" y="6473952"/>
            <a:ext cx="609790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spcAft>
                <a:spcPts val="1200"/>
              </a:spcAft>
              <a:buNone/>
            </a:pPr>
            <a:r>
              <a:rPr lang="en-US" altLang="zh-TW" sz="1050" i="0" dirty="0"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Day3 | </a:t>
            </a:r>
            <a:r>
              <a:rPr lang="zh-TW" altLang="zh-TW" sz="1050" i="0" dirty="0"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生成式人工智慧於文本資料分析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66928" y="667512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163A35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品質檢查：不是所有轉出的文字都可以直接交給 AI</a:t>
            </a:r>
            <a:endParaRPr lang="en-US" sz="32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8255">
            <a:solidFill>
              <a:srgbClr val="BCD3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064240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667A7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12</a:t>
            </a:r>
            <a:endParaRPr lang="en-US" sz="10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grpSp>
        <p:nvGrpSpPr>
          <p:cNvPr id="36" name="群組 35">
            <a:extLst>
              <a:ext uri="{FF2B5EF4-FFF2-40B4-BE49-F238E27FC236}">
                <a16:creationId xmlns:a16="http://schemas.microsoft.com/office/drawing/2014/main" id="{FD8872D9-7D47-DF8A-B3D8-37EF44C74CDA}"/>
              </a:ext>
            </a:extLst>
          </p:cNvPr>
          <p:cNvGrpSpPr/>
          <p:nvPr/>
        </p:nvGrpSpPr>
        <p:grpSpPr>
          <a:xfrm>
            <a:off x="669036" y="2029968"/>
            <a:ext cx="10853928" cy="3200400"/>
            <a:chOff x="758952" y="2007108"/>
            <a:chExt cx="10853928" cy="3200400"/>
          </a:xfrm>
        </p:grpSpPr>
        <p:sp>
          <p:nvSpPr>
            <p:cNvPr id="19" name="Shape 17"/>
            <p:cNvSpPr/>
            <p:nvPr/>
          </p:nvSpPr>
          <p:spPr>
            <a:xfrm>
              <a:off x="758952" y="2007108"/>
              <a:ext cx="3246120" cy="3200400"/>
            </a:xfrm>
            <a:prstGeom prst="roundRect">
              <a:avLst>
                <a:gd name="adj" fmla="val 2286"/>
              </a:avLst>
            </a:prstGeom>
            <a:solidFill>
              <a:srgbClr val="65B8A6"/>
            </a:solidFill>
            <a:ln w="12700">
              <a:solidFill>
                <a:srgbClr val="65B8A6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0" name="Text 18"/>
            <p:cNvSpPr/>
            <p:nvPr/>
          </p:nvSpPr>
          <p:spPr>
            <a:xfrm>
              <a:off x="987552" y="2519172"/>
              <a:ext cx="2788920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900" b="1" dirty="0">
                  <a:solidFill>
                    <a:srgbClr val="FFFFFF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Noto Sans TC" pitchFamily="34" charset="-120"/>
                </a:rPr>
                <a:t>ready_for_analysis</a:t>
              </a:r>
              <a:endParaRPr lang="en-US" sz="190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</p:txBody>
        </p:sp>
        <p:sp>
          <p:nvSpPr>
            <p:cNvPr id="21" name="Text 19"/>
            <p:cNvSpPr/>
            <p:nvPr/>
          </p:nvSpPr>
          <p:spPr>
            <a:xfrm>
              <a:off x="1124712" y="3287268"/>
              <a:ext cx="2514600" cy="6217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600" dirty="0">
                  <a:solidFill>
                    <a:srgbClr val="FFFFFF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Noto Sans TC" pitchFamily="34" charset="-120"/>
                </a:rPr>
                <a:t>標題、段落與表格可讀</a:t>
              </a:r>
              <a:endParaRPr lang="en-US" sz="160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  <a:p>
              <a:pPr marL="0" indent="0" algn="ctr">
                <a:buNone/>
              </a:pPr>
              <a:r>
                <a:rPr lang="en-US" sz="1600" dirty="0">
                  <a:solidFill>
                    <a:srgbClr val="FFFFFF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Noto Sans TC" pitchFamily="34" charset="-120"/>
                </a:rPr>
                <a:t>可以進入 chunks</a:t>
              </a:r>
              <a:endParaRPr lang="en-US" sz="160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</p:txBody>
        </p:sp>
        <p:sp>
          <p:nvSpPr>
            <p:cNvPr id="22" name="Text 20"/>
            <p:cNvSpPr/>
            <p:nvPr/>
          </p:nvSpPr>
          <p:spPr>
            <a:xfrm>
              <a:off x="1124712" y="4347972"/>
              <a:ext cx="251460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Noto Sans TC" pitchFamily="34" charset="-120"/>
                </a:rPr>
                <a:t>✓ 可進 RAG</a:t>
              </a:r>
              <a:endParaRPr lang="en-US" sz="160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</p:txBody>
        </p:sp>
        <p:sp>
          <p:nvSpPr>
            <p:cNvPr id="23" name="Shape 21"/>
            <p:cNvSpPr/>
            <p:nvPr/>
          </p:nvSpPr>
          <p:spPr>
            <a:xfrm>
              <a:off x="4562856" y="2007108"/>
              <a:ext cx="3246120" cy="3200400"/>
            </a:xfrm>
            <a:prstGeom prst="roundRect">
              <a:avLst>
                <a:gd name="adj" fmla="val 2286"/>
              </a:avLst>
            </a:prstGeom>
            <a:solidFill>
              <a:srgbClr val="E37B62"/>
            </a:solidFill>
            <a:ln w="12700">
              <a:solidFill>
                <a:srgbClr val="E37B62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4" name="Text 22"/>
            <p:cNvSpPr/>
            <p:nvPr/>
          </p:nvSpPr>
          <p:spPr>
            <a:xfrm>
              <a:off x="4791456" y="2519172"/>
              <a:ext cx="2788920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900" b="1" dirty="0">
                  <a:solidFill>
                    <a:srgbClr val="FFFFFF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Noto Sans TC" pitchFamily="34" charset="-120"/>
                </a:rPr>
                <a:t>needs_review</a:t>
              </a:r>
              <a:endParaRPr lang="en-US" sz="190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</p:txBody>
        </p:sp>
        <p:sp>
          <p:nvSpPr>
            <p:cNvPr id="25" name="Text 23"/>
            <p:cNvSpPr/>
            <p:nvPr/>
          </p:nvSpPr>
          <p:spPr>
            <a:xfrm>
              <a:off x="4928616" y="3287268"/>
              <a:ext cx="2514600" cy="6217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600" dirty="0">
                  <a:solidFill>
                    <a:srgbClr val="FFFFFF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Noto Sans TC" pitchFamily="34" charset="-120"/>
                </a:rPr>
                <a:t>掃描、表格或結構有缺失</a:t>
              </a:r>
              <a:endParaRPr lang="en-US" sz="160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  <a:p>
              <a:pPr marL="0" indent="0" algn="ctr">
                <a:buNone/>
              </a:pPr>
              <a:r>
                <a:rPr lang="en-US" sz="1600" dirty="0">
                  <a:solidFill>
                    <a:srgbClr val="FFFFFF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Noto Sans TC" pitchFamily="34" charset="-120"/>
                </a:rPr>
                <a:t>先人工檢視</a:t>
              </a:r>
              <a:endParaRPr lang="en-US" sz="160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</p:txBody>
        </p:sp>
        <p:sp>
          <p:nvSpPr>
            <p:cNvPr id="26" name="Text 24"/>
            <p:cNvSpPr/>
            <p:nvPr/>
          </p:nvSpPr>
          <p:spPr>
            <a:xfrm>
              <a:off x="4928616" y="4347972"/>
              <a:ext cx="251460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Noto Sans TC" pitchFamily="34" charset="-120"/>
                </a:rPr>
                <a:t>✕ 暫停</a:t>
              </a:r>
              <a:endParaRPr lang="en-US" sz="160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</p:txBody>
        </p:sp>
        <p:sp>
          <p:nvSpPr>
            <p:cNvPr id="27" name="Shape 25"/>
            <p:cNvSpPr/>
            <p:nvPr/>
          </p:nvSpPr>
          <p:spPr>
            <a:xfrm>
              <a:off x="8366760" y="2007108"/>
              <a:ext cx="3246120" cy="3200400"/>
            </a:xfrm>
            <a:prstGeom prst="roundRect">
              <a:avLst>
                <a:gd name="adj" fmla="val 2286"/>
              </a:avLst>
            </a:prstGeom>
            <a:solidFill>
              <a:srgbClr val="47645F"/>
            </a:solidFill>
            <a:ln w="12700">
              <a:solidFill>
                <a:srgbClr val="47645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8" name="Text 26"/>
            <p:cNvSpPr/>
            <p:nvPr/>
          </p:nvSpPr>
          <p:spPr>
            <a:xfrm>
              <a:off x="8595360" y="2519172"/>
              <a:ext cx="2788920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900" b="1" dirty="0">
                  <a:solidFill>
                    <a:srgbClr val="FFFFFF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Noto Sans TC" pitchFamily="34" charset="-120"/>
                </a:rPr>
                <a:t>excluded</a:t>
              </a:r>
              <a:endParaRPr lang="en-US" sz="190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</p:txBody>
        </p:sp>
        <p:sp>
          <p:nvSpPr>
            <p:cNvPr id="29" name="Text 27"/>
            <p:cNvSpPr/>
            <p:nvPr/>
          </p:nvSpPr>
          <p:spPr>
            <a:xfrm>
              <a:off x="8732520" y="3287268"/>
              <a:ext cx="2514600" cy="6217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600" dirty="0">
                  <a:solidFill>
                    <a:srgbClr val="FFFFFF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Noto Sans TC" pitchFamily="34" charset="-120"/>
                </a:rPr>
                <a:t>受限、白名單外或無法確認</a:t>
              </a:r>
              <a:endParaRPr lang="en-US" sz="160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  <a:p>
              <a:pPr marL="0" indent="0" algn="ctr">
                <a:buNone/>
              </a:pPr>
              <a:r>
                <a:rPr lang="en-US" sz="1600" dirty="0">
                  <a:solidFill>
                    <a:srgbClr val="FFFFFF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Noto Sans TC" pitchFamily="34" charset="-120"/>
                </a:rPr>
                <a:t>不進後續流程</a:t>
              </a:r>
              <a:endParaRPr lang="en-US" sz="160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</p:txBody>
        </p:sp>
        <p:sp>
          <p:nvSpPr>
            <p:cNvPr id="30" name="Text 28"/>
            <p:cNvSpPr/>
            <p:nvPr/>
          </p:nvSpPr>
          <p:spPr>
            <a:xfrm>
              <a:off x="8732520" y="4347972"/>
              <a:ext cx="251460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Noto Sans TC" pitchFamily="34" charset="-120"/>
                </a:rPr>
                <a:t>✕ 暫停</a:t>
              </a:r>
              <a:endParaRPr lang="en-US" sz="160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</p:txBody>
        </p:sp>
      </p:grp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5F6800E1-5D1C-13D9-7BE6-ED94655A2300}"/>
              </a:ext>
            </a:extLst>
          </p:cNvPr>
          <p:cNvSpPr txBox="1"/>
          <p:nvPr/>
        </p:nvSpPr>
        <p:spPr>
          <a:xfrm>
            <a:off x="502920" y="6473952"/>
            <a:ext cx="609790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spcAft>
                <a:spcPts val="1200"/>
              </a:spcAft>
              <a:buNone/>
            </a:pPr>
            <a:r>
              <a:rPr lang="en-US" altLang="zh-TW" sz="1050" i="0" dirty="0"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Day3 | </a:t>
            </a:r>
            <a:r>
              <a:rPr lang="zh-TW" altLang="zh-TW" sz="1050" i="0" dirty="0"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生成式人工智慧於文本資料分析</a:t>
            </a:r>
          </a:p>
        </p:txBody>
      </p:sp>
      <p:sp>
        <p:nvSpPr>
          <p:cNvPr id="37" name="Schema definition">
            <a:extLst>
              <a:ext uri="{FF2B5EF4-FFF2-40B4-BE49-F238E27FC236}">
                <a16:creationId xmlns:a16="http://schemas.microsoft.com/office/drawing/2014/main" id="{A583C422-CA9C-184A-97E5-9CFF79B17847}"/>
              </a:ext>
            </a:extLst>
          </p:cNvPr>
          <p:cNvSpPr txBox="1"/>
          <p:nvPr/>
        </p:nvSpPr>
        <p:spPr>
          <a:xfrm>
            <a:off x="838200" y="5372100"/>
            <a:ext cx="10515600" cy="533400"/>
          </a:xfrm>
          <a:prstGeom prst="rect">
            <a:avLst/>
          </a:prstGeom>
          <a:noFill/>
        </p:spPr>
        <p:txBody>
          <a:bodyPr vertOverflow="overflow" vert="horz" wrap="square" rtlCol="0" anchor="t">
            <a:normAutofit/>
          </a:bodyPr>
          <a:lstStyle/>
          <a:p>
            <a:pPr algn="l"/>
            <a:r>
              <a:rPr lang="en-US" altLang="zh-TW" sz="1100">
                <a:solidFill>
                  <a:srgbClr val="47645F"/>
                </a:solidFill>
                <a:latin typeface="Microsoft JhengHei"/>
                <a:ea typeface="Microsoft JhengHei"/>
              </a:rPr>
              <a:t>data/markdown/quality_report.jsonl  schema</a:t>
            </a:r>
            <a:r>
              <a:rPr lang="zh-TW" altLang="en-US" sz="1100">
                <a:solidFill>
                  <a:srgbClr val="47645F"/>
                </a:solidFill>
                <a:latin typeface="Microsoft JhengHei"/>
                <a:ea typeface="Microsoft JhengHei"/>
              </a:rPr>
              <a:t>：</a:t>
            </a:r>
            <a:r>
              <a:rPr lang="en-US" altLang="zh-TW" sz="1100">
                <a:solidFill>
                  <a:srgbClr val="47645F"/>
                </a:solidFill>
                <a:latin typeface="Microsoft JhengHei"/>
                <a:ea typeface="Microsoft JhengHei"/>
              </a:rPr>
              <a:t>document_id · markdown_path · quality_status · checked_features · reason · checked_at</a:t>
            </a:r>
            <a:endParaRPr lang="zh-TW" altLang="en-US" sz="1100">
              <a:solidFill>
                <a:srgbClr val="47645F"/>
              </a:solidFill>
              <a:latin typeface="Microsoft JhengHei"/>
              <a:ea typeface="Microsoft JhengHe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66928" y="667512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163A35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Step 03｜把文件切成可檢索、可引用的 chunks</a:t>
            </a:r>
            <a:endParaRPr lang="en-US" sz="32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8255">
            <a:solidFill>
              <a:srgbClr val="BCD3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064240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667A7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13</a:t>
            </a:r>
            <a:endParaRPr lang="en-US" sz="10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1088136" y="1773936"/>
            <a:ext cx="2743200" cy="338328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0" name="Text 18"/>
          <p:cNvSpPr/>
          <p:nvPr/>
        </p:nvSpPr>
        <p:spPr>
          <a:xfrm>
            <a:off x="1408176" y="211226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63A35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一份長文件</a:t>
            </a:r>
            <a:endParaRPr lang="en-US" sz="20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1426464" y="2688336"/>
            <a:ext cx="2048256" cy="420624"/>
          </a:xfrm>
          <a:prstGeom prst="roundRect">
            <a:avLst>
              <a:gd name="adj" fmla="val 17391"/>
            </a:avLst>
          </a:prstGeom>
          <a:solidFill>
            <a:srgbClr val="EDF4F1"/>
          </a:solidFill>
          <a:ln w="12700">
            <a:solidFill>
              <a:srgbClr val="EDF4F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2" name="Shape 20"/>
          <p:cNvSpPr/>
          <p:nvPr/>
        </p:nvSpPr>
        <p:spPr>
          <a:xfrm>
            <a:off x="1426464" y="3346704"/>
            <a:ext cx="2048256" cy="420624"/>
          </a:xfrm>
          <a:prstGeom prst="roundRect">
            <a:avLst>
              <a:gd name="adj" fmla="val 17391"/>
            </a:avLst>
          </a:prstGeom>
          <a:solidFill>
            <a:srgbClr val="DCE9E3"/>
          </a:solidFill>
          <a:ln w="12700">
            <a:solidFill>
              <a:srgbClr val="DCE9E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3" name="Shape 21"/>
          <p:cNvSpPr/>
          <p:nvPr/>
        </p:nvSpPr>
        <p:spPr>
          <a:xfrm>
            <a:off x="1426464" y="4005072"/>
            <a:ext cx="2048256" cy="420624"/>
          </a:xfrm>
          <a:prstGeom prst="roundRect">
            <a:avLst>
              <a:gd name="adj" fmla="val 17391"/>
            </a:avLst>
          </a:prstGeom>
          <a:solidFill>
            <a:srgbClr val="EDF4F1"/>
          </a:solidFill>
          <a:ln w="12700">
            <a:solidFill>
              <a:srgbClr val="EDF4F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4" name="Text 22"/>
          <p:cNvSpPr/>
          <p:nvPr/>
        </p:nvSpPr>
        <p:spPr>
          <a:xfrm>
            <a:off x="1554480" y="2798064"/>
            <a:ext cx="1783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63A35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第一章：修業規定</a:t>
            </a:r>
            <a:endParaRPr lang="en-US" sz="14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1554480" y="3456432"/>
            <a:ext cx="1783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63A35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第二章：資格考</a:t>
            </a:r>
            <a:endParaRPr lang="en-US" sz="14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1554480" y="4114800"/>
            <a:ext cx="1783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63A35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第三章：畢業流程</a:t>
            </a:r>
            <a:endParaRPr lang="en-US" sz="14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4014216" y="3163824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7500" lnSpcReduction="20000"/>
          </a:bodyPr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E37B62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→</a:t>
            </a:r>
            <a:endParaRPr lang="en-US" sz="28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4809744" y="1837944"/>
            <a:ext cx="29718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9" name="Shape 27"/>
          <p:cNvSpPr/>
          <p:nvPr/>
        </p:nvSpPr>
        <p:spPr>
          <a:xfrm>
            <a:off x="4809744" y="1837944"/>
            <a:ext cx="91440" cy="1298448"/>
          </a:xfrm>
          <a:prstGeom prst="rect">
            <a:avLst/>
          </a:prstGeom>
          <a:solidFill>
            <a:srgbClr val="65B8A6"/>
          </a:solidFill>
          <a:ln w="12700">
            <a:solidFill>
              <a:srgbClr val="65B8A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0" name="Text 28"/>
          <p:cNvSpPr/>
          <p:nvPr/>
        </p:nvSpPr>
        <p:spPr>
          <a:xfrm>
            <a:off x="5065776" y="2066544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>
                <a:solidFill>
                  <a:srgbClr val="163A35"/>
                </a:solidFill>
                <a:latin typeface="Microsoft JhengHei"/>
                <a:ea typeface="Microsoft JhengHei"/>
              </a:rPr>
              <a:t>tve-003#001</a:t>
            </a:r>
            <a:endParaRPr lang="en-US" sz="1400"/>
          </a:p>
        </p:txBody>
      </p:sp>
      <p:sp>
        <p:nvSpPr>
          <p:cNvPr id="31" name="Text 29"/>
          <p:cNvSpPr/>
          <p:nvPr/>
        </p:nvSpPr>
        <p:spPr>
          <a:xfrm>
            <a:off x="5065776" y="2532888"/>
            <a:ext cx="249631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47645F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段落文字</a:t>
            </a:r>
            <a:endParaRPr lang="en-US" sz="14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47645F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來源章節、網址、時間</a:t>
            </a:r>
            <a:endParaRPr lang="en-US" sz="14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8211312" y="1837944"/>
            <a:ext cx="29718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3" name="Shape 31"/>
          <p:cNvSpPr/>
          <p:nvPr/>
        </p:nvSpPr>
        <p:spPr>
          <a:xfrm>
            <a:off x="8211312" y="1837944"/>
            <a:ext cx="91440" cy="1298448"/>
          </a:xfrm>
          <a:prstGeom prst="rect">
            <a:avLst/>
          </a:prstGeom>
          <a:solidFill>
            <a:srgbClr val="65B8A6"/>
          </a:solidFill>
          <a:ln w="12700">
            <a:solidFill>
              <a:srgbClr val="65B8A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4" name="Text 32"/>
          <p:cNvSpPr/>
          <p:nvPr/>
        </p:nvSpPr>
        <p:spPr>
          <a:xfrm>
            <a:off x="8467344" y="2066544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>
                <a:solidFill>
                  <a:srgbClr val="163A35"/>
                </a:solidFill>
                <a:latin typeface="Microsoft JhengHei"/>
                <a:ea typeface="Microsoft JhengHei"/>
              </a:rPr>
              <a:t>tve-003#002</a:t>
            </a:r>
            <a:endParaRPr lang="en-US" sz="1400"/>
          </a:p>
        </p:txBody>
      </p:sp>
      <p:sp>
        <p:nvSpPr>
          <p:cNvPr id="35" name="Text 33"/>
          <p:cNvSpPr/>
          <p:nvPr/>
        </p:nvSpPr>
        <p:spPr>
          <a:xfrm>
            <a:off x="8467344" y="2532888"/>
            <a:ext cx="249631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47645F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段落文字</a:t>
            </a:r>
            <a:endParaRPr lang="en-US" sz="14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47645F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來源章節、網址、時間</a:t>
            </a:r>
            <a:endParaRPr lang="en-US" sz="14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4809744" y="3685032"/>
            <a:ext cx="29718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7" name="Shape 35"/>
          <p:cNvSpPr/>
          <p:nvPr/>
        </p:nvSpPr>
        <p:spPr>
          <a:xfrm>
            <a:off x="4809744" y="3685032"/>
            <a:ext cx="91440" cy="1298448"/>
          </a:xfrm>
          <a:prstGeom prst="rect">
            <a:avLst/>
          </a:prstGeom>
          <a:solidFill>
            <a:srgbClr val="E37B62"/>
          </a:solidFill>
          <a:ln w="12700">
            <a:solidFill>
              <a:srgbClr val="E37B62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8" name="Text 36"/>
          <p:cNvSpPr/>
          <p:nvPr/>
        </p:nvSpPr>
        <p:spPr>
          <a:xfrm>
            <a:off x="5065776" y="3913632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>
                <a:solidFill>
                  <a:srgbClr val="163A35"/>
                </a:solidFill>
                <a:latin typeface="Microsoft JhengHei"/>
                <a:ea typeface="Microsoft JhengHei"/>
              </a:rPr>
              <a:t>tve-003#003</a:t>
            </a:r>
            <a:endParaRPr lang="en-US" sz="1400"/>
          </a:p>
        </p:txBody>
      </p:sp>
      <p:sp>
        <p:nvSpPr>
          <p:cNvPr id="39" name="Text 37"/>
          <p:cNvSpPr/>
          <p:nvPr/>
        </p:nvSpPr>
        <p:spPr>
          <a:xfrm>
            <a:off x="5065776" y="4379976"/>
            <a:ext cx="249631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47645F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畢業流程</a:t>
            </a:r>
            <a:endParaRPr lang="en-US" sz="14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47645F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來源章節、網址、時間</a:t>
            </a:r>
            <a:endParaRPr lang="en-US" sz="14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1572768" y="5678424"/>
            <a:ext cx="9692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63A35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提示詞 03：只處理 ready_for_analysis；每段保留來源章節、URL 與時間。</a:t>
            </a:r>
            <a:endParaRPr lang="en-US" sz="18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18085F9D-A16D-1804-244D-90F39D5488DB}"/>
              </a:ext>
            </a:extLst>
          </p:cNvPr>
          <p:cNvSpPr txBox="1"/>
          <p:nvPr/>
        </p:nvSpPr>
        <p:spPr>
          <a:xfrm>
            <a:off x="502920" y="6473952"/>
            <a:ext cx="609790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spcAft>
                <a:spcPts val="1200"/>
              </a:spcAft>
              <a:buNone/>
            </a:pPr>
            <a:r>
              <a:rPr lang="en-US" altLang="zh-TW" sz="1050" i="0" dirty="0"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Day3 | </a:t>
            </a:r>
            <a:r>
              <a:rPr lang="zh-TW" altLang="zh-TW" sz="1050" i="0" dirty="0"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生成式人工智慧於文本資料分析</a:t>
            </a:r>
          </a:p>
        </p:txBody>
      </p:sp>
    </p:spTree>
    <p:extLst>
      <p:ext uri="{BB962C8B-B14F-4D97-AF65-F5344CB8AC3E}">
        <p14:creationId xmlns:p14="http://schemas.microsoft.com/office/powerpoint/2010/main" val="33258400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66928" y="667512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63A35"/>
                </a:solidFill>
                <a:latin typeface="Microsoft JhengHei"/>
                <a:ea typeface="Microsoft JhengHei"/>
              </a:rPr>
              <a:t>文本分析｜analysis/text_analysis.md：證據與解讀分欄</a:t>
            </a:r>
            <a:endParaRPr lang="en-US" sz="3000"/>
          </a:p>
        </p:txBody>
      </p:sp>
      <p:sp>
        <p:nvSpPr>
          <p:cNvPr id="4" name="Shape 2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8255">
            <a:solidFill>
              <a:srgbClr val="BCD3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064240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667A7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14</a:t>
            </a:r>
            <a:endParaRPr lang="en-US" sz="10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grpSp>
        <p:nvGrpSpPr>
          <p:cNvPr id="54" name="群組 53">
            <a:extLst>
              <a:ext uri="{FF2B5EF4-FFF2-40B4-BE49-F238E27FC236}">
                <a16:creationId xmlns:a16="http://schemas.microsoft.com/office/drawing/2014/main" id="{2FBA8921-B1C4-473F-D3C5-2D61DF51D319}"/>
              </a:ext>
            </a:extLst>
          </p:cNvPr>
          <p:cNvGrpSpPr/>
          <p:nvPr/>
        </p:nvGrpSpPr>
        <p:grpSpPr>
          <a:xfrm>
            <a:off x="723900" y="1977390"/>
            <a:ext cx="10744200" cy="2624328"/>
            <a:chOff x="603504" y="1600200"/>
            <a:chExt cx="10744200" cy="2624328"/>
          </a:xfrm>
        </p:grpSpPr>
        <p:sp>
          <p:nvSpPr>
            <p:cNvPr id="19" name="Shape 17"/>
            <p:cNvSpPr/>
            <p:nvPr/>
          </p:nvSpPr>
          <p:spPr>
            <a:xfrm>
              <a:off x="603504" y="1600200"/>
              <a:ext cx="1143000" cy="548640"/>
            </a:xfrm>
            <a:prstGeom prst="rect">
              <a:avLst/>
            </a:prstGeom>
            <a:solidFill>
              <a:srgbClr val="163A35"/>
            </a:solidFill>
            <a:ln w="12700">
              <a:solidFill>
                <a:srgbClr val="163A35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zh-TW" altLang="en-US" sz="1400"/>
            </a:p>
          </p:txBody>
        </p:sp>
        <p:sp>
          <p:nvSpPr>
            <p:cNvPr id="20" name="Text 18"/>
            <p:cNvSpPr/>
            <p:nvPr/>
          </p:nvSpPr>
          <p:spPr>
            <a:xfrm>
              <a:off x="676656" y="1773936"/>
              <a:ext cx="996696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Noto Sans TC" pitchFamily="34" charset="-120"/>
                </a:rPr>
                <a:t>chunk_id</a:t>
              </a:r>
              <a:endParaRPr lang="en-US" sz="140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</p:txBody>
        </p:sp>
        <p:sp>
          <p:nvSpPr>
            <p:cNvPr id="21" name="Shape 19"/>
            <p:cNvSpPr/>
            <p:nvPr/>
          </p:nvSpPr>
          <p:spPr>
            <a:xfrm>
              <a:off x="1746504" y="1600200"/>
              <a:ext cx="2057400" cy="548640"/>
            </a:xfrm>
            <a:prstGeom prst="rect">
              <a:avLst/>
            </a:prstGeom>
            <a:solidFill>
              <a:srgbClr val="163A35"/>
            </a:solidFill>
            <a:ln w="12700">
              <a:solidFill>
                <a:srgbClr val="163A35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zh-TW" altLang="en-US" sz="1400"/>
            </a:p>
          </p:txBody>
        </p:sp>
        <p:sp>
          <p:nvSpPr>
            <p:cNvPr id="22" name="Text 20"/>
            <p:cNvSpPr/>
            <p:nvPr/>
          </p:nvSpPr>
          <p:spPr>
            <a:xfrm>
              <a:off x="1819656" y="1773936"/>
              <a:ext cx="1911096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Noto Sans TC" pitchFamily="34" charset="-120"/>
                </a:rPr>
                <a:t>summary</a:t>
              </a:r>
              <a:endParaRPr lang="en-US" sz="140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</p:txBody>
        </p:sp>
        <p:sp>
          <p:nvSpPr>
            <p:cNvPr id="23" name="Shape 21"/>
            <p:cNvSpPr/>
            <p:nvPr/>
          </p:nvSpPr>
          <p:spPr>
            <a:xfrm>
              <a:off x="3803904" y="1600200"/>
              <a:ext cx="1417320" cy="548640"/>
            </a:xfrm>
            <a:prstGeom prst="rect">
              <a:avLst/>
            </a:prstGeom>
            <a:solidFill>
              <a:srgbClr val="163A35"/>
            </a:solidFill>
            <a:ln w="12700">
              <a:solidFill>
                <a:srgbClr val="163A35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zh-TW" altLang="en-US" sz="1400"/>
            </a:p>
          </p:txBody>
        </p:sp>
        <p:sp>
          <p:nvSpPr>
            <p:cNvPr id="24" name="Text 22"/>
            <p:cNvSpPr/>
            <p:nvPr/>
          </p:nvSpPr>
          <p:spPr>
            <a:xfrm>
              <a:off x="3877056" y="1773936"/>
              <a:ext cx="1271016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Noto Sans TC" pitchFamily="34" charset="-120"/>
                </a:rPr>
                <a:t>category</a:t>
              </a:r>
              <a:endParaRPr lang="en-US" sz="140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</p:txBody>
        </p:sp>
        <p:sp>
          <p:nvSpPr>
            <p:cNvPr id="25" name="Shape 23"/>
            <p:cNvSpPr/>
            <p:nvPr/>
          </p:nvSpPr>
          <p:spPr>
            <a:xfrm>
              <a:off x="5221224" y="1600200"/>
              <a:ext cx="3063240" cy="548640"/>
            </a:xfrm>
            <a:prstGeom prst="rect">
              <a:avLst/>
            </a:prstGeom>
            <a:solidFill>
              <a:srgbClr val="163A35"/>
            </a:solidFill>
            <a:ln w="12700">
              <a:solidFill>
                <a:srgbClr val="163A35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zh-TW" altLang="en-US" sz="1400"/>
            </a:p>
          </p:txBody>
        </p:sp>
        <p:sp>
          <p:nvSpPr>
            <p:cNvPr id="26" name="Text 24"/>
            <p:cNvSpPr/>
            <p:nvPr/>
          </p:nvSpPr>
          <p:spPr>
            <a:xfrm>
              <a:off x="5294376" y="1773936"/>
              <a:ext cx="2916936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Noto Sans TC" pitchFamily="34" charset="-120"/>
                </a:rPr>
                <a:t>document_evidence</a:t>
              </a:r>
              <a:endParaRPr lang="en-US" sz="140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</p:txBody>
        </p:sp>
        <p:sp>
          <p:nvSpPr>
            <p:cNvPr id="27" name="Shape 25"/>
            <p:cNvSpPr/>
            <p:nvPr/>
          </p:nvSpPr>
          <p:spPr>
            <a:xfrm>
              <a:off x="8284464" y="1600200"/>
              <a:ext cx="3063240" cy="548640"/>
            </a:xfrm>
            <a:prstGeom prst="rect">
              <a:avLst/>
            </a:prstGeom>
            <a:solidFill>
              <a:srgbClr val="163A35"/>
            </a:solidFill>
            <a:ln w="12700">
              <a:solidFill>
                <a:srgbClr val="163A35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zh-TW" altLang="en-US" sz="1400"/>
            </a:p>
          </p:txBody>
        </p:sp>
        <p:sp>
          <p:nvSpPr>
            <p:cNvPr id="28" name="Text 26"/>
            <p:cNvSpPr/>
            <p:nvPr/>
          </p:nvSpPr>
          <p:spPr>
            <a:xfrm>
              <a:off x="8357616" y="1773936"/>
              <a:ext cx="2916936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Noto Sans TC" pitchFamily="34" charset="-120"/>
                </a:rPr>
                <a:t>ai_interpretation</a:t>
              </a:r>
              <a:endParaRPr lang="en-US" sz="140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</p:txBody>
        </p:sp>
        <p:sp>
          <p:nvSpPr>
            <p:cNvPr id="29" name="Shape 27"/>
            <p:cNvSpPr/>
            <p:nvPr/>
          </p:nvSpPr>
          <p:spPr>
            <a:xfrm>
              <a:off x="603504" y="2157984"/>
              <a:ext cx="1143000" cy="1024128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BCD3CC"/>
              </a:solidFill>
              <a:prstDash val="solid"/>
            </a:ln>
          </p:spPr>
          <p:txBody>
            <a:bodyPr/>
            <a:lstStyle/>
            <a:p>
              <a:endParaRPr lang="zh-TW" altLang="en-US" sz="1400"/>
            </a:p>
          </p:txBody>
        </p:sp>
        <p:sp>
          <p:nvSpPr>
            <p:cNvPr id="30" name="Text 28"/>
            <p:cNvSpPr/>
            <p:nvPr/>
          </p:nvSpPr>
          <p:spPr>
            <a:xfrm>
              <a:off x="685800" y="2304288"/>
              <a:ext cx="978408" cy="6583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 marL="0" indent="0">
                <a:buNone/>
              </a:pPr>
              <a:r>
                <a:rPr lang="en-US" sz="1150">
                  <a:solidFill>
                    <a:srgbClr val="163A35"/>
                  </a:solidFill>
                  <a:latin typeface="Microsoft JhengHei"/>
                  <a:ea typeface="Microsoft JhengHei"/>
                </a:rPr>
                <a:t>tve-003#001</a:t>
              </a:r>
              <a:endParaRPr lang="en-US" sz="1150"/>
            </a:p>
          </p:txBody>
        </p:sp>
        <p:sp>
          <p:nvSpPr>
            <p:cNvPr id="31" name="Shape 29"/>
            <p:cNvSpPr/>
            <p:nvPr/>
          </p:nvSpPr>
          <p:spPr>
            <a:xfrm>
              <a:off x="1746504" y="2157984"/>
              <a:ext cx="2057400" cy="1024128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BCD3CC"/>
              </a:solidFill>
              <a:prstDash val="solid"/>
            </a:ln>
          </p:spPr>
          <p:txBody>
            <a:bodyPr/>
            <a:lstStyle/>
            <a:p>
              <a:endParaRPr lang="zh-TW" altLang="en-US" sz="1400"/>
            </a:p>
          </p:txBody>
        </p:sp>
        <p:sp>
          <p:nvSpPr>
            <p:cNvPr id="32" name="Text 30"/>
            <p:cNvSpPr/>
            <p:nvPr/>
          </p:nvSpPr>
          <p:spPr>
            <a:xfrm>
              <a:off x="1828800" y="2304288"/>
              <a:ext cx="1892808" cy="6583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63A35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Noto Sans TC" pitchFamily="34" charset="-120"/>
                </a:rPr>
                <a:t>修課計畫提交期限</a:t>
              </a:r>
              <a:endParaRPr lang="en-US" sz="140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</p:txBody>
        </p:sp>
        <p:sp>
          <p:nvSpPr>
            <p:cNvPr id="33" name="Shape 31"/>
            <p:cNvSpPr/>
            <p:nvPr/>
          </p:nvSpPr>
          <p:spPr>
            <a:xfrm>
              <a:off x="3803904" y="2157984"/>
              <a:ext cx="1417320" cy="1024128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BCD3CC"/>
              </a:solidFill>
              <a:prstDash val="solid"/>
            </a:ln>
          </p:spPr>
          <p:txBody>
            <a:bodyPr/>
            <a:lstStyle/>
            <a:p>
              <a:endParaRPr lang="zh-TW" altLang="en-US" sz="1400"/>
            </a:p>
          </p:txBody>
        </p:sp>
        <p:sp>
          <p:nvSpPr>
            <p:cNvPr id="34" name="Text 32"/>
            <p:cNvSpPr/>
            <p:nvPr/>
          </p:nvSpPr>
          <p:spPr>
            <a:xfrm>
              <a:off x="3886200" y="2304288"/>
              <a:ext cx="1252728" cy="6583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63A35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Noto Sans TC" pitchFamily="34" charset="-120"/>
                </a:rPr>
                <a:t>修業規範</a:t>
              </a:r>
              <a:endParaRPr lang="en-US" sz="140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</p:txBody>
        </p:sp>
        <p:sp>
          <p:nvSpPr>
            <p:cNvPr id="35" name="Shape 33"/>
            <p:cNvSpPr/>
            <p:nvPr/>
          </p:nvSpPr>
          <p:spPr>
            <a:xfrm>
              <a:off x="5221224" y="2157984"/>
              <a:ext cx="3063240" cy="1024128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BCD3CC"/>
              </a:solidFill>
              <a:prstDash val="solid"/>
            </a:ln>
          </p:spPr>
          <p:txBody>
            <a:bodyPr/>
            <a:lstStyle/>
            <a:p>
              <a:endParaRPr lang="zh-TW" altLang="en-US" sz="1400"/>
            </a:p>
          </p:txBody>
        </p:sp>
        <p:sp>
          <p:nvSpPr>
            <p:cNvPr id="36" name="Text 34"/>
            <p:cNvSpPr/>
            <p:nvPr/>
          </p:nvSpPr>
          <p:spPr>
            <a:xfrm>
              <a:off x="5303520" y="2304288"/>
              <a:ext cx="2898648" cy="6583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63A35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Noto Sans TC" pitchFamily="34" charset="-120"/>
                </a:rPr>
                <a:t>「第一年第一學期結束前…送所辦」</a:t>
              </a:r>
              <a:endParaRPr lang="en-US" sz="140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</p:txBody>
        </p:sp>
        <p:sp>
          <p:nvSpPr>
            <p:cNvPr id="37" name="Shape 35"/>
            <p:cNvSpPr/>
            <p:nvPr/>
          </p:nvSpPr>
          <p:spPr>
            <a:xfrm>
              <a:off x="8284464" y="2157984"/>
              <a:ext cx="3063240" cy="1024128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BCD3CC"/>
              </a:solidFill>
              <a:prstDash val="solid"/>
            </a:ln>
          </p:spPr>
          <p:txBody>
            <a:bodyPr/>
            <a:lstStyle/>
            <a:p>
              <a:endParaRPr lang="zh-TW" altLang="en-US" sz="1400"/>
            </a:p>
          </p:txBody>
        </p:sp>
        <p:sp>
          <p:nvSpPr>
            <p:cNvPr id="38" name="Text 36"/>
            <p:cNvSpPr/>
            <p:nvPr/>
          </p:nvSpPr>
          <p:spPr>
            <a:xfrm>
              <a:off x="8366760" y="2304288"/>
              <a:ext cx="2898648" cy="6583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47645F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Noto Sans TC" pitchFamily="34" charset="-120"/>
                </a:rPr>
                <a:t>此規定關注修課計畫的早期確認。</a:t>
              </a:r>
              <a:endParaRPr lang="en-US" sz="140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</p:txBody>
        </p:sp>
        <p:sp>
          <p:nvSpPr>
            <p:cNvPr id="39" name="Shape 37"/>
            <p:cNvSpPr/>
            <p:nvPr/>
          </p:nvSpPr>
          <p:spPr>
            <a:xfrm>
              <a:off x="603504" y="3200400"/>
              <a:ext cx="1143000" cy="1024128"/>
            </a:xfrm>
            <a:prstGeom prst="rect">
              <a:avLst/>
            </a:prstGeom>
            <a:solidFill>
              <a:srgbClr val="EDF4F1"/>
            </a:solidFill>
            <a:ln w="12700">
              <a:solidFill>
                <a:srgbClr val="BCD3CC"/>
              </a:solidFill>
              <a:prstDash val="solid"/>
            </a:ln>
          </p:spPr>
          <p:txBody>
            <a:bodyPr/>
            <a:lstStyle/>
            <a:p>
              <a:endParaRPr lang="zh-TW" altLang="en-US" sz="1400"/>
            </a:p>
          </p:txBody>
        </p:sp>
        <p:sp>
          <p:nvSpPr>
            <p:cNvPr id="40" name="Text 38"/>
            <p:cNvSpPr/>
            <p:nvPr/>
          </p:nvSpPr>
          <p:spPr>
            <a:xfrm>
              <a:off x="685800" y="3346704"/>
              <a:ext cx="978408" cy="6583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 marL="0" indent="0">
                <a:buNone/>
              </a:pPr>
              <a:r>
                <a:rPr lang="en-US" sz="1150">
                  <a:solidFill>
                    <a:srgbClr val="163A35"/>
                  </a:solidFill>
                  <a:latin typeface="Microsoft JhengHei"/>
                  <a:ea typeface="Microsoft JhengHei"/>
                </a:rPr>
                <a:t>tve-003#002</a:t>
              </a:r>
              <a:endParaRPr lang="en-US" sz="1150"/>
            </a:p>
          </p:txBody>
        </p:sp>
        <p:sp>
          <p:nvSpPr>
            <p:cNvPr id="41" name="Shape 39"/>
            <p:cNvSpPr/>
            <p:nvPr/>
          </p:nvSpPr>
          <p:spPr>
            <a:xfrm>
              <a:off x="1746504" y="3200400"/>
              <a:ext cx="2057400" cy="1024128"/>
            </a:xfrm>
            <a:prstGeom prst="rect">
              <a:avLst/>
            </a:prstGeom>
            <a:solidFill>
              <a:srgbClr val="EDF4F1"/>
            </a:solidFill>
            <a:ln w="12700">
              <a:solidFill>
                <a:srgbClr val="BCD3CC"/>
              </a:solidFill>
              <a:prstDash val="solid"/>
            </a:ln>
          </p:spPr>
          <p:txBody>
            <a:bodyPr/>
            <a:lstStyle/>
            <a:p>
              <a:endParaRPr lang="zh-TW" altLang="en-US" sz="1400"/>
            </a:p>
          </p:txBody>
        </p:sp>
        <p:sp>
          <p:nvSpPr>
            <p:cNvPr id="42" name="Text 40"/>
            <p:cNvSpPr/>
            <p:nvPr/>
          </p:nvSpPr>
          <p:spPr>
            <a:xfrm>
              <a:off x="1828800" y="3346704"/>
              <a:ext cx="1892808" cy="6583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63A35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Noto Sans TC" pitchFamily="34" charset="-120"/>
                </a:rPr>
                <a:t>資格考申請資料</a:t>
              </a:r>
              <a:endParaRPr lang="en-US" sz="140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</p:txBody>
        </p:sp>
        <p:sp>
          <p:nvSpPr>
            <p:cNvPr id="43" name="Shape 41"/>
            <p:cNvSpPr/>
            <p:nvPr/>
          </p:nvSpPr>
          <p:spPr>
            <a:xfrm>
              <a:off x="3803904" y="3200400"/>
              <a:ext cx="1417320" cy="1024128"/>
            </a:xfrm>
            <a:prstGeom prst="rect">
              <a:avLst/>
            </a:prstGeom>
            <a:solidFill>
              <a:srgbClr val="EDF4F1"/>
            </a:solidFill>
            <a:ln w="12700">
              <a:solidFill>
                <a:srgbClr val="BCD3CC"/>
              </a:solidFill>
              <a:prstDash val="solid"/>
            </a:ln>
          </p:spPr>
          <p:txBody>
            <a:bodyPr/>
            <a:lstStyle/>
            <a:p>
              <a:endParaRPr lang="zh-TW" altLang="en-US" sz="1400"/>
            </a:p>
          </p:txBody>
        </p:sp>
        <p:sp>
          <p:nvSpPr>
            <p:cNvPr id="44" name="Text 42"/>
            <p:cNvSpPr/>
            <p:nvPr/>
          </p:nvSpPr>
          <p:spPr>
            <a:xfrm>
              <a:off x="3886200" y="3346704"/>
              <a:ext cx="1252728" cy="6583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63A35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Noto Sans TC" pitchFamily="34" charset="-120"/>
                </a:rPr>
                <a:t>行政流程</a:t>
              </a:r>
              <a:endParaRPr lang="en-US" sz="140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</p:txBody>
        </p:sp>
        <p:sp>
          <p:nvSpPr>
            <p:cNvPr id="45" name="Shape 43"/>
            <p:cNvSpPr/>
            <p:nvPr/>
          </p:nvSpPr>
          <p:spPr>
            <a:xfrm>
              <a:off x="5221224" y="3200400"/>
              <a:ext cx="3063240" cy="1024128"/>
            </a:xfrm>
            <a:prstGeom prst="rect">
              <a:avLst/>
            </a:prstGeom>
            <a:solidFill>
              <a:srgbClr val="EDF4F1"/>
            </a:solidFill>
            <a:ln w="12700">
              <a:solidFill>
                <a:srgbClr val="BCD3CC"/>
              </a:solidFill>
              <a:prstDash val="solid"/>
            </a:ln>
          </p:spPr>
          <p:txBody>
            <a:bodyPr/>
            <a:lstStyle/>
            <a:p>
              <a:endParaRPr lang="zh-TW" altLang="en-US" sz="1400"/>
            </a:p>
          </p:txBody>
        </p:sp>
        <p:sp>
          <p:nvSpPr>
            <p:cNvPr id="46" name="Text 44"/>
            <p:cNvSpPr/>
            <p:nvPr/>
          </p:nvSpPr>
          <p:spPr>
            <a:xfrm>
              <a:off x="5303520" y="3346704"/>
              <a:ext cx="2898648" cy="6583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63A35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Noto Sans TC" pitchFamily="34" charset="-120"/>
                </a:rPr>
                <a:t>「應檢附…」</a:t>
              </a:r>
              <a:endParaRPr lang="en-US" sz="140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</p:txBody>
        </p:sp>
        <p:sp>
          <p:nvSpPr>
            <p:cNvPr id="47" name="Shape 45"/>
            <p:cNvSpPr/>
            <p:nvPr/>
          </p:nvSpPr>
          <p:spPr>
            <a:xfrm>
              <a:off x="8284464" y="3200400"/>
              <a:ext cx="3063240" cy="1024128"/>
            </a:xfrm>
            <a:prstGeom prst="rect">
              <a:avLst/>
            </a:prstGeom>
            <a:solidFill>
              <a:srgbClr val="EDF4F1"/>
            </a:solidFill>
            <a:ln w="12700">
              <a:solidFill>
                <a:srgbClr val="BCD3CC"/>
              </a:solidFill>
              <a:prstDash val="solid"/>
            </a:ln>
          </p:spPr>
          <p:txBody>
            <a:bodyPr/>
            <a:lstStyle/>
            <a:p>
              <a:endParaRPr lang="zh-TW" altLang="en-US" sz="1400"/>
            </a:p>
          </p:txBody>
        </p:sp>
        <p:sp>
          <p:nvSpPr>
            <p:cNvPr id="48" name="Text 46"/>
            <p:cNvSpPr/>
            <p:nvPr/>
          </p:nvSpPr>
          <p:spPr>
            <a:xfrm>
              <a:off x="8366760" y="3346704"/>
              <a:ext cx="2898648" cy="6583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47645F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Noto Sans TC" pitchFamily="34" charset="-120"/>
                </a:rPr>
                <a:t>可能是學生常詢問的準備事項。</a:t>
              </a:r>
              <a:endParaRPr lang="en-US" sz="140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</p:txBody>
        </p:sp>
      </p:grpSp>
      <p:sp>
        <p:nvSpPr>
          <p:cNvPr id="53" name="文字方塊 52">
            <a:extLst>
              <a:ext uri="{FF2B5EF4-FFF2-40B4-BE49-F238E27FC236}">
                <a16:creationId xmlns:a16="http://schemas.microsoft.com/office/drawing/2014/main" id="{59CA4FFB-8AB0-ED20-FCE3-0709D4209C46}"/>
              </a:ext>
            </a:extLst>
          </p:cNvPr>
          <p:cNvSpPr txBox="1"/>
          <p:nvPr/>
        </p:nvSpPr>
        <p:spPr>
          <a:xfrm>
            <a:off x="502920" y="6473952"/>
            <a:ext cx="609790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spcAft>
                <a:spcPts val="1200"/>
              </a:spcAft>
              <a:buNone/>
            </a:pPr>
            <a:r>
              <a:rPr lang="en-US" altLang="zh-TW" sz="1050" i="0" dirty="0"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Day3 | </a:t>
            </a:r>
            <a:r>
              <a:rPr lang="zh-TW" altLang="zh-TW" sz="1050" i="0" dirty="0"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生成式人工智慧於文本資料分析</a:t>
            </a:r>
          </a:p>
        </p:txBody>
      </p:sp>
      <p:sp>
        <p:nvSpPr>
          <p:cNvPr id="2" name="Schema definition">
            <a:extLst>
              <a:ext uri="{FF2B5EF4-FFF2-40B4-BE49-F238E27FC236}">
                <a16:creationId xmlns:a16="http://schemas.microsoft.com/office/drawing/2014/main" id="{EAD3B576-590F-E347-B96E-B02C89CFE392}"/>
              </a:ext>
            </a:extLst>
          </p:cNvPr>
          <p:cNvSpPr txBox="1"/>
          <p:nvPr/>
        </p:nvSpPr>
        <p:spPr>
          <a:xfrm>
            <a:off x="838200" y="4902200"/>
            <a:ext cx="10515600" cy="533400"/>
          </a:xfrm>
          <a:prstGeom prst="rect">
            <a:avLst/>
          </a:prstGeom>
          <a:noFill/>
        </p:spPr>
        <p:txBody>
          <a:bodyPr vertOverflow="overflow" vert="horz" wrap="square" rtlCol="0" anchor="t">
            <a:normAutofit/>
          </a:bodyPr>
          <a:lstStyle/>
          <a:p>
            <a:pPr algn="l"/>
            <a:r>
              <a:rPr lang="en-US" altLang="zh-TW" sz="1100">
                <a:solidFill>
                  <a:srgbClr val="47645F"/>
                </a:solidFill>
                <a:latin typeface="Microsoft JhengHei"/>
                <a:ea typeface="Microsoft JhengHei"/>
              </a:rPr>
              <a:t>分析表欄位</a:t>
            </a:r>
            <a:r>
              <a:rPr lang="zh-TW" altLang="en-US" sz="1100">
                <a:solidFill>
                  <a:srgbClr val="47645F"/>
                </a:solidFill>
                <a:latin typeface="Microsoft JhengHei"/>
                <a:ea typeface="Microsoft JhengHei"/>
              </a:rPr>
              <a:t>：</a:t>
            </a:r>
            <a:r>
              <a:rPr lang="en-US" altLang="zh-TW" sz="1100">
                <a:solidFill>
                  <a:srgbClr val="47645F"/>
                </a:solidFill>
                <a:latin typeface="Microsoft JhengHei"/>
                <a:ea typeface="Microsoft JhengHei"/>
              </a:rPr>
              <a:t>八欄：document_id · chunk_id · summary · category · administrative_information · topic · document_evidence · ai_interpretation</a:t>
            </a:r>
            <a:endParaRPr lang="zh-TW" altLang="en-US" sz="1100">
              <a:solidFill>
                <a:srgbClr val="47645F"/>
              </a:solidFill>
              <a:latin typeface="Microsoft JhengHei"/>
              <a:ea typeface="Microsoft JhengHei"/>
            </a:endParaRPr>
          </a:p>
        </p:txBody>
      </p:sp>
    </p:spTree>
    <p:extLst>
      <p:ext uri="{BB962C8B-B14F-4D97-AF65-F5344CB8AC3E}">
        <p14:creationId xmlns:p14="http://schemas.microsoft.com/office/powerpoint/2010/main" val="19473402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66928" y="667512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163A35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Step 04｜RAG：先找證據，再讓模型回答</a:t>
            </a:r>
            <a:endParaRPr lang="en-US" sz="32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8255">
            <a:solidFill>
              <a:srgbClr val="BCD3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064240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667A7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15</a:t>
            </a:r>
            <a:endParaRPr lang="en-US" sz="10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685800" y="1828800"/>
            <a:ext cx="233172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TW" altLang="en-US" sz="1400"/>
          </a:p>
        </p:txBody>
      </p:sp>
      <p:sp>
        <p:nvSpPr>
          <p:cNvPr id="20" name="Shape 18"/>
          <p:cNvSpPr/>
          <p:nvPr/>
        </p:nvSpPr>
        <p:spPr>
          <a:xfrm>
            <a:off x="685800" y="1828800"/>
            <a:ext cx="91440" cy="2011680"/>
          </a:xfrm>
          <a:prstGeom prst="rect">
            <a:avLst/>
          </a:prstGeom>
          <a:solidFill>
            <a:srgbClr val="E37B62"/>
          </a:solidFill>
          <a:ln w="12700">
            <a:solidFill>
              <a:srgbClr val="E37B62"/>
            </a:solidFill>
            <a:prstDash val="solid"/>
          </a:ln>
        </p:spPr>
        <p:txBody>
          <a:bodyPr/>
          <a:lstStyle/>
          <a:p>
            <a:endParaRPr lang="zh-TW" altLang="en-US" sz="1400"/>
          </a:p>
        </p:txBody>
      </p:sp>
      <p:sp>
        <p:nvSpPr>
          <p:cNvPr id="21" name="Text 19"/>
          <p:cNvSpPr/>
          <p:nvPr/>
        </p:nvSpPr>
        <p:spPr>
          <a:xfrm>
            <a:off x="941832" y="205740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63A35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學生問題</a:t>
            </a:r>
            <a:endParaRPr lang="en-US" sz="16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941832" y="2523744"/>
            <a:ext cx="18562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47645F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最晚何時送所辦？</a:t>
            </a:r>
            <a:endParaRPr lang="en-US" sz="14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3081528" y="2624328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37B62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→</a:t>
            </a:r>
            <a:endParaRPr lang="en-US" sz="14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3520440" y="1828800"/>
            <a:ext cx="233172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TW" altLang="en-US" sz="1400"/>
          </a:p>
        </p:txBody>
      </p:sp>
      <p:sp>
        <p:nvSpPr>
          <p:cNvPr id="25" name="Shape 23"/>
          <p:cNvSpPr/>
          <p:nvPr/>
        </p:nvSpPr>
        <p:spPr>
          <a:xfrm>
            <a:off x="3520440" y="1828800"/>
            <a:ext cx="91440" cy="2011680"/>
          </a:xfrm>
          <a:prstGeom prst="rect">
            <a:avLst/>
          </a:prstGeom>
          <a:solidFill>
            <a:srgbClr val="65B8A6"/>
          </a:solidFill>
          <a:ln w="12700">
            <a:solidFill>
              <a:srgbClr val="65B8A6"/>
            </a:solidFill>
            <a:prstDash val="solid"/>
          </a:ln>
        </p:spPr>
        <p:txBody>
          <a:bodyPr/>
          <a:lstStyle/>
          <a:p>
            <a:endParaRPr lang="zh-TW" altLang="en-US" sz="1400"/>
          </a:p>
        </p:txBody>
      </p:sp>
      <p:sp>
        <p:nvSpPr>
          <p:cNvPr id="26" name="Text 24"/>
          <p:cNvSpPr/>
          <p:nvPr/>
        </p:nvSpPr>
        <p:spPr>
          <a:xfrm>
            <a:off x="3776472" y="205740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63A35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檢索 chunks</a:t>
            </a:r>
            <a:endParaRPr lang="en-US" sz="16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3776472" y="2523744"/>
            <a:ext cx="18562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47645F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只讀 ready_for_analysis</a:t>
            </a:r>
            <a:endParaRPr lang="en-US" sz="14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47645F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最多三筆</a:t>
            </a:r>
            <a:endParaRPr lang="en-US" sz="14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5916168" y="2624328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37B62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→</a:t>
            </a:r>
            <a:endParaRPr lang="en-US" sz="14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6355080" y="1828800"/>
            <a:ext cx="233172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TW" altLang="en-US" sz="1400"/>
          </a:p>
        </p:txBody>
      </p:sp>
      <p:sp>
        <p:nvSpPr>
          <p:cNvPr id="30" name="Shape 28"/>
          <p:cNvSpPr/>
          <p:nvPr/>
        </p:nvSpPr>
        <p:spPr>
          <a:xfrm>
            <a:off x="6355080" y="1828800"/>
            <a:ext cx="91440" cy="2011680"/>
          </a:xfrm>
          <a:prstGeom prst="rect">
            <a:avLst/>
          </a:prstGeom>
          <a:solidFill>
            <a:srgbClr val="163A35"/>
          </a:solidFill>
          <a:ln w="12700">
            <a:solidFill>
              <a:srgbClr val="163A35"/>
            </a:solidFill>
            <a:prstDash val="solid"/>
          </a:ln>
        </p:spPr>
        <p:txBody>
          <a:bodyPr/>
          <a:lstStyle/>
          <a:p>
            <a:endParaRPr lang="zh-TW" altLang="en-US" sz="1400"/>
          </a:p>
        </p:txBody>
      </p:sp>
      <p:sp>
        <p:nvSpPr>
          <p:cNvPr id="31" name="Text 29"/>
          <p:cNvSpPr/>
          <p:nvPr/>
        </p:nvSpPr>
        <p:spPr>
          <a:xfrm>
            <a:off x="6611112" y="205740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63A35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本機模型</a:t>
            </a:r>
            <a:endParaRPr lang="en-US" sz="16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6611112" y="2523744"/>
            <a:ext cx="18562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47645F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Ollama 回答模型</a:t>
            </a:r>
            <a:endParaRPr lang="en-US" sz="14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47645F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qwen2.5:3b</a:t>
            </a:r>
            <a:endParaRPr lang="en-US" sz="14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8750808" y="2624328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37B62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→</a:t>
            </a:r>
            <a:endParaRPr lang="en-US" sz="14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9189720" y="1828800"/>
            <a:ext cx="233172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TW" altLang="en-US" sz="1400"/>
          </a:p>
        </p:txBody>
      </p:sp>
      <p:sp>
        <p:nvSpPr>
          <p:cNvPr id="35" name="Shape 33"/>
          <p:cNvSpPr/>
          <p:nvPr/>
        </p:nvSpPr>
        <p:spPr>
          <a:xfrm>
            <a:off x="9189720" y="1828800"/>
            <a:ext cx="91440" cy="2011680"/>
          </a:xfrm>
          <a:prstGeom prst="rect">
            <a:avLst/>
          </a:prstGeom>
          <a:solidFill>
            <a:srgbClr val="65B8A6"/>
          </a:solidFill>
          <a:ln w="12700">
            <a:solidFill>
              <a:srgbClr val="65B8A6"/>
            </a:solidFill>
            <a:prstDash val="solid"/>
          </a:ln>
        </p:spPr>
        <p:txBody>
          <a:bodyPr/>
          <a:lstStyle/>
          <a:p>
            <a:endParaRPr lang="zh-TW" altLang="en-US" sz="1400"/>
          </a:p>
        </p:txBody>
      </p:sp>
      <p:sp>
        <p:nvSpPr>
          <p:cNvPr id="36" name="Text 34"/>
          <p:cNvSpPr/>
          <p:nvPr/>
        </p:nvSpPr>
        <p:spPr>
          <a:xfrm>
            <a:off x="9445752" y="205740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63A35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回答＋引用</a:t>
            </a:r>
            <a:endParaRPr lang="en-US" sz="16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9445752" y="2523744"/>
            <a:ext cx="18562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47645F"/>
                </a:solidFill>
                <a:latin typeface="Microsoft JhengHei"/>
                <a:ea typeface="Microsoft JhengHei"/>
              </a:rPr>
              <a:t>答案</a:t>
            </a:r>
          </a:p>
          <a:p>
            <a:pPr marL="0" indent="0">
              <a:buNone/>
            </a:pPr>
            <a:r>
              <a:rPr lang="en-US" sz="1250">
                <a:solidFill>
                  <a:srgbClr val="47645F"/>
                </a:solidFill>
                <a:latin typeface="Microsoft JhengHei"/>
                <a:ea typeface="Microsoft JhengHei"/>
              </a:rPr>
              <a:t>document_id · chunk_id</a:t>
            </a:r>
          </a:p>
          <a:p>
            <a:pPr marL="0" indent="0">
              <a:buNone/>
            </a:pPr>
            <a:r>
              <a:rPr lang="en-US" sz="1250">
                <a:solidFill>
                  <a:srgbClr val="47645F"/>
                </a:solidFill>
                <a:latin typeface="Microsoft JhengHei"/>
                <a:ea typeface="Microsoft JhengHei"/>
              </a:rPr>
              <a:t>source_url · locator</a:t>
            </a:r>
          </a:p>
          <a:p>
            <a:pPr marL="0" indent="0">
              <a:buNone/>
            </a:pPr>
            <a:r>
              <a:rPr lang="en-US" sz="1250">
                <a:solidFill>
                  <a:srgbClr val="47645F"/>
                </a:solidFill>
                <a:latin typeface="Microsoft JhengHei"/>
                <a:ea typeface="Microsoft JhengHei"/>
              </a:rPr>
              <a:t>crawled_at</a:t>
            </a:r>
            <a:endParaRPr lang="en-US" sz="1250"/>
          </a:p>
        </p:txBody>
      </p:sp>
      <p:sp>
        <p:nvSpPr>
          <p:cNvPr id="42" name="文字方塊 41">
            <a:extLst>
              <a:ext uri="{FF2B5EF4-FFF2-40B4-BE49-F238E27FC236}">
                <a16:creationId xmlns:a16="http://schemas.microsoft.com/office/drawing/2014/main" id="{B6D77E68-2835-8C0B-87CE-0AA7A1B1A71A}"/>
              </a:ext>
            </a:extLst>
          </p:cNvPr>
          <p:cNvSpPr txBox="1"/>
          <p:nvPr/>
        </p:nvSpPr>
        <p:spPr>
          <a:xfrm>
            <a:off x="502920" y="6473952"/>
            <a:ext cx="609790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spcAft>
                <a:spcPts val="1200"/>
              </a:spcAft>
              <a:buNone/>
            </a:pPr>
            <a:r>
              <a:rPr lang="en-US" altLang="zh-TW" sz="1050" i="0" dirty="0"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Day3 | </a:t>
            </a:r>
            <a:r>
              <a:rPr lang="zh-TW" altLang="zh-TW" sz="1050" i="0" dirty="0"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生成式人工智慧於文本資料分析</a:t>
            </a:r>
          </a:p>
        </p:txBody>
      </p:sp>
      <p:sp>
        <p:nvSpPr>
          <p:cNvPr id="2" name="Schema definition">
            <a:extLst>
              <a:ext uri="{FF2B5EF4-FFF2-40B4-BE49-F238E27FC236}">
                <a16:creationId xmlns:a16="http://schemas.microsoft.com/office/drawing/2014/main" id="{BE703070-22BF-ED4B-9A14-E6C4C2EB456E}"/>
              </a:ext>
            </a:extLst>
          </p:cNvPr>
          <p:cNvSpPr txBox="1"/>
          <p:nvPr/>
        </p:nvSpPr>
        <p:spPr>
          <a:xfrm>
            <a:off x="838200" y="4470400"/>
            <a:ext cx="10515600" cy="533400"/>
          </a:xfrm>
          <a:prstGeom prst="rect">
            <a:avLst/>
          </a:prstGeom>
          <a:noFill/>
        </p:spPr>
        <p:txBody>
          <a:bodyPr vertOverflow="overflow" vert="horz" wrap="square" rtlCol="0" anchor="t">
            <a:normAutofit/>
          </a:bodyPr>
          <a:lstStyle/>
          <a:p>
            <a:pPr algn="l"/>
            <a:r>
              <a:rPr lang="en-US" altLang="zh-TW" sz="1100">
                <a:solidFill>
                  <a:srgbClr val="47645F"/>
                </a:solidFill>
                <a:latin typeface="Microsoft JhengHei"/>
                <a:ea typeface="Microsoft JhengHei"/>
              </a:rPr>
              <a:t>提示詞 04：最多三筆；不足證據不呼叫模型。</a:t>
            </a:r>
            <a:r>
              <a:rPr lang="zh-TW" altLang="en-US" sz="1100">
                <a:solidFill>
                  <a:srgbClr val="47645F"/>
                </a:solidFill>
                <a:latin typeface="Microsoft JhengHei"/>
                <a:ea typeface="Microsoft JhengHei"/>
              </a:rPr>
              <a:t/>
            </a:r>
            <a:r>
              <a:rPr lang="en-US" altLang="zh-TW" sz="1100">
                <a:solidFill>
                  <a:srgbClr val="47645F"/>
                </a:solidFill>
                <a:latin typeface="Microsoft JhengHei"/>
                <a:ea typeface="Microsoft JhengHei"/>
              </a:rPr>
              <a:t>顯示：status · chunks · scores · 文件 · URL · 段落 · crawled_at</a:t>
            </a:r>
            <a:endParaRPr lang="zh-TW" altLang="en-US" sz="1100">
              <a:solidFill>
                <a:srgbClr val="47645F"/>
              </a:solidFill>
              <a:latin typeface="Microsoft JhengHei"/>
              <a:ea typeface="Microsoft JhengHei"/>
            </a:endParaRPr>
          </a:p>
        </p:txBody>
      </p:sp>
    </p:spTree>
    <p:extLst>
      <p:ext uri="{BB962C8B-B14F-4D97-AF65-F5344CB8AC3E}">
        <p14:creationId xmlns:p14="http://schemas.microsoft.com/office/powerpoint/2010/main" val="40992907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66928" y="667512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163A35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RAG 實測｜有證據時，回答要能回到原文</a:t>
            </a:r>
            <a:endParaRPr lang="en-US" sz="32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8255">
            <a:solidFill>
              <a:srgbClr val="BCD3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064240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667A7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16</a:t>
            </a:r>
            <a:endParaRPr lang="en-US" sz="10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960120" y="1389888"/>
            <a:ext cx="10195560" cy="4434840"/>
          </a:xfrm>
          <a:prstGeom prst="roundRect">
            <a:avLst>
              <a:gd name="adj" fmla="val 164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0" name="Shape 18"/>
          <p:cNvSpPr/>
          <p:nvPr/>
        </p:nvSpPr>
        <p:spPr>
          <a:xfrm>
            <a:off x="1417320" y="1847088"/>
            <a:ext cx="4937760" cy="694944"/>
          </a:xfrm>
          <a:prstGeom prst="roundRect">
            <a:avLst>
              <a:gd name="adj" fmla="val 10526"/>
            </a:avLst>
          </a:prstGeom>
          <a:solidFill>
            <a:srgbClr val="DCE9E3"/>
          </a:solidFill>
          <a:ln w="12700">
            <a:solidFill>
              <a:srgbClr val="DCE9E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Text 19"/>
          <p:cNvSpPr/>
          <p:nvPr/>
        </p:nvSpPr>
        <p:spPr>
          <a:xfrm>
            <a:off x="1691640" y="2057400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163A35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博士生修課計畫最晚何時送所辦？</a:t>
            </a:r>
            <a:endParaRPr lang="en-US" sz="16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5074920" y="2862072"/>
            <a:ext cx="5440680" cy="987552"/>
          </a:xfrm>
          <a:prstGeom prst="roundRect">
            <a:avLst>
              <a:gd name="adj" fmla="val 7407"/>
            </a:avLst>
          </a:prstGeom>
          <a:solidFill>
            <a:srgbClr val="E0F1EC"/>
          </a:solidFill>
          <a:ln w="12700">
            <a:solidFill>
              <a:srgbClr val="E0F1E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3" name="Text 21"/>
          <p:cNvSpPr/>
          <p:nvPr/>
        </p:nvSpPr>
        <p:spPr>
          <a:xfrm>
            <a:off x="5376672" y="3136392"/>
            <a:ext cx="4800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163A35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第一年第一學期結束前</a:t>
            </a:r>
            <a:endParaRPr lang="en-US" sz="19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5376672" y="3493008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150" b="1" dirty="0">
                <a:solidFill>
                  <a:srgbClr val="65B8A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狀態：supported</a:t>
            </a:r>
            <a:endParaRPr lang="en-US" sz="115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1874520" y="4279900"/>
            <a:ext cx="8366760" cy="1270000"/>
          </a:xfrm>
          <a:prstGeom prst="roundRect">
            <a:avLst>
              <a:gd name="adj" fmla="val 10000"/>
            </a:avLst>
          </a:prstGeom>
          <a:solidFill>
            <a:srgbClr val="EDF4F1"/>
          </a:solidFill>
          <a:ln w="12700">
            <a:solidFill>
              <a:srgbClr val="EDF4F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7" name="Text 25"/>
          <p:cNvSpPr/>
          <p:nvPr/>
        </p:nvSpPr>
        <p:spPr>
          <a:xfrm>
            <a:off x="2130552" y="4419600"/>
            <a:ext cx="7909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163A35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引用</a:t>
            </a:r>
            <a:endParaRPr lang="en-US" sz="14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2130552" y="4775200"/>
            <a:ext cx="7891272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150">
                <a:solidFill>
                  <a:srgbClr val="47645F"/>
                </a:solidFill>
                <a:latin typeface="Microsoft JhengHei"/>
                <a:ea typeface="Microsoft JhengHei"/>
              </a:rPr>
              <a:t>document_id: tve-003 ｜ chunk_id: tve-003#001</a:t>
            </a:r>
          </a:p>
          <a:p>
            <a:pPr marL="0" indent="0">
              <a:buNone/>
            </a:pPr>
            <a:r>
              <a:rPr lang="en-US" sz="1150">
                <a:solidFill>
                  <a:srgbClr val="47645F"/>
                </a:solidFill>
                <a:latin typeface="Microsoft JhengHei"/>
                <a:ea typeface="Microsoft JhengHei"/>
              </a:rPr>
              <a:t>source_url: https://tve.yuntech.edu.tw/...</a:t>
            </a:r>
          </a:p>
          <a:p>
            <a:pPr marL="0" indent="0">
              <a:buNone/>
            </a:pPr>
            <a:r>
              <a:rPr lang="en-US" sz="1150">
                <a:solidFill>
                  <a:srgbClr val="47645F"/>
                </a:solidFill>
                <a:latin typeface="Microsoft JhengHei"/>
                <a:ea typeface="Microsoft JhengHei"/>
              </a:rPr>
              <a:t>locator: 四、預定在本校修課學分數／備註</a:t>
            </a:r>
          </a:p>
          <a:p>
            <a:pPr marL="0" indent="0">
              <a:buNone/>
            </a:pPr>
            <a:r>
              <a:rPr lang="en-US" sz="1150">
                <a:solidFill>
                  <a:srgbClr val="47645F"/>
                </a:solidFill>
                <a:latin typeface="Microsoft JhengHei"/>
                <a:ea typeface="Microsoft JhengHei"/>
              </a:rPr>
              <a:t>crawled_at: 2026-07-22T10:12:00+08:00</a:t>
            </a:r>
            <a:endParaRPr lang="en-US" sz="1150"/>
          </a:p>
        </p:txBody>
      </p:sp>
      <p:sp>
        <p:nvSpPr>
          <p:cNvPr id="29" name="Text 27"/>
          <p:cNvSpPr/>
          <p:nvPr/>
        </p:nvSpPr>
        <p:spPr>
          <a:xfrm>
            <a:off x="1828800" y="5867400"/>
            <a:ext cx="8595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3A35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期限、數字、單位名稱都必須可逐字回查。</a:t>
            </a:r>
            <a:endParaRPr lang="en-US" sz="16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A9039133-1A1F-FD31-1669-D665AB3AAED9}"/>
              </a:ext>
            </a:extLst>
          </p:cNvPr>
          <p:cNvSpPr txBox="1"/>
          <p:nvPr/>
        </p:nvSpPr>
        <p:spPr>
          <a:xfrm>
            <a:off x="502920" y="6473952"/>
            <a:ext cx="609790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spcAft>
                <a:spcPts val="1200"/>
              </a:spcAft>
              <a:buNone/>
            </a:pPr>
            <a:r>
              <a:rPr lang="en-US" altLang="zh-TW" sz="1050" i="0" dirty="0"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Day3 | </a:t>
            </a:r>
            <a:r>
              <a:rPr lang="zh-TW" altLang="zh-TW" sz="1050" i="0" dirty="0"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生成式人工智慧於文本資料分析</a:t>
            </a:r>
          </a:p>
        </p:txBody>
      </p:sp>
    </p:spTree>
    <p:extLst>
      <p:ext uri="{BB962C8B-B14F-4D97-AF65-F5344CB8AC3E}">
        <p14:creationId xmlns:p14="http://schemas.microsoft.com/office/powerpoint/2010/main" val="12661476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66928" y="667512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163A35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RAG 實測｜資料沒有說，就明確地說不知道</a:t>
            </a:r>
            <a:endParaRPr lang="en-US" sz="32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8255">
            <a:solidFill>
              <a:srgbClr val="BCD3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064240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667A7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17</a:t>
            </a:r>
            <a:endParaRPr lang="en-US" sz="10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grpSp>
        <p:nvGrpSpPr>
          <p:cNvPr id="45" name="群組 44">
            <a:extLst>
              <a:ext uri="{FF2B5EF4-FFF2-40B4-BE49-F238E27FC236}">
                <a16:creationId xmlns:a16="http://schemas.microsoft.com/office/drawing/2014/main" id="{FEE1F7BB-849C-A4DF-22F3-EBB059ADE0BD}"/>
              </a:ext>
            </a:extLst>
          </p:cNvPr>
          <p:cNvGrpSpPr/>
          <p:nvPr/>
        </p:nvGrpSpPr>
        <p:grpSpPr>
          <a:xfrm>
            <a:off x="868680" y="2071116"/>
            <a:ext cx="10469880" cy="2715768"/>
            <a:chOff x="731520" y="1371600"/>
            <a:chExt cx="10469880" cy="2715768"/>
          </a:xfrm>
        </p:grpSpPr>
        <p:sp>
          <p:nvSpPr>
            <p:cNvPr id="19" name="Shape 17"/>
            <p:cNvSpPr/>
            <p:nvPr/>
          </p:nvSpPr>
          <p:spPr>
            <a:xfrm>
              <a:off x="731520" y="1371600"/>
              <a:ext cx="5166360" cy="2715763"/>
            </a:xfrm>
            <a:prstGeom prst="roundRect">
              <a:avLst>
                <a:gd name="adj" fmla="val 2319"/>
              </a:avLst>
            </a:prstGeom>
            <a:solidFill>
              <a:srgbClr val="FFFF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0" name="Text 18"/>
            <p:cNvSpPr/>
            <p:nvPr/>
          </p:nvSpPr>
          <p:spPr>
            <a:xfrm>
              <a:off x="1078992" y="1783080"/>
              <a:ext cx="44805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>
                <a:buNone/>
              </a:pPr>
              <a:r>
                <a:rPr lang="en-US" sz="1800" b="1" dirty="0">
                  <a:solidFill>
                    <a:srgbClr val="163A35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Noto Sans TC" pitchFamily="34" charset="-120"/>
                </a:rPr>
                <a:t>資格考什麼時候申請？</a:t>
              </a:r>
              <a:endParaRPr lang="en-US" sz="180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</p:txBody>
        </p:sp>
        <p:sp>
          <p:nvSpPr>
            <p:cNvPr id="21" name="Shape 19"/>
            <p:cNvSpPr/>
            <p:nvPr/>
          </p:nvSpPr>
          <p:spPr>
            <a:xfrm>
              <a:off x="1078992" y="2395728"/>
              <a:ext cx="4480560" cy="1005840"/>
            </a:xfrm>
            <a:prstGeom prst="roundRect">
              <a:avLst>
                <a:gd name="adj" fmla="val 7273"/>
              </a:avLst>
            </a:prstGeom>
            <a:solidFill>
              <a:srgbClr val="FDE7E1"/>
            </a:solidFill>
            <a:ln w="12700">
              <a:solidFill>
                <a:srgbClr val="FDE7E1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2" name="Text 20"/>
            <p:cNvSpPr/>
            <p:nvPr/>
          </p:nvSpPr>
          <p:spPr>
            <a:xfrm>
              <a:off x="1371600" y="2697480"/>
              <a:ext cx="3931920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fontScale="92500" lnSpcReduction="10000"/>
            </a:bodyPr>
            <a:lstStyle/>
            <a:p>
              <a:pPr marL="0" indent="0" algn="ctr">
                <a:buNone/>
              </a:pPr>
              <a:r>
                <a:rPr lang="en-US" sz="1650" b="1" dirty="0">
                  <a:solidFill>
                    <a:srgbClr val="163A35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Noto Sans TC" pitchFamily="34" charset="-120"/>
                </a:rPr>
                <a:t>目前語料沒有足夠證據回答此問題。</a:t>
              </a:r>
              <a:endParaRPr lang="en-US" sz="165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</p:txBody>
        </p:sp>
        <p:sp>
          <p:nvSpPr>
            <p:cNvPr id="23" name="Text 21"/>
            <p:cNvSpPr/>
            <p:nvPr/>
          </p:nvSpPr>
          <p:spPr>
            <a:xfrm>
              <a:off x="1307592" y="3182112"/>
              <a:ext cx="4041648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lnSpcReduction="10000"/>
            </a:bodyPr>
            <a:lstStyle/>
            <a:p>
              <a:pPr marL="0" indent="0" algn="ctr">
                <a:buNone/>
              </a:pPr>
              <a:r>
                <a:rPr lang="en-US" sz="1150" b="1" dirty="0">
                  <a:solidFill>
                    <a:srgbClr val="E37B62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Noto Sans TC" pitchFamily="34" charset="-120"/>
                </a:rPr>
                <a:t>狀態：insufficient_evidence</a:t>
              </a:r>
              <a:endParaRPr lang="en-US" sz="115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</p:txBody>
        </p:sp>
        <p:sp>
          <p:nvSpPr>
            <p:cNvPr id="24" name="Shape 22"/>
            <p:cNvSpPr/>
            <p:nvPr/>
          </p:nvSpPr>
          <p:spPr>
            <a:xfrm>
              <a:off x="6537960" y="1371600"/>
              <a:ext cx="2176272" cy="1143000"/>
            </a:xfrm>
            <a:prstGeom prst="roundRect">
              <a:avLst>
                <a:gd name="adj" fmla="val 6400"/>
              </a:avLst>
            </a:prstGeom>
            <a:solidFill>
              <a:srgbClr val="FFFF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5" name="Shape 23"/>
            <p:cNvSpPr/>
            <p:nvPr/>
          </p:nvSpPr>
          <p:spPr>
            <a:xfrm>
              <a:off x="6537960" y="1371600"/>
              <a:ext cx="91440" cy="1143000"/>
            </a:xfrm>
            <a:prstGeom prst="rect">
              <a:avLst/>
            </a:prstGeom>
            <a:solidFill>
              <a:srgbClr val="65B8A6"/>
            </a:solidFill>
            <a:ln w="12700">
              <a:solidFill>
                <a:srgbClr val="65B8A6"/>
              </a:solidFill>
              <a:prstDash val="solid"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6" name="Text 24"/>
            <p:cNvSpPr/>
            <p:nvPr/>
          </p:nvSpPr>
          <p:spPr>
            <a:xfrm>
              <a:off x="6793992" y="1600200"/>
              <a:ext cx="1719072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>
                <a:buNone/>
              </a:pPr>
              <a:r>
                <a:rPr lang="en-US" sz="1800" b="1" dirty="0">
                  <a:solidFill>
                    <a:srgbClr val="163A35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Noto Sans TC" pitchFamily="34" charset="-120"/>
                </a:rPr>
                <a:t>1</a:t>
              </a:r>
              <a:endParaRPr lang="en-US" sz="180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</p:txBody>
        </p:sp>
        <p:sp>
          <p:nvSpPr>
            <p:cNvPr id="27" name="Text 25"/>
            <p:cNvSpPr/>
            <p:nvPr/>
          </p:nvSpPr>
          <p:spPr>
            <a:xfrm>
              <a:off x="6793992" y="2066544"/>
              <a:ext cx="1700784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 marL="0" indent="0">
                <a:buNone/>
              </a:pPr>
              <a:r>
                <a:rPr lang="en-US" sz="1250" dirty="0">
                  <a:solidFill>
                    <a:srgbClr val="47645F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Noto Sans TC" pitchFamily="34" charset="-120"/>
                </a:rPr>
                <a:t>有依據的規章或流程</a:t>
              </a:r>
              <a:endParaRPr lang="en-US" sz="125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</p:txBody>
        </p:sp>
        <p:sp>
          <p:nvSpPr>
            <p:cNvPr id="28" name="Shape 26"/>
            <p:cNvSpPr/>
            <p:nvPr/>
          </p:nvSpPr>
          <p:spPr>
            <a:xfrm>
              <a:off x="9025128" y="1371600"/>
              <a:ext cx="2176272" cy="1143000"/>
            </a:xfrm>
            <a:prstGeom prst="roundRect">
              <a:avLst>
                <a:gd name="adj" fmla="val 6400"/>
              </a:avLst>
            </a:prstGeom>
            <a:solidFill>
              <a:srgbClr val="FFFF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9" name="Shape 27"/>
            <p:cNvSpPr/>
            <p:nvPr/>
          </p:nvSpPr>
          <p:spPr>
            <a:xfrm>
              <a:off x="9025128" y="1371600"/>
              <a:ext cx="91440" cy="1143000"/>
            </a:xfrm>
            <a:prstGeom prst="rect">
              <a:avLst/>
            </a:prstGeom>
            <a:solidFill>
              <a:srgbClr val="F4C95D"/>
            </a:solidFill>
            <a:ln w="12700">
              <a:solidFill>
                <a:srgbClr val="F4C95D"/>
              </a:solidFill>
              <a:prstDash val="solid"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0" name="Text 28"/>
            <p:cNvSpPr/>
            <p:nvPr/>
          </p:nvSpPr>
          <p:spPr>
            <a:xfrm>
              <a:off x="9281160" y="1600200"/>
              <a:ext cx="1719072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>
                <a:buNone/>
              </a:pPr>
              <a:r>
                <a:rPr lang="en-US" sz="1800" b="1" dirty="0">
                  <a:solidFill>
                    <a:srgbClr val="163A35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Noto Sans TC" pitchFamily="34" charset="-120"/>
                </a:rPr>
                <a:t>2</a:t>
              </a:r>
              <a:endParaRPr lang="en-US" sz="180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</p:txBody>
        </p:sp>
        <p:sp>
          <p:nvSpPr>
            <p:cNvPr id="31" name="Text 29"/>
            <p:cNvSpPr/>
            <p:nvPr/>
          </p:nvSpPr>
          <p:spPr>
            <a:xfrm>
              <a:off x="9281160" y="2066544"/>
              <a:ext cx="1700784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 marL="0" indent="0">
                <a:buNone/>
              </a:pPr>
              <a:r>
                <a:rPr lang="en-US" sz="1250" dirty="0">
                  <a:solidFill>
                    <a:srgbClr val="47645F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Noto Sans TC" pitchFamily="34" charset="-120"/>
                </a:rPr>
                <a:t>公開聯絡資訊</a:t>
              </a:r>
              <a:endParaRPr lang="en-US" sz="125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</p:txBody>
        </p:sp>
        <p:sp>
          <p:nvSpPr>
            <p:cNvPr id="32" name="Shape 30"/>
            <p:cNvSpPr/>
            <p:nvPr/>
          </p:nvSpPr>
          <p:spPr>
            <a:xfrm>
              <a:off x="6537960" y="2944368"/>
              <a:ext cx="2176272" cy="1143000"/>
            </a:xfrm>
            <a:prstGeom prst="roundRect">
              <a:avLst>
                <a:gd name="adj" fmla="val 6400"/>
              </a:avLst>
            </a:prstGeom>
            <a:solidFill>
              <a:srgbClr val="FFFF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3" name="Shape 31"/>
            <p:cNvSpPr/>
            <p:nvPr/>
          </p:nvSpPr>
          <p:spPr>
            <a:xfrm>
              <a:off x="6537960" y="2944368"/>
              <a:ext cx="91440" cy="1143000"/>
            </a:xfrm>
            <a:prstGeom prst="rect">
              <a:avLst/>
            </a:prstGeom>
            <a:solidFill>
              <a:srgbClr val="E37B62"/>
            </a:solidFill>
            <a:ln w="12700">
              <a:solidFill>
                <a:srgbClr val="E37B62"/>
              </a:solidFill>
              <a:prstDash val="solid"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4" name="Text 32"/>
            <p:cNvSpPr/>
            <p:nvPr/>
          </p:nvSpPr>
          <p:spPr>
            <a:xfrm>
              <a:off x="6793992" y="3172968"/>
              <a:ext cx="1719072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>
                <a:buNone/>
              </a:pPr>
              <a:r>
                <a:rPr lang="en-US" sz="1800" b="1" dirty="0">
                  <a:solidFill>
                    <a:srgbClr val="163A35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Noto Sans TC" pitchFamily="34" charset="-120"/>
                </a:rPr>
                <a:t>3</a:t>
              </a:r>
              <a:endParaRPr lang="en-US" sz="180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</p:txBody>
        </p:sp>
        <p:sp>
          <p:nvSpPr>
            <p:cNvPr id="35" name="Text 33"/>
            <p:cNvSpPr/>
            <p:nvPr/>
          </p:nvSpPr>
          <p:spPr>
            <a:xfrm>
              <a:off x="6793992" y="3639312"/>
              <a:ext cx="1700784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 marL="0" indent="0">
                <a:buNone/>
              </a:pPr>
              <a:r>
                <a:rPr lang="en-US" sz="1250" dirty="0">
                  <a:solidFill>
                    <a:srgbClr val="47645F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Noto Sans TC" pitchFamily="34" charset="-120"/>
                </a:rPr>
                <a:t>模糊問題</a:t>
              </a:r>
              <a:endParaRPr lang="en-US" sz="125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</p:txBody>
        </p:sp>
        <p:sp>
          <p:nvSpPr>
            <p:cNvPr id="36" name="Shape 34"/>
            <p:cNvSpPr/>
            <p:nvPr/>
          </p:nvSpPr>
          <p:spPr>
            <a:xfrm>
              <a:off x="9025128" y="2944368"/>
              <a:ext cx="2176272" cy="1143000"/>
            </a:xfrm>
            <a:prstGeom prst="roundRect">
              <a:avLst>
                <a:gd name="adj" fmla="val 6400"/>
              </a:avLst>
            </a:prstGeom>
            <a:solidFill>
              <a:srgbClr val="FFFF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7" name="Shape 35"/>
            <p:cNvSpPr/>
            <p:nvPr/>
          </p:nvSpPr>
          <p:spPr>
            <a:xfrm>
              <a:off x="9025128" y="2944368"/>
              <a:ext cx="91440" cy="1143000"/>
            </a:xfrm>
            <a:prstGeom prst="rect">
              <a:avLst/>
            </a:prstGeom>
            <a:solidFill>
              <a:srgbClr val="47645F"/>
            </a:solidFill>
            <a:ln w="12700">
              <a:solidFill>
                <a:srgbClr val="47645F"/>
              </a:solidFill>
              <a:prstDash val="solid"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8" name="Text 36"/>
            <p:cNvSpPr/>
            <p:nvPr/>
          </p:nvSpPr>
          <p:spPr>
            <a:xfrm>
              <a:off x="9281160" y="3172968"/>
              <a:ext cx="1719072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>
                <a:buNone/>
              </a:pPr>
              <a:r>
                <a:rPr lang="en-US" sz="1800" b="1" dirty="0">
                  <a:solidFill>
                    <a:srgbClr val="163A35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Noto Sans TC" pitchFamily="34" charset="-120"/>
                </a:rPr>
                <a:t>4</a:t>
              </a:r>
              <a:endParaRPr lang="en-US" sz="180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</p:txBody>
        </p:sp>
        <p:sp>
          <p:nvSpPr>
            <p:cNvPr id="39" name="Text 37"/>
            <p:cNvSpPr/>
            <p:nvPr/>
          </p:nvSpPr>
          <p:spPr>
            <a:xfrm>
              <a:off x="9281160" y="3639312"/>
              <a:ext cx="1700784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 marL="0" indent="0">
                <a:buNone/>
              </a:pPr>
              <a:r>
                <a:rPr lang="en-US" sz="1250" dirty="0">
                  <a:solidFill>
                    <a:srgbClr val="47645F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Noto Sans TC" pitchFamily="34" charset="-120"/>
                </a:rPr>
                <a:t>語料範圍外問題</a:t>
              </a:r>
              <a:endParaRPr lang="en-US" sz="1250" dirty="0">
                <a:latin typeface="Microsoft JhengHei" panose="020B0604030504040204" pitchFamily="34" charset="-120"/>
                <a:ea typeface="Microsoft JhengHei" panose="020B0604030504040204" pitchFamily="34" charset="-120"/>
              </a:endParaRPr>
            </a:p>
          </p:txBody>
        </p:sp>
      </p:grp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A5580994-AAB8-5B19-DCE2-39BA8B00F5A3}"/>
              </a:ext>
            </a:extLst>
          </p:cNvPr>
          <p:cNvSpPr txBox="1"/>
          <p:nvPr/>
        </p:nvSpPr>
        <p:spPr>
          <a:xfrm>
            <a:off x="502920" y="6473952"/>
            <a:ext cx="609790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spcAft>
                <a:spcPts val="1200"/>
              </a:spcAft>
              <a:buNone/>
            </a:pPr>
            <a:r>
              <a:rPr lang="en-US" altLang="zh-TW" sz="1050" i="0" dirty="0"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Day3 | </a:t>
            </a:r>
            <a:r>
              <a:rPr lang="zh-TW" altLang="zh-TW" sz="1050" i="0" dirty="0"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生成式人工智慧於文本資料分析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66928" y="667512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63A35"/>
                </a:solidFill>
                <a:latin typeface="Microsoft JhengHei"/>
                <a:ea typeface="Microsoft JhengHei"/>
              </a:rPr>
              <a:t>Step 05｜問答歷程：每次問答都留下改善訊號</a:t>
            </a:r>
            <a:endParaRPr lang="en-US" sz="3000"/>
          </a:p>
        </p:txBody>
      </p:sp>
      <p:sp>
        <p:nvSpPr>
          <p:cNvPr id="4" name="Shape 2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8255">
            <a:solidFill>
              <a:srgbClr val="BCD3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064240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667A7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18</a:t>
            </a:r>
            <a:endParaRPr lang="en-US" sz="10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731520" y="1869948"/>
            <a:ext cx="10881360" cy="361188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0" name="Shape 18"/>
          <p:cNvSpPr/>
          <p:nvPr/>
        </p:nvSpPr>
        <p:spPr>
          <a:xfrm>
            <a:off x="868680" y="2253996"/>
            <a:ext cx="1417320" cy="475488"/>
          </a:xfrm>
          <a:prstGeom prst="rect">
            <a:avLst/>
          </a:prstGeom>
          <a:solidFill>
            <a:srgbClr val="163A35"/>
          </a:solidFill>
          <a:ln w="12700">
            <a:solidFill>
              <a:srgbClr val="163A3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TW" altLang="en-US" sz="1400"/>
          </a:p>
        </p:txBody>
      </p:sp>
      <p:sp>
        <p:nvSpPr>
          <p:cNvPr id="21" name="Text 19"/>
          <p:cNvSpPr/>
          <p:nvPr/>
        </p:nvSpPr>
        <p:spPr>
          <a:xfrm>
            <a:off x="941832" y="2400300"/>
            <a:ext cx="12710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query_id</a:t>
            </a:r>
            <a:endParaRPr lang="en-US" sz="14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2286000" y="2253996"/>
            <a:ext cx="3063240" cy="475488"/>
          </a:xfrm>
          <a:prstGeom prst="rect">
            <a:avLst/>
          </a:prstGeom>
          <a:solidFill>
            <a:srgbClr val="163A35"/>
          </a:solidFill>
          <a:ln w="12700">
            <a:solidFill>
              <a:srgbClr val="163A3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TW" altLang="en-US" sz="1400"/>
          </a:p>
        </p:txBody>
      </p:sp>
      <p:sp>
        <p:nvSpPr>
          <p:cNvPr id="23" name="Text 21"/>
          <p:cNvSpPr/>
          <p:nvPr/>
        </p:nvSpPr>
        <p:spPr>
          <a:xfrm>
            <a:off x="2359152" y="2400300"/>
            <a:ext cx="291693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question</a:t>
            </a:r>
            <a:endParaRPr lang="en-US" sz="14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5349240" y="2253996"/>
            <a:ext cx="1920240" cy="475488"/>
          </a:xfrm>
          <a:prstGeom prst="rect">
            <a:avLst/>
          </a:prstGeom>
          <a:solidFill>
            <a:srgbClr val="163A35"/>
          </a:solidFill>
          <a:ln w="12700">
            <a:solidFill>
              <a:srgbClr val="163A3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TW" altLang="en-US" sz="1400"/>
          </a:p>
        </p:txBody>
      </p:sp>
      <p:sp>
        <p:nvSpPr>
          <p:cNvPr id="25" name="Text 23"/>
          <p:cNvSpPr/>
          <p:nvPr/>
        </p:nvSpPr>
        <p:spPr>
          <a:xfrm>
            <a:off x="5422392" y="2400300"/>
            <a:ext cx="177393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answer／status</a:t>
            </a:r>
            <a:endParaRPr lang="en-US" sz="14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7269480" y="2253996"/>
            <a:ext cx="2103120" cy="475488"/>
          </a:xfrm>
          <a:prstGeom prst="rect">
            <a:avLst/>
          </a:prstGeom>
          <a:solidFill>
            <a:srgbClr val="163A35"/>
          </a:solidFill>
          <a:ln w="12700">
            <a:solidFill>
              <a:srgbClr val="163A3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TW" altLang="en-US" sz="1400"/>
          </a:p>
        </p:txBody>
      </p:sp>
      <p:sp>
        <p:nvSpPr>
          <p:cNvPr id="27" name="Text 25"/>
          <p:cNvSpPr/>
          <p:nvPr/>
        </p:nvSpPr>
        <p:spPr>
          <a:xfrm>
            <a:off x="7342632" y="2400300"/>
            <a:ext cx="19568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cited_chunk_ids</a:t>
            </a:r>
            <a:endParaRPr lang="en-US" sz="14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9372600" y="2253996"/>
            <a:ext cx="2148840" cy="475488"/>
          </a:xfrm>
          <a:prstGeom prst="rect">
            <a:avLst/>
          </a:prstGeom>
          <a:solidFill>
            <a:srgbClr val="163A35"/>
          </a:solidFill>
          <a:ln w="12700">
            <a:solidFill>
              <a:srgbClr val="163A3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TW" altLang="en-US" sz="1400"/>
          </a:p>
        </p:txBody>
      </p:sp>
      <p:sp>
        <p:nvSpPr>
          <p:cNvPr id="29" name="Text 27"/>
          <p:cNvSpPr/>
          <p:nvPr/>
        </p:nvSpPr>
        <p:spPr>
          <a:xfrm>
            <a:off x="9445752" y="2400300"/>
            <a:ext cx="200253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self_test_note</a:t>
            </a:r>
            <a:endParaRPr lang="en-US" sz="14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868680" y="2729484"/>
            <a:ext cx="1417320" cy="859536"/>
          </a:xfrm>
          <a:prstGeom prst="rect">
            <a:avLst/>
          </a:prstGeom>
          <a:solidFill>
            <a:srgbClr val="EDF4F1"/>
          </a:solidFill>
          <a:ln w="12700">
            <a:solidFill>
              <a:srgbClr val="BCD3CC"/>
            </a:solidFill>
            <a:prstDash val="solid"/>
          </a:ln>
        </p:spPr>
        <p:txBody>
          <a:bodyPr/>
          <a:lstStyle/>
          <a:p>
            <a:endParaRPr lang="zh-TW" altLang="en-US" sz="1400"/>
          </a:p>
        </p:txBody>
      </p:sp>
      <p:sp>
        <p:nvSpPr>
          <p:cNvPr id="31" name="Text 29"/>
          <p:cNvSpPr/>
          <p:nvPr/>
        </p:nvSpPr>
        <p:spPr>
          <a:xfrm>
            <a:off x="960120" y="2994660"/>
            <a:ext cx="1234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63A35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q-103</a:t>
            </a:r>
            <a:endParaRPr lang="en-US" sz="14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2286000" y="2729484"/>
            <a:ext cx="3063240" cy="859536"/>
          </a:xfrm>
          <a:prstGeom prst="rect">
            <a:avLst/>
          </a:prstGeom>
          <a:solidFill>
            <a:srgbClr val="EDF4F1"/>
          </a:solidFill>
          <a:ln w="12700">
            <a:solidFill>
              <a:srgbClr val="BCD3CC"/>
            </a:solidFill>
            <a:prstDash val="solid"/>
          </a:ln>
        </p:spPr>
        <p:txBody>
          <a:bodyPr/>
          <a:lstStyle/>
          <a:p>
            <a:endParaRPr lang="zh-TW" altLang="en-US" sz="1400"/>
          </a:p>
        </p:txBody>
      </p:sp>
      <p:sp>
        <p:nvSpPr>
          <p:cNvPr id="33" name="Text 31"/>
          <p:cNvSpPr/>
          <p:nvPr/>
        </p:nvSpPr>
        <p:spPr>
          <a:xfrm>
            <a:off x="2377440" y="2994660"/>
            <a:ext cx="2880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63A35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資格考何時申請？</a:t>
            </a:r>
            <a:endParaRPr lang="en-US" sz="14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5349240" y="2729484"/>
            <a:ext cx="1920240" cy="859536"/>
          </a:xfrm>
          <a:prstGeom prst="rect">
            <a:avLst/>
          </a:prstGeom>
          <a:solidFill>
            <a:srgbClr val="EDF4F1"/>
          </a:solidFill>
          <a:ln w="12700">
            <a:solidFill>
              <a:srgbClr val="BCD3CC"/>
            </a:solidFill>
            <a:prstDash val="solid"/>
          </a:ln>
        </p:spPr>
        <p:txBody>
          <a:bodyPr/>
          <a:lstStyle/>
          <a:p>
            <a:endParaRPr lang="zh-TW" altLang="en-US" sz="1400"/>
          </a:p>
        </p:txBody>
      </p:sp>
      <p:sp>
        <p:nvSpPr>
          <p:cNvPr id="35" name="Text 33"/>
          <p:cNvSpPr/>
          <p:nvPr/>
        </p:nvSpPr>
        <p:spPr>
          <a:xfrm>
            <a:off x="5440680" y="2994660"/>
            <a:ext cx="1737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63A35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不足證據</a:t>
            </a:r>
            <a:endParaRPr lang="en-US" sz="14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7269480" y="2729484"/>
            <a:ext cx="2103120" cy="859536"/>
          </a:xfrm>
          <a:prstGeom prst="rect">
            <a:avLst/>
          </a:prstGeom>
          <a:solidFill>
            <a:srgbClr val="EDF4F1"/>
          </a:solidFill>
          <a:ln w="12700">
            <a:solidFill>
              <a:srgbClr val="BCD3CC"/>
            </a:solidFill>
            <a:prstDash val="solid"/>
          </a:ln>
        </p:spPr>
        <p:txBody>
          <a:bodyPr/>
          <a:lstStyle/>
          <a:p>
            <a:endParaRPr lang="zh-TW" altLang="en-US" sz="1400"/>
          </a:p>
        </p:txBody>
      </p:sp>
      <p:sp>
        <p:nvSpPr>
          <p:cNvPr id="37" name="Text 35"/>
          <p:cNvSpPr/>
          <p:nvPr/>
        </p:nvSpPr>
        <p:spPr>
          <a:xfrm>
            <a:off x="7360920" y="2994660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63A35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[]</a:t>
            </a:r>
            <a:endParaRPr lang="en-US" sz="14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9372600" y="2729484"/>
            <a:ext cx="2148840" cy="859536"/>
          </a:xfrm>
          <a:prstGeom prst="rect">
            <a:avLst/>
          </a:prstGeom>
          <a:solidFill>
            <a:srgbClr val="EDF4F1"/>
          </a:solidFill>
          <a:ln w="12700">
            <a:solidFill>
              <a:srgbClr val="BCD3CC"/>
            </a:solidFill>
            <a:prstDash val="solid"/>
          </a:ln>
        </p:spPr>
        <p:txBody>
          <a:bodyPr/>
          <a:lstStyle/>
          <a:p>
            <a:endParaRPr lang="zh-TW" altLang="en-US" sz="1400"/>
          </a:p>
        </p:txBody>
      </p:sp>
      <p:sp>
        <p:nvSpPr>
          <p:cNvPr id="39" name="Text 37"/>
          <p:cNvSpPr/>
          <p:nvPr/>
        </p:nvSpPr>
        <p:spPr>
          <a:xfrm>
            <a:off x="9464040" y="2994660"/>
            <a:ext cx="1965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63A35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缺少資格考規章</a:t>
            </a:r>
            <a:endParaRPr lang="en-US" sz="14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1143000" y="4183380"/>
            <a:ext cx="9784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63A35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提示詞 05：從 query_log 產出可回連的改善 backlog。</a:t>
            </a:r>
            <a:endParaRPr lang="en-US" sz="18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45" name="文字方塊 44">
            <a:extLst>
              <a:ext uri="{FF2B5EF4-FFF2-40B4-BE49-F238E27FC236}">
                <a16:creationId xmlns:a16="http://schemas.microsoft.com/office/drawing/2014/main" id="{7C85E3BB-2972-ED49-DBC7-21C463A58E00}"/>
              </a:ext>
            </a:extLst>
          </p:cNvPr>
          <p:cNvSpPr txBox="1"/>
          <p:nvPr/>
        </p:nvSpPr>
        <p:spPr>
          <a:xfrm>
            <a:off x="502920" y="6473952"/>
            <a:ext cx="609790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spcAft>
                <a:spcPts val="1200"/>
              </a:spcAft>
              <a:buNone/>
            </a:pPr>
            <a:r>
              <a:rPr lang="en-US" altLang="zh-TW" sz="1050" i="0" dirty="0"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Day3 | </a:t>
            </a:r>
            <a:r>
              <a:rPr lang="zh-TW" altLang="zh-TW" sz="1050" i="0" dirty="0"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生成式人工智慧於文本資料分析</a:t>
            </a:r>
          </a:p>
        </p:txBody>
      </p:sp>
    </p:spTree>
    <p:extLst>
      <p:ext uri="{BB962C8B-B14F-4D97-AF65-F5344CB8AC3E}">
        <p14:creationId xmlns:p14="http://schemas.microsoft.com/office/powerpoint/2010/main" val="218773557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66928" y="667512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63A35"/>
                </a:solidFill>
                <a:latin typeface="Microsoft JhengHei"/>
                <a:ea typeface="Microsoft JhengHei"/>
              </a:rPr>
              <a:t>改善 backlog｜feedback/improvement_backlog.md</a:t>
            </a:r>
            <a:endParaRPr lang="en-US" sz="3000"/>
          </a:p>
        </p:txBody>
      </p:sp>
      <p:sp>
        <p:nvSpPr>
          <p:cNvPr id="4" name="Shape 2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8255">
            <a:solidFill>
              <a:srgbClr val="BCD3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064240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667A7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19</a:t>
            </a:r>
            <a:endParaRPr lang="en-US" sz="10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731520" y="1828800"/>
            <a:ext cx="2359152" cy="2240280"/>
          </a:xfrm>
          <a:prstGeom prst="roundRect">
            <a:avLst>
              <a:gd name="adj" fmla="val 326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0" name="Shape 18"/>
          <p:cNvSpPr/>
          <p:nvPr/>
        </p:nvSpPr>
        <p:spPr>
          <a:xfrm>
            <a:off x="731520" y="1828800"/>
            <a:ext cx="91440" cy="2240280"/>
          </a:xfrm>
          <a:prstGeom prst="rect">
            <a:avLst/>
          </a:prstGeom>
          <a:solidFill>
            <a:srgbClr val="E37B62"/>
          </a:solidFill>
          <a:ln w="12700">
            <a:solidFill>
              <a:srgbClr val="E37B62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Text 19"/>
          <p:cNvSpPr/>
          <p:nvPr/>
        </p:nvSpPr>
        <p:spPr>
          <a:xfrm>
            <a:off x="987552" y="2057400"/>
            <a:ext cx="1901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163A35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現象</a:t>
            </a:r>
            <a:endParaRPr lang="en-US" sz="19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987552" y="2523744"/>
            <a:ext cx="18836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47645F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資格考問題</a:t>
            </a:r>
            <a:endParaRPr lang="en-US" sz="15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marL="0" indent="0">
              <a:buNone/>
            </a:pPr>
            <a:r>
              <a:rPr lang="en-US" sz="1500" dirty="0">
                <a:solidFill>
                  <a:srgbClr val="47645F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反覆無法回答</a:t>
            </a:r>
            <a:endParaRPr lang="en-US" sz="15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3154680" y="26974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E37B62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→</a:t>
            </a:r>
            <a:endParaRPr lang="en-US" sz="25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3566160" y="1828800"/>
            <a:ext cx="2359152" cy="2240280"/>
          </a:xfrm>
          <a:prstGeom prst="roundRect">
            <a:avLst>
              <a:gd name="adj" fmla="val 326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Shape 23"/>
          <p:cNvSpPr/>
          <p:nvPr/>
        </p:nvSpPr>
        <p:spPr>
          <a:xfrm>
            <a:off x="3566160" y="1828800"/>
            <a:ext cx="91440" cy="2240280"/>
          </a:xfrm>
          <a:prstGeom prst="rect">
            <a:avLst/>
          </a:prstGeom>
          <a:solidFill>
            <a:srgbClr val="F4C95D"/>
          </a:solidFill>
          <a:ln w="12700">
            <a:solidFill>
              <a:srgbClr val="F4C95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6" name="Text 24"/>
          <p:cNvSpPr/>
          <p:nvPr/>
        </p:nvSpPr>
        <p:spPr>
          <a:xfrm>
            <a:off x="3822192" y="2057400"/>
            <a:ext cx="1901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163A35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證據</a:t>
            </a:r>
            <a:endParaRPr lang="en-US" sz="19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3822192" y="2523744"/>
            <a:ext cx="18836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47645F"/>
                </a:solidFill>
                <a:latin typeface="Microsoft JhengHei"/>
                <a:ea typeface="Microsoft JhengHei"/>
              </a:rPr>
              <a:t>query_id</a:t>
            </a:r>
          </a:p>
          <a:p>
            <a:pPr marL="0" indent="0">
              <a:buNone/>
            </a:pPr>
            <a:r>
              <a:rPr lang="en-US" sz="1400">
                <a:solidFill>
                  <a:srgbClr val="47645F"/>
                </a:solidFill>
                <a:latin typeface="Microsoft JhengHei"/>
                <a:ea typeface="Microsoft JhengHei"/>
              </a:rPr>
              <a:t>狀態 · 引用</a:t>
            </a:r>
            <a:endParaRPr lang="en-US" sz="1400"/>
          </a:p>
        </p:txBody>
      </p:sp>
      <p:sp>
        <p:nvSpPr>
          <p:cNvPr id="28" name="Text 26"/>
          <p:cNvSpPr/>
          <p:nvPr/>
        </p:nvSpPr>
        <p:spPr>
          <a:xfrm>
            <a:off x="5989320" y="26974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E37B62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→</a:t>
            </a:r>
            <a:endParaRPr lang="en-US" sz="25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6400800" y="1828800"/>
            <a:ext cx="2359152" cy="2240280"/>
          </a:xfrm>
          <a:prstGeom prst="roundRect">
            <a:avLst>
              <a:gd name="adj" fmla="val 326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0" name="Shape 28"/>
          <p:cNvSpPr/>
          <p:nvPr/>
        </p:nvSpPr>
        <p:spPr>
          <a:xfrm>
            <a:off x="6400800" y="1828800"/>
            <a:ext cx="91440" cy="2240280"/>
          </a:xfrm>
          <a:prstGeom prst="rect">
            <a:avLst/>
          </a:prstGeom>
          <a:solidFill>
            <a:srgbClr val="47645F"/>
          </a:solidFill>
          <a:ln w="12700">
            <a:solidFill>
              <a:srgbClr val="47645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1" name="Text 29"/>
          <p:cNvSpPr/>
          <p:nvPr/>
        </p:nvSpPr>
        <p:spPr>
          <a:xfrm>
            <a:off x="6656832" y="2057400"/>
            <a:ext cx="1901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163A35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原因</a:t>
            </a:r>
            <a:endParaRPr lang="en-US" sz="19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6656832" y="2523744"/>
            <a:ext cx="18836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47645F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缺少規章</a:t>
            </a:r>
            <a:endParaRPr lang="en-US" sz="15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marL="0" indent="0">
              <a:buNone/>
            </a:pPr>
            <a:r>
              <a:rPr lang="en-US" sz="1500" dirty="0">
                <a:solidFill>
                  <a:srgbClr val="47645F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或解析失敗</a:t>
            </a:r>
            <a:endParaRPr lang="en-US" sz="15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8823960" y="26974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E37B62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→</a:t>
            </a:r>
            <a:endParaRPr lang="en-US" sz="25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9235440" y="1828800"/>
            <a:ext cx="2359152" cy="2240280"/>
          </a:xfrm>
          <a:prstGeom prst="roundRect">
            <a:avLst>
              <a:gd name="adj" fmla="val 326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5" name="Shape 33"/>
          <p:cNvSpPr/>
          <p:nvPr/>
        </p:nvSpPr>
        <p:spPr>
          <a:xfrm>
            <a:off x="9235440" y="1828800"/>
            <a:ext cx="91440" cy="2240280"/>
          </a:xfrm>
          <a:prstGeom prst="rect">
            <a:avLst/>
          </a:prstGeom>
          <a:solidFill>
            <a:srgbClr val="65B8A6"/>
          </a:solidFill>
          <a:ln w="12700">
            <a:solidFill>
              <a:srgbClr val="65B8A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6" name="Text 34"/>
          <p:cNvSpPr/>
          <p:nvPr/>
        </p:nvSpPr>
        <p:spPr>
          <a:xfrm>
            <a:off x="9491472" y="2057400"/>
            <a:ext cx="1901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163A35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動作</a:t>
            </a:r>
            <a:endParaRPr lang="en-US" sz="19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9491472" y="2523744"/>
            <a:ext cx="18836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47645F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五種允許動作</a:t>
            </a:r>
            <a:endParaRPr lang="en-US" sz="15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marL="0" indent="0">
              <a:buNone/>
            </a:pPr>
            <a:r>
              <a:rPr lang="en-US" sz="1500" dirty="0">
                <a:solidFill>
                  <a:srgbClr val="47645F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擇一執行</a:t>
            </a:r>
            <a:endParaRPr lang="en-US" sz="15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F2AF8CDE-CB5A-1127-B8B5-1843EA0D94EF}"/>
              </a:ext>
            </a:extLst>
          </p:cNvPr>
          <p:cNvSpPr txBox="1"/>
          <p:nvPr/>
        </p:nvSpPr>
        <p:spPr>
          <a:xfrm>
            <a:off x="502920" y="6473952"/>
            <a:ext cx="609790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spcAft>
                <a:spcPts val="1200"/>
              </a:spcAft>
              <a:buNone/>
            </a:pPr>
            <a:r>
              <a:rPr lang="en-US" altLang="zh-TW" sz="1050" i="0" dirty="0"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Day3 | </a:t>
            </a:r>
            <a:r>
              <a:rPr lang="zh-TW" altLang="zh-TW" sz="1050" i="0" dirty="0"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生成式人工智慧於文本資料分析</a:t>
            </a:r>
          </a:p>
        </p:txBody>
      </p:sp>
      <p:sp>
        <p:nvSpPr>
          <p:cNvPr id="2" name="Schema definition">
            <a:extLst>
              <a:ext uri="{FF2B5EF4-FFF2-40B4-BE49-F238E27FC236}">
                <a16:creationId xmlns:a16="http://schemas.microsoft.com/office/drawing/2014/main" id="{0414ECF5-9A2F-EF47-B60E-1D1D73852C94}"/>
              </a:ext>
            </a:extLst>
          </p:cNvPr>
          <p:cNvSpPr txBox="1"/>
          <p:nvPr/>
        </p:nvSpPr>
        <p:spPr>
          <a:xfrm>
            <a:off x="838200" y="4445000"/>
            <a:ext cx="10515600" cy="533400"/>
          </a:xfrm>
          <a:prstGeom prst="rect">
            <a:avLst/>
          </a:prstGeom>
          <a:noFill/>
        </p:spPr>
        <p:txBody>
          <a:bodyPr vertOverflow="overflow" vert="horz" wrap="square" rtlCol="0" anchor="t">
            <a:normAutofit/>
          </a:bodyPr>
          <a:lstStyle/>
          <a:p>
            <a:pPr algn="l"/>
            <a:r>
              <a:rPr lang="en-US" altLang="zh-TW" sz="1100">
                <a:solidFill>
                  <a:srgbClr val="47645F"/>
                </a:solidFill>
                <a:latin typeface="Microsoft JhengHei"/>
                <a:ea typeface="Microsoft JhengHei"/>
              </a:rPr>
              <a:t>每項至少包含</a:t>
            </a:r>
            <a:r>
              <a:rPr lang="zh-TW" altLang="en-US" sz="1100">
                <a:solidFill>
                  <a:srgbClr val="47645F"/>
                </a:solidFill>
                <a:latin typeface="Microsoft JhengHei"/>
                <a:ea typeface="Microsoft JhengHei"/>
              </a:rPr>
              <a:t>：</a:t>
            </a:r>
            <a:r>
              <a:rPr lang="en-US" altLang="zh-TW" sz="1100">
                <a:solidFill>
                  <a:srgbClr val="47645F"/>
                </a:solidFill>
                <a:latin typeface="Microsoft JhengHei"/>
                <a:ea typeface="Microsoft JhengHei"/>
              </a:rPr>
              <a:t>add_source · repair_parse · revise_chunking_or_metadata · improve_retrieval · revise_prompt</a:t>
            </a:r>
            <a:endParaRPr lang="zh-TW" altLang="en-US" sz="1100">
              <a:solidFill>
                <a:srgbClr val="47645F"/>
              </a:solidFill>
              <a:latin typeface="Microsoft JhengHei"/>
              <a:ea typeface="Microsoft JhengHei"/>
            </a:endParaRPr>
          </a:p>
        </p:txBody>
      </p:sp>
    </p:spTree>
    <p:extLst>
      <p:ext uri="{BB962C8B-B14F-4D97-AF65-F5344CB8AC3E}">
        <p14:creationId xmlns:p14="http://schemas.microsoft.com/office/powerpoint/2010/main" val="186404768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66928" y="667512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163A35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自我完成檢核：五個可驗證的成果</a:t>
            </a:r>
            <a:endParaRPr lang="en-US" sz="32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8255">
            <a:solidFill>
              <a:srgbClr val="BCD3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064240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667A7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20</a:t>
            </a:r>
            <a:endParaRPr lang="en-US" sz="10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713232" y="1874520"/>
            <a:ext cx="1920240" cy="2487168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0" name="Text 18"/>
          <p:cNvSpPr/>
          <p:nvPr/>
        </p:nvSpPr>
        <p:spPr>
          <a:xfrm>
            <a:off x="914400" y="2148840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E37B62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01</a:t>
            </a:r>
            <a:endParaRPr lang="en-US" sz="23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914400" y="278892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163A35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範圍與原始資料</a:t>
            </a:r>
            <a:endParaRPr lang="en-US" sz="155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914400" y="3547872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667A7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crawl_scope · raw · manifest</a:t>
            </a:r>
            <a:endParaRPr lang="en-US" sz="105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2999232" y="1874520"/>
            <a:ext cx="1920240" cy="2487168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4" name="Text 22"/>
          <p:cNvSpPr/>
          <p:nvPr/>
        </p:nvSpPr>
        <p:spPr>
          <a:xfrm>
            <a:off x="3200400" y="2148840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E37B62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02</a:t>
            </a:r>
            <a:endParaRPr lang="en-US" sz="23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3200400" y="278892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163A35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Markdown 與品質</a:t>
            </a:r>
            <a:endParaRPr lang="en-US" sz="155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3200400" y="3454400"/>
            <a:ext cx="15087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667A76"/>
                </a:solidFill>
                <a:latin typeface="Microsoft JhengHei"/>
                <a:ea typeface="Microsoft JhengHei"/>
              </a:rPr>
              <a:t>markdown · quality_report.jsonl</a:t>
            </a:r>
            <a:endParaRPr lang="en-US" sz="1000"/>
          </a:p>
        </p:txBody>
      </p:sp>
      <p:sp>
        <p:nvSpPr>
          <p:cNvPr id="27" name="Shape 25"/>
          <p:cNvSpPr/>
          <p:nvPr/>
        </p:nvSpPr>
        <p:spPr>
          <a:xfrm>
            <a:off x="5285232" y="1874520"/>
            <a:ext cx="1920240" cy="2487168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8" name="Text 26"/>
          <p:cNvSpPr/>
          <p:nvPr/>
        </p:nvSpPr>
        <p:spPr>
          <a:xfrm>
            <a:off x="5486400" y="2148840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E37B62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03</a:t>
            </a:r>
            <a:endParaRPr lang="en-US" sz="23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5486400" y="278892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163A35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chunks 與分析</a:t>
            </a:r>
            <a:endParaRPr lang="en-US" sz="155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5486400" y="3454400"/>
            <a:ext cx="15087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667A76"/>
                </a:solidFill>
                <a:latin typeface="Microsoft JhengHei"/>
                <a:ea typeface="Microsoft JhengHei"/>
              </a:rPr>
              <a:t>chunks.jsonl · text_analysis.md</a:t>
            </a:r>
            <a:endParaRPr lang="en-US" sz="1000"/>
          </a:p>
        </p:txBody>
      </p:sp>
      <p:sp>
        <p:nvSpPr>
          <p:cNvPr id="31" name="Shape 29"/>
          <p:cNvSpPr/>
          <p:nvPr/>
        </p:nvSpPr>
        <p:spPr>
          <a:xfrm>
            <a:off x="7571232" y="1874520"/>
            <a:ext cx="1920240" cy="2487168"/>
          </a:xfrm>
          <a:prstGeom prst="roundRect">
            <a:avLst>
              <a:gd name="adj" fmla="val 3810"/>
            </a:avLst>
          </a:prstGeom>
          <a:solidFill>
            <a:srgbClr val="E0F1EC"/>
          </a:solidFill>
          <a:ln w="12700">
            <a:solidFill>
              <a:srgbClr val="E0F1E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2" name="Text 30"/>
          <p:cNvSpPr/>
          <p:nvPr/>
        </p:nvSpPr>
        <p:spPr>
          <a:xfrm>
            <a:off x="7772400" y="2148840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65B8A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04</a:t>
            </a:r>
            <a:endParaRPr lang="en-US" sz="23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7772400" y="278892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163A35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可引用問答＋歷程</a:t>
            </a:r>
            <a:endParaRPr lang="en-US" sz="155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7772400" y="3454400"/>
            <a:ext cx="15087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667A76"/>
                </a:solidFill>
                <a:latin typeface="Microsoft JhengHei"/>
                <a:ea typeface="Microsoft JhengHei"/>
              </a:rPr>
              <a:t>Streamlit · 問答＋歷程</a:t>
            </a:r>
          </a:p>
          <a:p>
            <a:pPr marL="0" indent="0" algn="ctr">
              <a:buNone/>
            </a:pPr>
            <a:r>
              <a:rPr lang="en-US" sz="950">
                <a:solidFill>
                  <a:srgbClr val="667A76"/>
                </a:solidFill>
                <a:latin typeface="Microsoft JhengHei"/>
                <a:ea typeface="Microsoft JhengHei"/>
              </a:rPr>
              <a:t>query_log.jsonl</a:t>
            </a:r>
            <a:endParaRPr lang="en-US" sz="950"/>
          </a:p>
        </p:txBody>
      </p:sp>
      <p:sp>
        <p:nvSpPr>
          <p:cNvPr id="35" name="Shape 33"/>
          <p:cNvSpPr/>
          <p:nvPr/>
        </p:nvSpPr>
        <p:spPr>
          <a:xfrm>
            <a:off x="9857232" y="1874520"/>
            <a:ext cx="1920240" cy="2487168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6" name="Text 34"/>
          <p:cNvSpPr/>
          <p:nvPr/>
        </p:nvSpPr>
        <p:spPr>
          <a:xfrm>
            <a:off x="10058400" y="2148840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E37B62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05</a:t>
            </a:r>
            <a:endParaRPr lang="en-US" sz="23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10058400" y="278892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163A35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改善 backlog</a:t>
            </a:r>
            <a:endParaRPr lang="en-US" sz="155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10058400" y="3454400"/>
            <a:ext cx="1508760" cy="60960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sz="850">
                <a:solidFill>
                  <a:srgbClr val="667A76"/>
                </a:solidFill>
                <a:latin typeface="Microsoft JhengHei"/>
                <a:ea typeface="Microsoft JhengHei"/>
              </a:rPr>
              <a:t>improvement_backlog.md</a:t>
            </a:r>
          </a:p>
          <a:p>
            <a:pPr marL="0" indent="0" algn="ctr">
              <a:buNone/>
            </a:pPr>
            <a:r>
              <a:rPr lang="en-US" sz="850">
                <a:solidFill>
                  <a:srgbClr val="667A76"/>
                </a:solidFill>
                <a:latin typeface="Microsoft JhengHei"/>
                <a:ea typeface="Microsoft JhengHei"/>
              </a:rPr>
              <a:t>含原因 · query_id</a:t>
            </a:r>
            <a:endParaRPr lang="en-US" sz="850"/>
          </a:p>
        </p:txBody>
      </p:sp>
      <p:sp>
        <p:nvSpPr>
          <p:cNvPr id="39" name="Text 37"/>
          <p:cNvSpPr/>
          <p:nvPr/>
        </p:nvSpPr>
        <p:spPr>
          <a:xfrm>
            <a:off x="1097280" y="5212080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63A35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重點：在自己電腦完成完整證據鏈；不收件、不評分。</a:t>
            </a:r>
            <a:endParaRPr lang="en-US" sz="20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40" name="文字方塊 39">
            <a:extLst>
              <a:ext uri="{FF2B5EF4-FFF2-40B4-BE49-F238E27FC236}">
                <a16:creationId xmlns:a16="http://schemas.microsoft.com/office/drawing/2014/main" id="{3981685E-4578-D89F-F2FF-009DFF4338B6}"/>
              </a:ext>
            </a:extLst>
          </p:cNvPr>
          <p:cNvSpPr txBox="1"/>
          <p:nvPr/>
        </p:nvSpPr>
        <p:spPr>
          <a:xfrm>
            <a:off x="502920" y="6473952"/>
            <a:ext cx="609790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spcAft>
                <a:spcPts val="1200"/>
              </a:spcAft>
              <a:buNone/>
            </a:pPr>
            <a:r>
              <a:rPr lang="en-US" altLang="zh-TW" sz="1050" i="0" dirty="0"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Day3 | </a:t>
            </a:r>
            <a:r>
              <a:rPr lang="zh-TW" altLang="zh-TW" sz="1050" i="0" dirty="0"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生成式人工智慧於文本資料分析</a:t>
            </a:r>
          </a:p>
        </p:txBody>
      </p:sp>
    </p:spTree>
    <p:extLst>
      <p:ext uri="{BB962C8B-B14F-4D97-AF65-F5344CB8AC3E}">
        <p14:creationId xmlns:p14="http://schemas.microsoft.com/office/powerpoint/2010/main" val="105283909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960120"/>
            <a:ext cx="4114800" cy="4114800"/>
          </a:xfrm>
          <a:prstGeom prst="arc">
            <a:avLst/>
          </a:prstGeom>
          <a:solidFill>
            <a:srgbClr val="102A27">
              <a:alpha val="0"/>
            </a:srgbClr>
          </a:solidFill>
          <a:ln w="25400">
            <a:solidFill>
              <a:srgbClr val="65B8A6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" name="Shape 1"/>
          <p:cNvSpPr/>
          <p:nvPr/>
        </p:nvSpPr>
        <p:spPr>
          <a:xfrm>
            <a:off x="9692640" y="-228600"/>
            <a:ext cx="2834640" cy="2834640"/>
          </a:xfrm>
          <a:prstGeom prst="arc">
            <a:avLst/>
          </a:prstGeom>
          <a:solidFill>
            <a:srgbClr val="102A27">
              <a:alpha val="0"/>
            </a:srgbClr>
          </a:solidFill>
          <a:ln w="16510">
            <a:solidFill>
              <a:srgbClr val="E37B62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Text 2"/>
          <p:cNvSpPr/>
          <p:nvPr/>
        </p:nvSpPr>
        <p:spPr>
          <a:xfrm>
            <a:off x="566928" y="402336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160" dirty="0">
                <a:solidFill>
                  <a:srgbClr val="65B8A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今天的核心原則</a:t>
            </a:r>
            <a:endParaRPr lang="en-US" sz="10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66928" y="667512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把文件變成可用的知識，前提是它仍然可追溯。</a:t>
            </a:r>
            <a:endParaRPr lang="en-US" sz="32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8255">
            <a:solidFill>
              <a:srgbClr val="4F817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064240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65B8A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22</a:t>
            </a:r>
            <a:endParaRPr lang="en-US" sz="10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694944" y="2240280"/>
            <a:ext cx="932688" cy="932688"/>
          </a:xfrm>
          <a:prstGeom prst="ellipse">
            <a:avLst/>
          </a:prstGeom>
          <a:solidFill>
            <a:srgbClr val="28534C"/>
          </a:solidFill>
          <a:ln w="12700">
            <a:solidFill>
              <a:srgbClr val="65B8A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2" name="Text 20"/>
          <p:cNvSpPr/>
          <p:nvPr/>
        </p:nvSpPr>
        <p:spPr>
          <a:xfrm>
            <a:off x="694944" y="2514600"/>
            <a:ext cx="9326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1</a:t>
            </a:r>
            <a:endParaRPr lang="en-US" sz="17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347472" y="3529584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先確認範圍</a:t>
            </a:r>
            <a:endParaRPr lang="en-US" sz="15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2980944" y="2240280"/>
            <a:ext cx="932688" cy="932688"/>
          </a:xfrm>
          <a:prstGeom prst="ellipse">
            <a:avLst/>
          </a:prstGeom>
          <a:solidFill>
            <a:srgbClr val="28534C"/>
          </a:solidFill>
          <a:ln w="12700">
            <a:solidFill>
              <a:srgbClr val="65B8A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Text 23"/>
          <p:cNvSpPr/>
          <p:nvPr/>
        </p:nvSpPr>
        <p:spPr>
          <a:xfrm>
            <a:off x="2980944" y="2514600"/>
            <a:ext cx="9326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2</a:t>
            </a:r>
            <a:endParaRPr lang="en-US" sz="17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2633472" y="3529584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保留原始資料</a:t>
            </a:r>
            <a:endParaRPr lang="en-US" sz="15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5266944" y="2240280"/>
            <a:ext cx="932688" cy="932688"/>
          </a:xfrm>
          <a:prstGeom prst="ellipse">
            <a:avLst/>
          </a:prstGeom>
          <a:solidFill>
            <a:srgbClr val="28534C"/>
          </a:solidFill>
          <a:ln w="12700">
            <a:solidFill>
              <a:srgbClr val="65B8A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8" name="Text 26"/>
          <p:cNvSpPr/>
          <p:nvPr/>
        </p:nvSpPr>
        <p:spPr>
          <a:xfrm>
            <a:off x="5266944" y="2514600"/>
            <a:ext cx="9326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3</a:t>
            </a:r>
            <a:endParaRPr lang="en-US" sz="17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4919472" y="3529584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解析後要檢查</a:t>
            </a:r>
            <a:endParaRPr lang="en-US" sz="15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7552944" y="2240280"/>
            <a:ext cx="932688" cy="932688"/>
          </a:xfrm>
          <a:prstGeom prst="ellipse">
            <a:avLst/>
          </a:prstGeom>
          <a:solidFill>
            <a:srgbClr val="28534C"/>
          </a:solidFill>
          <a:ln w="12700">
            <a:solidFill>
              <a:srgbClr val="65B8A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1" name="Text 29"/>
          <p:cNvSpPr/>
          <p:nvPr/>
        </p:nvSpPr>
        <p:spPr>
          <a:xfrm>
            <a:off x="7552944" y="2514600"/>
            <a:ext cx="9326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4</a:t>
            </a:r>
            <a:endParaRPr lang="en-US" sz="17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7205472" y="3529584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有證據才回答</a:t>
            </a:r>
            <a:endParaRPr lang="en-US" sz="15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9838944" y="2240280"/>
            <a:ext cx="932688" cy="932688"/>
          </a:xfrm>
          <a:prstGeom prst="ellipse">
            <a:avLst/>
          </a:prstGeom>
          <a:solidFill>
            <a:srgbClr val="E37B62"/>
          </a:solidFill>
          <a:ln w="12700">
            <a:solidFill>
              <a:srgbClr val="65B8A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4" name="Text 32"/>
          <p:cNvSpPr/>
          <p:nvPr/>
        </p:nvSpPr>
        <p:spPr>
          <a:xfrm>
            <a:off x="9838944" y="2514600"/>
            <a:ext cx="9326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5</a:t>
            </a:r>
            <a:endParaRPr lang="en-US" sz="17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9491472" y="3529584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用自我測試改善</a:t>
            </a:r>
            <a:endParaRPr lang="en-US" sz="15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1097280" y="5120640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2000" b="1" dirty="0">
                <a:latin typeface="Microsoft JhengHei" panose="020B0604030504040204" pitchFamily="34" charset="-120"/>
                <a:ea typeface="Microsoft JhengHei" panose="020B0604030504040204" pitchFamily="34" charset="-120"/>
                <a:cs typeface="Noto Sans TC" pitchFamily="34" charset="-120"/>
              </a:rPr>
              <a:t>資料 → 文本 → AI 分析 → 可引用問答 → 自我測試 → 系統改善</a:t>
            </a:r>
            <a:endParaRPr lang="en-US" sz="20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38" name="文字方塊 37">
            <a:extLst>
              <a:ext uri="{FF2B5EF4-FFF2-40B4-BE49-F238E27FC236}">
                <a16:creationId xmlns:a16="http://schemas.microsoft.com/office/drawing/2014/main" id="{B2FAAB36-4FF2-AC9F-6191-300BED48B058}"/>
              </a:ext>
            </a:extLst>
          </p:cNvPr>
          <p:cNvSpPr txBox="1"/>
          <p:nvPr/>
        </p:nvSpPr>
        <p:spPr>
          <a:xfrm>
            <a:off x="502920" y="6473952"/>
            <a:ext cx="609790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spcAft>
                <a:spcPts val="1200"/>
              </a:spcAft>
              <a:buNone/>
            </a:pPr>
            <a:r>
              <a:rPr lang="en-US" altLang="zh-TW" sz="1050" i="0" dirty="0"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Day3 | </a:t>
            </a:r>
            <a:r>
              <a:rPr lang="zh-TW" altLang="zh-TW" sz="1050" i="0" dirty="0"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生成式人工智慧於文本資料分析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 T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T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D445D2B0-79D1-3646-A8DD-0C2287486BA4}">
  <we:reference id="wa200010215" version="2.0.0.0" store="zh-TW" storeType="OMEX"/>
  <we:alternateReferences>
    <we:reference id="wa200010215" version="2.0.0.0" store="wa200010215" storeType="OMEX"/>
  </we:alternateReferences>
  <we:properties>
    <we:property name="bps.codex_control.document_id" value="&quot;be192752-e22f-4613-89b9-bbc99fbe1f1b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1279</TotalTime>
  <Words>1506</Words>
  <Application>Microsoft Macintosh PowerPoint</Application>
  <PresentationFormat>寬螢幕</PresentationFormat>
  <Paragraphs>346</Paragraphs>
  <Slides>18</Slides>
  <Notes>18</Notes>
  <HiddenSlides>0</HiddenSlides>
  <MMClips>0</MMClips>
  <ScaleCrop>false</ScaleCrop>
  <HeadingPairs>
    <vt:vector size="6" baseType="variant">
      <vt:variant>
        <vt:lpstr>使用字型</vt:lpstr>
      </vt:variant>
      <vt:variant>
        <vt:i4>2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18</vt:i4>
      </vt:variant>
    </vt:vector>
  </HeadingPairs>
  <TitlesOfParts>
    <vt:vector size="21" baseType="lpstr">
      <vt:lpstr>Microsoft JhengHei</vt:lpstr>
      <vt:lpstr>Arial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YunTech Workshop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Day 3｜生成式人工智慧於文本資料分析的應用</dc:title>
  <dc:subject>Day 3 — 生成式人工智慧於文本資料分析的應用</dc:subject>
  <dc:creator>張育慈 Ruby</dc:creator>
  <cp:lastModifiedBy>TZU</cp:lastModifiedBy>
  <cp:revision>9</cp:revision>
  <dcterms:created xsi:type="dcterms:W3CDTF">2026-07-25T05:56:53Z</dcterms:created>
  <dcterms:modified xsi:type="dcterms:W3CDTF">2026-07-26T03:20:47Z</dcterms:modified>
</cp:coreProperties>
</file>