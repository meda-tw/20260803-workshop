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講師關鍵句：今天的重點不是做一個聊天機器人，而是讓每個答案都能回到資料來源。
學生動作：打開課程 repo，確認已 clone Day-03 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講師關鍵句：先讓大家看見最後成果，接下來每一步才知道為何需要。
學生動作：確認今天的任務是小組完成一條資料管線。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講師關鍵句：今天不追求一次做到完整系統；每個階段都要留下可回查的產物。
學生動作：依時程安排工作，午休前完成解析與品質檢查。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講師關鍵句：許多混亂都來自把工具角色混在一起。今天要把每個工具放在正確位置。
學生動作：說出：MarkItDown 是解析器，不是爬蟲。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講師關鍵句：MCP 不是模型，也不是爬蟲；它是讓 Codex 能使用外部工具的標準接頭。
學生動作：完成一筆成功下載後，才以 file: URI 測試 MarkItDown MCP。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講師關鍵句：這些名詞不是考試名詞，而是今天每一步都會出現的資料責任。
學生動作：在 repo README 找到資料夾結構與 provenance 欄位。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講師關鍵句：資料邊界先於工具操作。先確認範圍，是為了讓結果可重現也可說明。
學生動作：貼上 Prompt 00，提出 crawl scope，等待講師確認。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講師關鍵句：請學生互相檢查 scope，因為範圍錯了，後面每一層都會錯。
學生動作：展示 crawl_scope.json，確認各欄位都已填妥。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講師關鍵句：爬取不是把網頁抓下來而已；它要同時產生可追溯的 manifest。
學生動作：貼上 Prompt 01，限制在確認過的 crawl scope。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講師關鍵句：manifest 是資料資產的護照。沒有它，後面的引用就無法交代來源。
學生動作：檢查每筆成功與失敗資料都有 manifest 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講師關鍵句：此時才實際確認 MarkItDown MCP，因為我們已經有一份可解析的檔案。
學生動作：貼上 Prompt 02，選擇一筆成功下載的 raw_path。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講師關鍵句：不要把 PDF 轉出一堆破碎表格，卻假裝它已經適合問答。
學生動作：為文件設定品質狀態，非 ready 必須寫下原因。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講師關鍵句：chunk 不是隨意切字數；它要保留足夠語意，也保留回查來源。
學生動作：只處理 ready_for_analysis 的 Markdown，建立 chunks JSONL。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講師關鍵句：AI 可以幫忙摘要與分類，但不能把自己的推論寫成文件原文。
學生動作：建立 text_analysis.md，檢查 evidence 與 interpretation 是否分欄。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講師關鍵句：RAG 的 G 在後面：不是先叫模型猜，再找引用；而是先取得 evidence。
學生動作：開啟 Prompt 04，建立本機 Streamlit 問答介面。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講師關鍵句：支持性答案不是模型講得像真的，而是每個關鍵事實都有來源。
學生動作：在 Streamlit 介面輸入有證據的問題，確認引用完整顯示。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講師關鍵句：不知道不是失敗。缺少證據時不生成，才是可以被信任的系統行為。
學生動作：各組完成四類測試，確認每題都留下 query log。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講師關鍵句：query log 把一次問答，轉成下一次改善的資料。
學生動作：確認 feedback/query_log.jsonl 每題都有一筆紀錄。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講師關鍵句：改善不是憑感覺調 prompt；每一項 backlog 都要回連 query_id 和證據。
學生動作：貼上 Prompt 05，將問答紀錄分類為可執行的改善動作。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講師關鍵句：用這張讓學生回看整天產物，確認沒有只完成 chatbot 而漏掉資料流程。
學生動作：依五項繳交物自我檢查小組資料夾。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講師關鍵句：展示的主角是證據鏈，不是模型語氣。
學生動作：小組分配展示角色，準備一題有引用和一題拒答示範。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講師關鍵句：回到今天第一張：我們不是只做問答，而是建立一條可改善的資料與 AI 流程。
學生動作：完成檔案整理與小組展示準備。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960120"/>
            <a:ext cx="4114800" cy="4114800"/>
          </a:xfrm>
          <a:prstGeom prst="arc">
            <a:avLst/>
          </a:prstGeom>
          <a:solidFill>
            <a:srgbClr val="102A27">
              <a:alpha val="0"/>
            </a:srgbClr>
          </a:solidFill>
          <a:ln w="25400">
            <a:solidFill>
              <a:srgbClr val="65B8A6">
                <a:alpha val="5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228600"/>
            <a:ext cx="2834640" cy="2834640"/>
          </a:xfrm>
          <a:prstGeom prst="arc">
            <a:avLst/>
          </a:prstGeom>
          <a:solidFill>
            <a:srgbClr val="102A27">
              <a:alpha val="0"/>
            </a:srgbClr>
          </a:solidFill>
          <a:ln w="16510">
            <a:solidFill>
              <a:srgbClr val="E37B62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YUNTECH WORKSHOP · 2026 / 08 / 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Day 3｜生成式人工智慧於文本資料分析的應用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4F81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DAY 03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3504" y="1481328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DCE9E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從公開文本，到可引用的校務知識應用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244842"/>
          </a:solidFill>
          <a:ln w="12700">
            <a:solidFill>
              <a:srgbClr val="24484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公開網站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5292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329184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244842"/>
          </a:solidFill>
          <a:ln w="12700">
            <a:solidFill>
              <a:srgbClr val="24484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原始文件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50468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16" name="Shape 14"/>
          <p:cNvSpPr/>
          <p:nvPr/>
        </p:nvSpPr>
        <p:spPr>
          <a:xfrm>
            <a:off x="594360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244842"/>
          </a:solidFill>
          <a:ln w="12700">
            <a:solidFill>
              <a:srgbClr val="24484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可讀文字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15644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19" name="Shape 17"/>
          <p:cNvSpPr/>
          <p:nvPr/>
        </p:nvSpPr>
        <p:spPr>
          <a:xfrm>
            <a:off x="859536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65B8A6"/>
          </a:solidFill>
          <a:ln w="12700">
            <a:solidFill>
              <a:srgbClr val="65B8A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可引用答案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21792" y="53218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講師｜張育慈 Ruby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今日成果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今天結束前，你會完成什麼？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OPENING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85800" y="1417320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1417320"/>
            <a:ext cx="91440" cy="1389888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" y="1645920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資料範圍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41832" y="2112264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確認起始網址與白名單，不任意擴大。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45352" y="1417320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5352" y="1417320"/>
            <a:ext cx="91440" cy="1389888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01384" y="1645920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文本資產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501384" y="2112264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保留原始檔、Markdown、品質狀態與來源。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85800" y="3264408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3264408"/>
            <a:ext cx="91440" cy="1389888"/>
          </a:xfrm>
          <a:prstGeom prst="rect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1832" y="3493008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應用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41832" y="3959352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建立可引用問答，無證據時不猜測。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45352" y="3264408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45352" y="3264408"/>
            <a:ext cx="91440" cy="1389888"/>
          </a:xfrm>
          <a:prstGeom prst="rect">
            <a:avLst/>
          </a:prstGeom>
          <a:solidFill>
            <a:srgbClr val="47645F"/>
          </a:solidFill>
          <a:ln w="12700">
            <a:solidFill>
              <a:srgbClr val="4764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3493008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改善閉環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501384" y="3959352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由問答紀錄找出下一輪要補的資料或規則。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13232" y="541324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 是驗證資料是否可用的一環，不是今天唯一的成果。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 — 16:30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今天的節奏：每一段都有可檢查的產物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OPENING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914400" y="2926080"/>
            <a:ext cx="1417320" cy="0"/>
          </a:xfrm>
          <a:prstGeom prst="line">
            <a:avLst/>
          </a:prstGeom>
          <a:noFill/>
          <a:ln w="25400">
            <a:solidFill>
              <a:srgbClr val="65B8A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2670048"/>
            <a:ext cx="502920" cy="502920"/>
          </a:xfrm>
          <a:prstGeom prst="ellipse">
            <a:avLst/>
          </a:prstGeom>
          <a:solidFill>
            <a:srgbClr val="65B8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7607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範圍與來源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88920" y="2926080"/>
            <a:ext cx="1417320" cy="0"/>
          </a:xfrm>
          <a:prstGeom prst="line">
            <a:avLst/>
          </a:prstGeom>
          <a:noFill/>
          <a:ln w="25400">
            <a:solidFill>
              <a:srgbClr val="65B8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60320" y="2670048"/>
            <a:ext cx="502920" cy="502920"/>
          </a:xfrm>
          <a:prstGeom prst="ellipse">
            <a:avLst/>
          </a:prstGeom>
          <a:solidFill>
            <a:srgbClr val="65B8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5059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09:30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45059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爬取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45059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 + manifest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2926080"/>
            <a:ext cx="1417320" cy="0"/>
          </a:xfrm>
          <a:prstGeom prst="line">
            <a:avLst/>
          </a:prstGeom>
          <a:noFill/>
          <a:ln w="25400">
            <a:solidFill>
              <a:srgbClr val="65B8A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670048"/>
            <a:ext cx="502920" cy="502920"/>
          </a:xfrm>
          <a:prstGeom prst="ellipse">
            <a:avLst/>
          </a:prstGeom>
          <a:solidFill>
            <a:srgbClr val="65B8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2511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10:30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32511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解析與檢查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32511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markdown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2926080"/>
            <a:ext cx="1417320" cy="0"/>
          </a:xfrm>
          <a:prstGeom prst="line">
            <a:avLst/>
          </a:prstGeom>
          <a:noFill/>
          <a:ln w="25400">
            <a:solidFill>
              <a:srgbClr val="65B8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9360" y="2670048"/>
            <a:ext cx="502920" cy="502920"/>
          </a:xfrm>
          <a:prstGeom prst="ellipse">
            <a:avLst/>
          </a:prstGeom>
          <a:solidFill>
            <a:srgbClr val="E37B6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9963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13:30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9963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分析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9963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412480" y="2926080"/>
            <a:ext cx="1417320" cy="0"/>
          </a:xfrm>
          <a:prstGeom prst="line">
            <a:avLst/>
          </a:prstGeom>
          <a:noFill/>
          <a:ln w="25400">
            <a:solidFill>
              <a:srgbClr val="65B8A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83880" y="2670048"/>
            <a:ext cx="502920" cy="502920"/>
          </a:xfrm>
          <a:prstGeom prst="ellipse">
            <a:avLst/>
          </a:prstGeom>
          <a:solidFill>
            <a:srgbClr val="E37B6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7415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14:30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07415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可引用問答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07415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287000" y="2926080"/>
            <a:ext cx="1417320" cy="0"/>
          </a:xfrm>
          <a:prstGeom prst="line">
            <a:avLst/>
          </a:prstGeom>
          <a:noFill/>
          <a:ln w="25400">
            <a:solidFill>
              <a:srgbClr val="DCE9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058400" y="2670048"/>
            <a:ext cx="502920" cy="502920"/>
          </a:xfrm>
          <a:prstGeom prst="ellipse">
            <a:avLst/>
          </a:prstGeom>
          <a:solidFill>
            <a:srgbClr val="E37B6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94867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15:40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994867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回饋改善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94867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backlog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401568" y="470916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01568" y="4709160"/>
            <a:ext cx="91440" cy="77724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0" y="4937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每完成一段，就先檢查再往下走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3657600" y="5404104"/>
            <a:ext cx="4919472" cy="-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避免把錯誤資料一路帶到 RAG。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概念橋接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先理解分工：誰負責取得？誰負責理解？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VOCABULARY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22960" y="1828800"/>
            <a:ext cx="297180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1952" y="1389888"/>
            <a:ext cx="822960" cy="822960"/>
          </a:xfrm>
          <a:prstGeom prst="ellipse">
            <a:avLst/>
          </a:prstGeom>
          <a:solidFill>
            <a:srgbClr val="E37B6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01952" y="1618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9728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Crawler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143000" y="29626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取得白名單內的公開網頁與附件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877056" y="26060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4617720" y="1828800"/>
            <a:ext cx="297180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96712" y="1389888"/>
            <a:ext cx="822960" cy="822960"/>
          </a:xfrm>
          <a:prstGeom prst="ellipse">
            <a:avLst/>
          </a:prstGeom>
          <a:solidFill>
            <a:srgbClr val="65B8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96712" y="1618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89204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MarkItDown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4937760" y="29626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把已下載的文件轉成 Markdown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71816" y="26060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31" name="Shape 29"/>
          <p:cNvSpPr/>
          <p:nvPr/>
        </p:nvSpPr>
        <p:spPr>
          <a:xfrm>
            <a:off x="8412480" y="1828800"/>
            <a:ext cx="297180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389888"/>
            <a:ext cx="822960" cy="822960"/>
          </a:xfrm>
          <a:prstGeom prst="ellipse">
            <a:avLst/>
          </a:prstGeom>
          <a:solidFill>
            <a:srgbClr val="163A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91472" y="1618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686800" y="24231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8732520" y="29626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 chunks，再用模型回答與引用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188720" y="4983480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關鍵順序：先爬取，再解析；先檢索，再生成。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概念橋接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MCP 與 MarkItDown：讓 Codex 取得一個「文件解析能力」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VOCABULARY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86384" y="1572768"/>
            <a:ext cx="2834640" cy="3108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1965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115568" y="2633472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理解你的指令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協助整理與分析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736592" y="2304288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65B8A6"/>
          </a:solidFill>
          <a:ln w="12700">
            <a:solidFill>
              <a:srgbClr val="65B8A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4920" y="2542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MCP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074920" y="30358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標準接頭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66760" y="1572768"/>
            <a:ext cx="2880360" cy="3108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22792" y="1965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MarkItDown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622792" y="2633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HTML / PDF / DOCX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 Markdown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767328" y="26974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↔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498080" y="26974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↔</a:t>
            </a:r>
            <a:endParaRPr lang="en-US" sz="3200" dirty="0"/>
          </a:p>
        </p:txBody>
      </p:sp>
      <p:sp>
        <p:nvSpPr>
          <p:cNvPr id="30" name="Shape 28"/>
          <p:cNvSpPr/>
          <p:nvPr/>
        </p:nvSpPr>
        <p:spPr>
          <a:xfrm>
            <a:off x="1874520" y="5166360"/>
            <a:ext cx="8458200" cy="667512"/>
          </a:xfrm>
          <a:prstGeom prst="roundRect">
            <a:avLst>
              <a:gd name="adj" fmla="val 10959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74520" y="5166360"/>
            <a:ext cx="91440" cy="667512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30552" y="5394960"/>
            <a:ext cx="8001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不要搞錯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2130552" y="5861304"/>
            <a:ext cx="7982712" cy="-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MCP 是 Codex 呼叫工具的接頭；MarkItDown 是把「已下載」文件轉為 Markdown 的工具。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概念橋接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七個關鍵名詞，全部都回到「可追溯」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VOCABULARY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7607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1417320"/>
            <a:ext cx="91440" cy="141732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manifest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資料護照：來源、時間、路徑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45643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56432" y="1417320"/>
            <a:ext cx="91440" cy="141732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1246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metadata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71246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描述文件或段落的欄位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3679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36792" y="1417320"/>
            <a:ext cx="91440" cy="1417320"/>
          </a:xfrm>
          <a:prstGeom prst="rect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59282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可檢索、可引用的小段文本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21715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17152" y="1417320"/>
            <a:ext cx="91440" cy="1417320"/>
          </a:xfrm>
          <a:prstGeom prst="rect">
            <a:avLst/>
          </a:prstGeom>
          <a:solidFill>
            <a:srgbClr val="47645F"/>
          </a:solidFill>
          <a:ln w="12700">
            <a:solidFill>
              <a:srgbClr val="4764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7318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provenance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47318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答案回查來源的證據鏈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7607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6072" y="3383280"/>
            <a:ext cx="91440" cy="141732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210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3210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先找證據，再生成回答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345643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56432" y="3383280"/>
            <a:ext cx="91440" cy="141732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1246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Ollama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371246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筆電上的本機模型服務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33679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36792" y="3383280"/>
            <a:ext cx="91440" cy="1417320"/>
          </a:xfrm>
          <a:prstGeom prst="rect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9282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JSONL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659282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每行一筆、方便追加的紀錄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749808" y="5468112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問答不是終點：答案必須帶著來源回來。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01 · 00-CREATE-PROJECT-AND-START-URL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00｜先建立小組專案，再確認資料範圍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8368" y="1417320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1417320"/>
            <a:ext cx="91440" cy="361188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16459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現在要做什麼？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2112264"/>
            <a:ext cx="48737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1. 建立 team-xx-project/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2. 填入講師指定起始網址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3. 提出 allowed_hosts、允許路徑、格式與數量上限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4. 等待確認後才寫 crawl_scope.json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37960" y="1417320"/>
            <a:ext cx="4919472" cy="3611880"/>
          </a:xfrm>
          <a:prstGeom prst="roundRect">
            <a:avLst>
              <a:gd name="adj" fmla="val 2025"/>
            </a:avLst>
          </a:prstGeom>
          <a:solidFill>
            <a:srgbClr val="102A27"/>
          </a:solidFill>
          <a:ln w="12700">
            <a:solidFill>
              <a:srgbClr val="102A27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76288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預期產物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931152" y="2331720"/>
            <a:ext cx="4069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team-01-project/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data/raw/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data/manifests/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data/markdown/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data/processed/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analysis/  rag/  feedback/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2606040" y="5376672"/>
            <a:ext cx="6949440" cy="502920"/>
          </a:xfrm>
          <a:prstGeom prst="roundRect">
            <a:avLst>
              <a:gd name="adj" fmla="val 14545"/>
            </a:avLst>
          </a:prstGeom>
          <a:solidFill>
            <a:srgbClr val="FDE7E1"/>
          </a:solidFill>
          <a:ln w="12700">
            <a:solidFill>
              <a:srgbClr val="FDE7E1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06040" y="5376672"/>
            <a:ext cx="91440" cy="50292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62072" y="560527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停止條件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62072" y="6071616"/>
            <a:ext cx="6473952" cy="-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尚未確認白名單時，不開始爬取。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不要急著爬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檢查點｜crawl scope 是否可重現？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16367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435608" y="1417320"/>
            <a:ext cx="4572000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35608" y="1417320"/>
            <a:ext cx="91440" cy="941832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完整主機名稱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2112264"/>
            <a:ext cx="409651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只列允許的 host，不自動加子網域。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16367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059168" y="1417320"/>
            <a:ext cx="4572000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59168" y="1417320"/>
            <a:ext cx="91440" cy="941832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允許路徑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15200" y="2112264"/>
            <a:ext cx="409651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清楚限定單位或資料區的 URL path。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351129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435608" y="3291840"/>
            <a:ext cx="4572000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35608" y="3291840"/>
            <a:ext cx="91440" cy="941832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91640" y="3520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格式與數量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691640" y="3986784"/>
            <a:ext cx="409651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只處理 HTML、PDF、DOCX；設定上限。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0" y="3429000"/>
            <a:ext cx="502920" cy="502920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351129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7059168" y="3291840"/>
            <a:ext cx="4572000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59168" y="3291840"/>
            <a:ext cx="91440" cy="941832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3520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尚未爬取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15200" y="3986784"/>
            <a:ext cx="409651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 確認前，data/raw 應保持空白。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51560" y="53218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通過後才進入 Step 01：限定範圍爬取。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02 · 01-CRAWL-SPECIFIED-SITE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01｜限定範圍爬取，保留原始資料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22960" y="1874520"/>
            <a:ext cx="658368" cy="658368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讀 scope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035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allowed_hosts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allowed_path_prefix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11880" y="1874520"/>
            <a:ext cx="658368" cy="658368"/>
          </a:xfrm>
          <a:prstGeom prst="ellipse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1188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42900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判格式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1927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Content-Type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Content-Disposition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連結文字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658368" cy="658368"/>
          </a:xfrm>
          <a:prstGeom prst="ellipse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1792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保存原始檔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0819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data/raw/&lt;document_id&gt;/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&lt;原始檔名&gt;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9189720" y="1874520"/>
            <a:ext cx="658368" cy="658368"/>
          </a:xfrm>
          <a:prstGeom prst="ellipse">
            <a:avLst/>
          </a:prstGeom>
          <a:solidFill>
            <a:srgbClr val="163A35"/>
          </a:solidFill>
          <a:ln w="12700">
            <a:solidFill>
              <a:srgbClr val="163A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8972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0684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 manifest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89711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URL · 時間 · 狀態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raw_path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1828800" y="4800600"/>
            <a:ext cx="8641080" cy="667512"/>
          </a:xfrm>
          <a:prstGeom prst="roundRect">
            <a:avLst>
              <a:gd name="adj" fmla="val 10959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28800" y="4800600"/>
            <a:ext cx="91440" cy="667512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84832" y="5029200"/>
            <a:ext cx="8183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關鍵規則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2084832" y="5495544"/>
            <a:ext cx="8165592" cy="-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不可只看副檔名；不可改寫附件原始檔名；失敗也要記錄 error_message。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檢查點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manifest：每一份資料都有一張「護照」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960120" y="1417320"/>
            <a:ext cx="1019556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25880" y="181051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5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691640" y="196596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A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"document_id"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703320" y="1965960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6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"tve-003-course-plan-docx"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91640" y="244144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A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"source_url"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703320" y="2441448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6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"https://tve.yuntech.edu.tw/..."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91640" y="291693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A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"original_filename"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703320" y="2916936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6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"1-1博士生修課計畫.docx"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691640" y="339242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A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"crawled_at"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703320" y="339242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6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"2026-08-05T10:12:00+08:00"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91640" y="3867912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A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"raw_path"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703320" y="386791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6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"data/raw/tve-003/...docx"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691640" y="43434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A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"crawl_status"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703320" y="4343400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76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"success"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48463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5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3200400" y="5623560"/>
            <a:ext cx="5760720" cy="475488"/>
          </a:xfrm>
          <a:prstGeom prst="roundRect">
            <a:avLst>
              <a:gd name="adj" fmla="val 15385"/>
            </a:avLst>
          </a:prstGeom>
          <a:solidFill>
            <a:srgbClr val="FDE7E1"/>
          </a:solidFill>
          <a:ln w="12700">
            <a:solidFill>
              <a:srgbClr val="FDE7E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5623560"/>
            <a:ext cx="91440" cy="475488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5852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它回答三件事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456432" y="6318504"/>
            <a:ext cx="5285232" cy="-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從哪裡來？何時取得？現在存在哪？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03 · 02-PARSE-WITH-MARKITDOWN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02｜用 MarkItDown MCP 解析已下載文件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PARSE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31520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1417320"/>
            <a:ext cx="91440" cy="342900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輸入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 crawl_manifest.json 選 crawl_status: success 的 raw_path。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使用本機 file: URI。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462272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62272" y="1417320"/>
            <a:ext cx="91440" cy="342900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轉換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18304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透過 Codex 的 MarkItDown MCP，轉為 data/markdown/&lt;document_id&gt;.md。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不修改 data/raw。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93024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93024" y="1417320"/>
            <a:ext cx="91440" cy="3429000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49056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 metadata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449056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Markdown 檔頭：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document_id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source_url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crawled_at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raw_path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97280" y="534924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先爬取 → 再解析：MarkItDown 不是網站爬蟲。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檢查點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品質檢查：不是所有轉出的文字都可以直接交給 AI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PARSE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58952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65B8A6"/>
          </a:solidFill>
          <a:ln w="12700">
            <a:solidFill>
              <a:srgbClr val="65B8A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ready_for_analysis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124712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標題、段落與表格可讀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可以進入 chunks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24712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可進 RAG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62856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E37B62"/>
          </a:solidFill>
          <a:ln w="12700">
            <a:solidFill>
              <a:srgbClr val="E37B62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91456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needs_review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928616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掃描、表格或結構有缺失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先人工檢視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928616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暫停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366760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47645F"/>
          </a:solidFill>
          <a:ln w="12700">
            <a:solidFill>
              <a:srgbClr val="47645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0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excluded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8732520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受限、白名單外或無法確認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不進後續流程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732520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暫停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828800" y="5303520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828800" y="5303520"/>
            <a:ext cx="91440" cy="566928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84832" y="5532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品質報告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2084832" y="5998464"/>
            <a:ext cx="8119872" cy="-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每份結果寫入 data/markdown/quality_report.jsonl，保留檢查特徵、原因與時間。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04 · 03-PROCESS-AND-ANALYZE-TEXT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03｜把文件切成可檢索、可引用的 chunks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ANALYZE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77240" y="1444752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一份長文件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1115568" y="2359152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5568" y="301752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DCE9E3"/>
          </a:solidFill>
          <a:ln w="12700">
            <a:solidFill>
              <a:srgbClr val="DCE9E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5568" y="3675888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24688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第一章：修業規定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243584" y="312724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第二章：資格考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243584" y="3785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第三章：畢業流程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703320" y="28346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28" name="Shape 26"/>
          <p:cNvSpPr/>
          <p:nvPr/>
        </p:nvSpPr>
        <p:spPr>
          <a:xfrm>
            <a:off x="4498848" y="1508760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98848" y="1508760"/>
            <a:ext cx="91440" cy="1298448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1737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754880" y="2203704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段落文字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來源章節、網址、時間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900416" y="1508760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00416" y="1508760"/>
            <a:ext cx="91440" cy="1298448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56448" y="1737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156448" y="2203704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段落文字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來源章節、網址、時間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498848" y="3355848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8848" y="3355848"/>
            <a:ext cx="91440" cy="1298448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35844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chunk-003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754880" y="4050792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畢業流程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來源章節、網址、時間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61872" y="534924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每段都不能失去 document_id、source_url、crawled_at。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分析表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生成式 AI 文本分析：結論要與證據分開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ANALYZE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03504" y="1600200"/>
            <a:ext cx="1143000" cy="548640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1773936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chunk_id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746504" y="1600200"/>
            <a:ext cx="2057400" cy="548640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9656" y="1773936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summary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803904" y="1600200"/>
            <a:ext cx="1417320" cy="548640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77056" y="1773936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category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221224" y="1600200"/>
            <a:ext cx="3063240" cy="548640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94376" y="1773936"/>
            <a:ext cx="2916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document_evidence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1600200"/>
            <a:ext cx="3063240" cy="548640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57616" y="1773936"/>
            <a:ext cx="2916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ai_interpretation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" y="2157984"/>
            <a:ext cx="11430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2304288"/>
            <a:ext cx="978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course-004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746504" y="2157984"/>
            <a:ext cx="2057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28800" y="2304288"/>
            <a:ext cx="1892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修課計畫提交期限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803904" y="2157984"/>
            <a:ext cx="141732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86200" y="2304288"/>
            <a:ext cx="1252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修業規範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221224" y="2157984"/>
            <a:ext cx="3063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2304288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「第一年第一學期結束前…送所辦」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284464" y="2157984"/>
            <a:ext cx="3063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66760" y="2304288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此規定關注修課計畫的早期確認。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3504" y="3200400"/>
            <a:ext cx="1143000" cy="1024128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3346704"/>
            <a:ext cx="978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course-009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1746504" y="3200400"/>
            <a:ext cx="2057400" cy="1024128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28800" y="3346704"/>
            <a:ext cx="1892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資格考申請資料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803904" y="3200400"/>
            <a:ext cx="1417320" cy="1024128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86200" y="3346704"/>
            <a:ext cx="1252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行政流程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221224" y="3200400"/>
            <a:ext cx="3063240" cy="1024128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0" y="3346704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「應檢附…」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284464" y="3200400"/>
            <a:ext cx="3063240" cy="1024128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366760" y="3346704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可能是學生常詢問的準備事項。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883664" y="5047488"/>
            <a:ext cx="8366760" cy="658368"/>
          </a:xfrm>
          <a:prstGeom prst="roundRect">
            <a:avLst>
              <a:gd name="adj" fmla="val 11111"/>
            </a:avLst>
          </a:prstGeom>
          <a:solidFill>
            <a:srgbClr val="FDE7E1"/>
          </a:solidFill>
          <a:ln w="12700">
            <a:solidFill>
              <a:srgbClr val="FDE7E1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883664" y="5047488"/>
            <a:ext cx="91440" cy="658368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139696" y="5276088"/>
            <a:ext cx="7909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原則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2139696" y="5742432"/>
            <a:ext cx="7891272" cy="-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文件證據是原文；AI 解讀必須明確標示為解讀，不能偽裝成規定。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05 · 04-BUILD-CITED-RAG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04｜RAG：先找證據，再讓模型回答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8580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1828800"/>
            <a:ext cx="91440" cy="201168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學生問題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4183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最晚何時送所辦？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08152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24" name="Shape 22"/>
          <p:cNvSpPr/>
          <p:nvPr/>
        </p:nvSpPr>
        <p:spPr>
          <a:xfrm>
            <a:off x="352044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0440" y="1828800"/>
            <a:ext cx="91440" cy="201168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檢索 chunks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377647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只讀 ready_for_analysis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最多三筆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91616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29" name="Shape 27"/>
          <p:cNvSpPr/>
          <p:nvPr/>
        </p:nvSpPr>
        <p:spPr>
          <a:xfrm>
            <a:off x="635508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55080" y="1828800"/>
            <a:ext cx="91440" cy="2011680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111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本機模型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61111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Ollama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qwen2.5:3b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75080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34" name="Shape 32"/>
          <p:cNvSpPr/>
          <p:nvPr/>
        </p:nvSpPr>
        <p:spPr>
          <a:xfrm>
            <a:off x="918972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89720" y="1828800"/>
            <a:ext cx="91440" cy="201168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4575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回答＋引用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44575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答案、URL、段落、時間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1325880" y="4846320"/>
            <a:ext cx="9464040" cy="667512"/>
          </a:xfrm>
          <a:prstGeom prst="roundRect">
            <a:avLst>
              <a:gd name="adj" fmla="val 10959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25880" y="4846320"/>
            <a:ext cx="91440" cy="667512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81912" y="5074920"/>
            <a:ext cx="9006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安全規則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581912" y="5541264"/>
            <a:ext cx="8988552" cy="-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找不到足夠證據時，不呼叫模型；直接輸出 insufficient_evidence 並說明要補哪一類文件。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支持性回答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 實測｜有證據時，回答要能回到原文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960120" y="1389888"/>
            <a:ext cx="101955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1847088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DCE9E3"/>
          </a:solidFill>
          <a:ln w="12700">
            <a:solidFill>
              <a:srgbClr val="DCE9E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20574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博士生修課計畫最晚何時送所辦？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74920" y="2862072"/>
            <a:ext cx="5440680" cy="987552"/>
          </a:xfrm>
          <a:prstGeom prst="roundRect">
            <a:avLst>
              <a:gd name="adj" fmla="val 7407"/>
            </a:avLst>
          </a:prstGeom>
          <a:solidFill>
            <a:srgbClr val="E0F1EC"/>
          </a:solidFill>
          <a:ln w="12700">
            <a:solidFill>
              <a:srgbClr val="E0F1E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76672" y="3136392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第一年第一學期結束前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376672" y="349300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狀態：supported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74520" y="4389120"/>
            <a:ext cx="8366760" cy="731520"/>
          </a:xfrm>
          <a:prstGeom prst="roundRect">
            <a:avLst>
              <a:gd name="adj" fmla="val 10000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4389120"/>
            <a:ext cx="91440" cy="73152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30552" y="4617720"/>
            <a:ext cx="7909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引用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30552" y="5084064"/>
            <a:ext cx="7891272" cy="-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1-1 博士生修課計畫｜四、預定在本校修課學分數／備註｜蒐集：2026-07-22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828800" y="54864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期限、數字、單位名稱都必須可逐字回查。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不足證據與四類測試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 實測｜資料沒有說，就明確地說不知道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31520" y="1371600"/>
            <a:ext cx="516636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1783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資格考什麼時候申請？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78992" y="2395728"/>
            <a:ext cx="4480560" cy="1005840"/>
          </a:xfrm>
          <a:prstGeom prst="roundRect">
            <a:avLst>
              <a:gd name="adj" fmla="val 7273"/>
            </a:avLst>
          </a:prstGeom>
          <a:solidFill>
            <a:srgbClr val="FDE7E1"/>
          </a:solidFill>
          <a:ln w="12700">
            <a:solidFill>
              <a:srgbClr val="FDE7E1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26974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目前語料沒有足夠證據回答此問題。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307592" y="3182112"/>
            <a:ext cx="4041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狀態：insufficient_evidence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37960" y="1371600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37960" y="1371600"/>
            <a:ext cx="91440" cy="114300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93992" y="1600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793992" y="2066544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有依據的規章或流程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25128" y="1371600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25128" y="1371600"/>
            <a:ext cx="91440" cy="1143000"/>
          </a:xfrm>
          <a:prstGeom prst="rect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81160" y="1600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281160" y="2066544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公開聯絡資訊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37960" y="2944368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37960" y="2944368"/>
            <a:ext cx="91440" cy="114300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93992" y="317296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93992" y="363931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模糊問題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9025128" y="2944368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25128" y="2944368"/>
            <a:ext cx="91440" cy="1143000"/>
          </a:xfrm>
          <a:prstGeom prst="rect">
            <a:avLst/>
          </a:prstGeom>
          <a:solidFill>
            <a:srgbClr val="47645F"/>
          </a:solidFill>
          <a:ln w="12700">
            <a:solidFill>
              <a:srgbClr val="4764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0" y="317296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9281160" y="363931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語料範圍外問題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510528" y="4617720"/>
            <a:ext cx="4892040" cy="685800"/>
          </a:xfrm>
          <a:prstGeom prst="roundRect">
            <a:avLst>
              <a:gd name="adj" fmla="val 10667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10528" y="4617720"/>
            <a:ext cx="91440" cy="685800"/>
          </a:xfrm>
          <a:prstGeom prst="rect">
            <a:avLst/>
          </a:prstGeom>
          <a:solidFill>
            <a:srgbClr val="47645F"/>
          </a:solidFill>
          <a:ln w="12700">
            <a:solidFill>
              <a:srgbClr val="4764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0" y="484632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進階挑戰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766560" y="5312664"/>
            <a:ext cx="4416552" cy="-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有衝突或過期文件時，列出每個來源與 crawled_at；不自行判定現行規定。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06 · 05-ANALYZE-QUERY-FEEDBACK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05｜每一次問答，都是系統可以變好的訊號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IMPROVE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77240" y="1389888"/>
            <a:ext cx="106527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1773936"/>
            <a:ext cx="141732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1920240"/>
            <a:ext cx="12710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query_id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331720" y="1773936"/>
            <a:ext cx="306324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04872" y="1920240"/>
            <a:ext cx="2916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question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94960" y="1773936"/>
            <a:ext cx="192024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68112" y="1920240"/>
            <a:ext cx="1773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answer_status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15200" y="1773936"/>
            <a:ext cx="210312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88352" y="1920240"/>
            <a:ext cx="19568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cited_chunk_ids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418320" y="1773936"/>
            <a:ext cx="2148840" cy="475488"/>
          </a:xfrm>
          <a:prstGeom prst="rect">
            <a:avLst/>
          </a:prstGeom>
          <a:solidFill>
            <a:srgbClr val="163A35"/>
          </a:solidFill>
          <a:ln w="12700">
            <a:solidFill>
              <a:srgbClr val="163A35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91472" y="1920240"/>
            <a:ext cx="2002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user_feedback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14400" y="2249424"/>
            <a:ext cx="141732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" y="251460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q-103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331720" y="2249424"/>
            <a:ext cx="306324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23160" y="2514600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資格考何時申請？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394960" y="2249424"/>
            <a:ext cx="192024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0" y="251460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insufficient_evidence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315200" y="2249424"/>
            <a:ext cx="210312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06640" y="25146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[]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418320" y="2249424"/>
            <a:ext cx="2148840" cy="859536"/>
          </a:xfrm>
          <a:prstGeom prst="rect">
            <a:avLst/>
          </a:prstGeom>
          <a:solidFill>
            <a:srgbClr val="EDF4F1"/>
          </a:solidFill>
          <a:ln w="12700">
            <a:solidFill>
              <a:srgbClr val="BCD3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09760" y="251460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null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188720" y="370332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JSONL：每行一筆紀錄，方便追加、分類與分析。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993392" y="5349240"/>
            <a:ext cx="8138160" cy="502920"/>
          </a:xfrm>
          <a:prstGeom prst="roundRect">
            <a:avLst>
              <a:gd name="adj" fmla="val 14545"/>
            </a:avLst>
          </a:prstGeom>
          <a:solidFill>
            <a:srgbClr val="FDE7E1"/>
          </a:solidFill>
          <a:ln w="12700">
            <a:solidFill>
              <a:srgbClr val="FDE7E1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93392" y="5349240"/>
            <a:ext cx="91440" cy="50292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49424" y="55778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不要只看熱門問題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249424" y="6044184"/>
            <a:ext cx="7662672" cy="-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更要看：哪些問題沒答到？是缺文件、解析壞了，還是檢索不準？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讓資料管線形成閉環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從問答紀錄到改善 backlog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IMPROVE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3152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1828800"/>
            <a:ext cx="91440" cy="2240280"/>
          </a:xfrm>
          <a:prstGeom prst="rect">
            <a:avLst/>
          </a:prstGeom>
          <a:solidFill>
            <a:srgbClr val="E37B62"/>
          </a:solidFill>
          <a:ln w="12700">
            <a:solidFill>
              <a:srgbClr val="E37B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現象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8755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資格考問題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反覆無法回答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546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24" name="Shape 22"/>
          <p:cNvSpPr/>
          <p:nvPr/>
        </p:nvSpPr>
        <p:spPr>
          <a:xfrm>
            <a:off x="356616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0" y="1828800"/>
            <a:ext cx="91440" cy="2240280"/>
          </a:xfrm>
          <a:prstGeom prst="rect">
            <a:avLst/>
          </a:prstGeom>
          <a:solidFill>
            <a:srgbClr val="F4C95D"/>
          </a:solidFill>
          <a:ln w="12700">
            <a:solidFill>
              <a:srgbClr val="F4C95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219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證據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382219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query_id · 狀態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沒有引用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98932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29" name="Shape 27"/>
          <p:cNvSpPr/>
          <p:nvPr/>
        </p:nvSpPr>
        <p:spPr>
          <a:xfrm>
            <a:off x="640080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1828800"/>
            <a:ext cx="91440" cy="2240280"/>
          </a:xfrm>
          <a:prstGeom prst="rect">
            <a:avLst/>
          </a:prstGeom>
          <a:solidFill>
            <a:srgbClr val="47645F"/>
          </a:solidFill>
          <a:ln w="12700">
            <a:solidFill>
              <a:srgbClr val="4764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5683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原因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665683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缺少規章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或解析失敗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82396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34" name="Shape 32"/>
          <p:cNvSpPr/>
          <p:nvPr/>
        </p:nvSpPr>
        <p:spPr>
          <a:xfrm>
            <a:off x="923544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35440" y="1828800"/>
            <a:ext cx="91440" cy="224028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9147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動作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949147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add_source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repair_parse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41248" y="5001768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允許的改善動作：add_source · repair_parse · revise_chunking_or_metadata · improve_retrieval · revise_prompt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小組交付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最後繳交：五個可驗證的成果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WRAP UP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13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914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範圍與原始資料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14400" y="35478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crawl_scope · raw · manifest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999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3200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Markdown 與品質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3200400" y="35478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markdown · quality_report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285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86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chunks 與分析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5486400" y="35478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chunks.jsonl · text_analysis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1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E0F1EC"/>
          </a:solidFill>
          <a:ln w="12700">
            <a:solidFill>
              <a:srgbClr val="E0F1EC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</a:t>
            </a:r>
            <a:endParaRPr lang="en-US" sz="2300" dirty="0"/>
          </a:p>
        </p:txBody>
      </p:sp>
      <p:sp>
        <p:nvSpPr>
          <p:cNvPr id="33" name="Text 31"/>
          <p:cNvSpPr/>
          <p:nvPr/>
        </p:nvSpPr>
        <p:spPr>
          <a:xfrm>
            <a:off x="7772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可引用問答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772400" y="35478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Streamlit · citations · query_log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857232" y="1874520"/>
            <a:ext cx="1920240" cy="248716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0" y="21488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37B6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2300" dirty="0"/>
          </a:p>
        </p:txBody>
      </p:sp>
      <p:sp>
        <p:nvSpPr>
          <p:cNvPr id="37" name="Text 35"/>
          <p:cNvSpPr/>
          <p:nvPr/>
        </p:nvSpPr>
        <p:spPr>
          <a:xfrm>
            <a:off x="10058400" y="27889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改善 backlog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10058400" y="35478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現象 · 證據 · 動作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97280" y="521208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評量重點：資料可追溯性與改善判斷，不是聊天介面多漂亮。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分鐘小組展示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展示時，請用「證據鏈」說明你的小組成果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BCD3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WRAP UP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DCE9E3"/>
          </a:solidFill>
          <a:ln w="12700">
            <a:solidFill>
              <a:srgbClr val="DC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67A7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914400" y="1389888"/>
            <a:ext cx="621792" cy="6217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57276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828800" y="14356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我們的範圍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160520" y="1444752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起始網址、白名單與資料量。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914400" y="2450592"/>
            <a:ext cx="621792" cy="621792"/>
          </a:xfrm>
          <a:prstGeom prst="ellipse">
            <a:avLst/>
          </a:prstGeom>
          <a:solidFill>
            <a:srgbClr val="F4C95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828800" y="249631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一份可回查的文件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160520" y="2505456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 → Markdown → quality → chunk。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914400" y="3511296"/>
            <a:ext cx="621792" cy="621792"/>
          </a:xfrm>
          <a:prstGeom prst="ellipse">
            <a:avLst/>
          </a:prstGeom>
          <a:solidFill>
            <a:srgbClr val="E37B6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369417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828800" y="355701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一題有引用的回答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160520" y="3566160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答案、來源 URL、段落、crawled_at。</a:t>
            </a:r>
            <a:endParaRPr lang="en-US" sz="1550" dirty="0"/>
          </a:p>
        </p:txBody>
      </p:sp>
      <p:sp>
        <p:nvSpPr>
          <p:cNvPr id="31" name="Shape 29"/>
          <p:cNvSpPr/>
          <p:nvPr/>
        </p:nvSpPr>
        <p:spPr>
          <a:xfrm>
            <a:off x="914400" y="4572000"/>
            <a:ext cx="621792" cy="621792"/>
          </a:xfrm>
          <a:prstGeom prst="ellipse">
            <a:avLst/>
          </a:prstGeom>
          <a:solidFill>
            <a:srgbClr val="4764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475488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828800" y="46177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一個要改善的缺口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160520" y="462686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query_id、原因與下一步動作。</a:t>
            </a:r>
            <a:endParaRPr lang="en-US" sz="1550" dirty="0"/>
          </a:p>
        </p:txBody>
      </p:sp>
      <p:sp>
        <p:nvSpPr>
          <p:cNvPr id="35" name="Shape 33"/>
          <p:cNvSpPr/>
          <p:nvPr/>
        </p:nvSpPr>
        <p:spPr>
          <a:xfrm>
            <a:off x="2011680" y="5486400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EDF4F1"/>
          </a:solidFill>
          <a:ln w="12700">
            <a:solidFill>
              <a:srgbClr val="EDF4F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11680" y="5486400"/>
            <a:ext cx="91440" cy="457200"/>
          </a:xfrm>
          <a:prstGeom prst="rect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67712" y="5715000"/>
            <a:ext cx="772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63A3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展示原則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267712" y="6181344"/>
            <a:ext cx="7708392" cy="-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7645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讓別人看得見：資料怎麼來、答案依據什麼、下一步怎麼改善。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A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960120"/>
            <a:ext cx="4114800" cy="4114800"/>
          </a:xfrm>
          <a:prstGeom prst="arc">
            <a:avLst/>
          </a:prstGeom>
          <a:solidFill>
            <a:srgbClr val="102A27">
              <a:alpha val="0"/>
            </a:srgbClr>
          </a:solidFill>
          <a:ln w="25400">
            <a:solidFill>
              <a:srgbClr val="65B8A6">
                <a:alpha val="5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228600"/>
            <a:ext cx="2834640" cy="2834640"/>
          </a:xfrm>
          <a:prstGeom prst="arc">
            <a:avLst/>
          </a:prstGeom>
          <a:solidFill>
            <a:srgbClr val="102A27">
              <a:alpha val="0"/>
            </a:srgbClr>
          </a:solidFill>
          <a:ln w="16510">
            <a:solidFill>
              <a:srgbClr val="E37B62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40233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今天的核心原則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66751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把文件變成可用的知識，前提是它仍然可追溯。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4F81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WRAP UP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2A534D"/>
          </a:solidFill>
          <a:ln w="12700">
            <a:solidFill>
              <a:srgbClr val="2A5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E9E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2A534D"/>
          </a:solidFill>
          <a:ln w="12700">
            <a:solidFill>
              <a:srgbClr val="2A53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E9E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2A534D"/>
          </a:solidFill>
          <a:ln w="12700">
            <a:solidFill>
              <a:srgbClr val="2A53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E9E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2A534D"/>
          </a:solidFill>
          <a:ln w="12700">
            <a:solidFill>
              <a:srgbClr val="2A53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E9E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2A534D"/>
          </a:solidFill>
          <a:ln w="12700">
            <a:solidFill>
              <a:srgbClr val="2A5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E9E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65B8A6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E9E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694944" y="2240280"/>
            <a:ext cx="932688" cy="932688"/>
          </a:xfrm>
          <a:prstGeom prst="ellipse">
            <a:avLst/>
          </a:prstGeom>
          <a:solidFill>
            <a:srgbClr val="28534C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47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先確認範圍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2980944" y="2240280"/>
            <a:ext cx="932688" cy="932688"/>
          </a:xfrm>
          <a:prstGeom prst="ellipse">
            <a:avLst/>
          </a:prstGeom>
          <a:solidFill>
            <a:srgbClr val="28534C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80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2633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保留原始資料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266944" y="2240280"/>
            <a:ext cx="932688" cy="932688"/>
          </a:xfrm>
          <a:prstGeom prst="ellipse">
            <a:avLst/>
          </a:prstGeom>
          <a:solidFill>
            <a:srgbClr val="28534C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66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919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解析後要檢查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552944" y="2240280"/>
            <a:ext cx="932688" cy="932688"/>
          </a:xfrm>
          <a:prstGeom prst="ellipse">
            <a:avLst/>
          </a:prstGeom>
          <a:solidFill>
            <a:srgbClr val="28534C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52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205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有證據才回答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838944" y="2240280"/>
            <a:ext cx="932688" cy="932688"/>
          </a:xfrm>
          <a:prstGeom prst="ellipse">
            <a:avLst/>
          </a:prstGeom>
          <a:solidFill>
            <a:srgbClr val="E37B62"/>
          </a:solidFill>
          <a:ln w="12700">
            <a:solidFill>
              <a:srgbClr val="65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38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9491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用互動資料改善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97280" y="512064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5B8A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 → 文本 → AI 分析 → 智慧應用 → 使用者回饋 → 系統改善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321808" y="5806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DCE9E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謝謝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YunTech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3｜生成式人工智慧於文本資料分析的應用</dc:title>
  <dc:subject>Day 3 — 生成式人工智慧於文本資料分析的應用</dc:subject>
  <dc:creator>張育慈 Ruby</dc:creator>
  <cp:lastModifiedBy>張育慈 Ruby</cp:lastModifiedBy>
  <cp:revision>1</cp:revision>
  <dcterms:created xsi:type="dcterms:W3CDTF">2026-07-25T05:56:53Z</dcterms:created>
  <dcterms:modified xsi:type="dcterms:W3CDTF">2026-07-25T05:56:53Z</dcterms:modified>
</cp:coreProperties>
</file>