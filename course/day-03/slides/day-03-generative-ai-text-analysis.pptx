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60" r:id="rId4"/>
    <p:sldId id="262" r:id="rId5"/>
    <p:sldId id="263" r:id="rId6"/>
    <p:sldId id="264" r:id="rId7"/>
    <p:sldId id="282" r:id="rId8"/>
    <p:sldId id="266" r:id="rId9"/>
    <p:sldId id="267" r:id="rId10"/>
    <p:sldId id="300" r:id="rId11"/>
    <p:sldId id="302" r:id="rId12"/>
    <p:sldId id="289" r:id="rId13"/>
    <p:sldId id="303" r:id="rId14"/>
    <p:sldId id="272" r:id="rId15"/>
    <p:sldId id="291" r:id="rId16"/>
    <p:sldId id="293" r:id="rId17"/>
    <p:sldId id="304" r:id="rId18"/>
    <p:sldId id="27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B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08"/>
    <p:restoredTop sz="94610"/>
  </p:normalViewPr>
  <p:slideViewPr>
    <p:cSldViewPr snapToGrid="0" snapToObjects="1">
      <p:cViewPr>
        <p:scale>
          <a:sx n="112" d="100"/>
          <a:sy n="112" d="100"/>
        </p:scale>
        <p:origin x="76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86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講師關鍵句：先讓大家看見最後成果，接下來每一步才知道為何需要。
學生動作：確認今天的任務是小組完成一條資料管線。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講師關鍵句：許多混亂都來自把工具角色混在一起。今天要把每個工具放在正確位置。
學生動作：說出：MarkItDown 是解析器，不是爬蟲。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講師關鍵句：MCP 不是模型，也不是爬蟲；它是讓 Codex 能使用外部工具的標準接頭。
學生動作：完成一筆成功下載後，才以 file: URI 測試 MarkItDown MCP。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講師關鍵句：資料邊界先於工具操作。先確認範圍，是為了讓結果可重現也可說明。
學生動作：貼上 Prompt 00，提出 crawl scope，等待講師確認。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講師關鍵句：請學生互相檢查 scope，因為範圍錯了，後面每一層都會錯。
學生動作：展示 crawl_scope.json，確認各欄位都已填妥。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講師關鍵句：爬取不是把網頁抓下來而已；它要同時產生可追溯的 manifest。
學生動作：貼上 Prompt 01，限制在確認過的 crawl scope。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講師關鍵句：manifest 是資料資產的護照。沒有它，後面的引用就無法交代來源。
學生動作：檢查每筆成功與失敗資料都有 manifest 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講師關鍵句：此時才實際確認 MarkItDown MCP，因為我們已經有一份可解析的檔案。
學生動作：貼上 Prompt 02，選擇一筆成功下載的 raw_path。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講師關鍵句：不要把 PDF 轉出一堆破碎表格，卻假裝它已經適合問答。
學生動作：為文件設定品質狀態，非 ready 必須寫下原因。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講師關鍵句：chunk 不是隨意切字數；它要保留足夠語意，也保留回查來源。
學生動作：只處理 ready_for_analysis 的 Markdown，建立 chunks JSONL。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講師關鍵句：AI 可以幫忙摘要與分類，但不能把自己的推論寫成文件原文。
學生動作：建立 text_analysis.md，檢查 evidence 與 interpretation 是否分欄。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講師關鍵句：RAG 的 G 在後面：不是先叫模型猜，再找引用；而是先取得 evidence。
學生動作：開啟 Prompt 04，建立本機 Streamlit 問答介面。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講師關鍵句：支持性答案不是模型講得像真的，而是每個關鍵事實都有來源。
學生動作：在 Streamlit 介面輸入有證據的問題，確認引用完整顯示。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講師關鍵句：不知道不是失敗。缺少證據時不生成，才是可以被信任的系統行為。
學生動作：各組完成四類測試，確認每題都留下 query 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講師關鍵句：query log 把一次問答，轉成下一次改善的資料。
學生動作：確認 feedback/query_log.jsonl 每題都有一筆紀錄。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講師關鍵句：改善不是憑感覺調 prompt；每一項 backlog 都要回連 query_id 和證據。
學生動作：貼上 Prompt 05，將問答紀錄分類為可執行的改善動作。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講師關鍵句：用這張讓學生回看整天產物，確認沒有只完成 chatbot 而漏掉資料流程。
學生動作：依五項繳交物自我檢查小組資料夾。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講師關鍵句：回到今天第一張：我們不是只做問答，而是建立一條可改善的資料與 AI 流程。
學生動作：完成檔案整理與小組展示準備。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01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BD691EB-0C10-18A8-0209-4FB3D669E983}"/>
              </a:ext>
            </a:extLst>
          </p:cNvPr>
          <p:cNvGrpSpPr/>
          <p:nvPr/>
        </p:nvGrpSpPr>
        <p:grpSpPr>
          <a:xfrm>
            <a:off x="774192" y="2887380"/>
            <a:ext cx="10643616" cy="3236976"/>
            <a:chOff x="771864" y="1869146"/>
            <a:chExt cx="10643616" cy="3236976"/>
          </a:xfrm>
        </p:grpSpPr>
        <p:sp>
          <p:nvSpPr>
            <p:cNvPr id="19" name="Shape 17"/>
            <p:cNvSpPr/>
            <p:nvPr/>
          </p:nvSpPr>
          <p:spPr>
            <a:xfrm>
              <a:off x="771864" y="1869146"/>
              <a:ext cx="5084064" cy="138988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71864" y="1869146"/>
              <a:ext cx="91440" cy="1389888"/>
            </a:xfrm>
            <a:prstGeom prst="rect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027896" y="2097746"/>
              <a:ext cx="46268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資料範圍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27896" y="2564090"/>
              <a:ext cx="4608576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確認起始網址與名單，不任意擴大</a:t>
              </a: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331416" y="1869146"/>
              <a:ext cx="5084064" cy="138988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6331416" y="1869146"/>
              <a:ext cx="91440" cy="1389888"/>
            </a:xfrm>
            <a:prstGeom prst="rect">
              <a:avLst/>
            </a:prstGeom>
            <a:solidFill>
              <a:srgbClr val="E37B62"/>
            </a:solidFill>
            <a:ln w="12700">
              <a:solidFill>
                <a:srgbClr val="E37B62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6587448" y="2097746"/>
              <a:ext cx="46268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文本資產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587448" y="2564090"/>
              <a:ext cx="4608576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保留原始檔、Markdown、品質狀態與來源。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771864" y="3716234"/>
              <a:ext cx="5084064" cy="138988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771864" y="3716234"/>
              <a:ext cx="91440" cy="1389888"/>
            </a:xfrm>
            <a:prstGeom prst="rect">
              <a:avLst/>
            </a:prstGeom>
            <a:solidFill>
              <a:srgbClr val="F4C95D"/>
            </a:solidFill>
            <a:ln w="12700">
              <a:solidFill>
                <a:srgbClr val="F4C95D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1027896" y="3944834"/>
              <a:ext cx="46268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AI 應用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027896" y="4411178"/>
              <a:ext cx="4608576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建立可引用問答，無證據時不猜測。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331416" y="3716234"/>
              <a:ext cx="5084064" cy="138988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6331416" y="3716234"/>
              <a:ext cx="91440" cy="1389888"/>
            </a:xfrm>
            <a:prstGeom prst="rect">
              <a:avLst/>
            </a:prstGeom>
            <a:solidFill>
              <a:srgbClr val="47645F"/>
            </a:solidFill>
            <a:ln w="12700">
              <a:solidFill>
                <a:srgbClr val="47645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6587448" y="3944834"/>
              <a:ext cx="46268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改善閉環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587448" y="4411178"/>
              <a:ext cx="4608576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由問答紀錄找出下一輪要補的資料或規則。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2BCADBDF-D10F-14CD-9F54-90C44B4C622D}"/>
              </a:ext>
            </a:extLst>
          </p:cNvPr>
          <p:cNvGrpSpPr/>
          <p:nvPr/>
        </p:nvGrpSpPr>
        <p:grpSpPr>
          <a:xfrm>
            <a:off x="1047234" y="1673413"/>
            <a:ext cx="10104120" cy="798286"/>
            <a:chOff x="792480" y="2139696"/>
            <a:chExt cx="10104120" cy="798286"/>
          </a:xfrm>
        </p:grpSpPr>
        <p:sp>
          <p:nvSpPr>
            <p:cNvPr id="37" name="Shape 8">
              <a:extLst>
                <a:ext uri="{FF2B5EF4-FFF2-40B4-BE49-F238E27FC236}">
                  <a16:creationId xmlns:a16="http://schemas.microsoft.com/office/drawing/2014/main" id="{7D69765C-EB80-FE60-1C64-0CB5832E96F4}"/>
                </a:ext>
              </a:extLst>
            </p:cNvPr>
            <p:cNvSpPr/>
            <p:nvPr/>
          </p:nvSpPr>
          <p:spPr>
            <a:xfrm>
              <a:off x="792480" y="2139696"/>
              <a:ext cx="2148840" cy="798286"/>
            </a:xfrm>
            <a:prstGeom prst="roundRect">
              <a:avLst>
                <a:gd name="adj" fmla="val 6400"/>
              </a:avLst>
            </a:prstGeom>
            <a:solidFill>
              <a:srgbClr val="65B8A6"/>
            </a:solidFill>
            <a:ln w="12700">
              <a:solidFill>
                <a:srgbClr val="24484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BC431BCF-7D1A-B8C1-0F88-00AD2B645078}"/>
                </a:ext>
              </a:extLst>
            </p:cNvPr>
            <p:cNvSpPr/>
            <p:nvPr/>
          </p:nvSpPr>
          <p:spPr>
            <a:xfrm>
              <a:off x="975360" y="2450592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公開網站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Text 10">
              <a:extLst>
                <a:ext uri="{FF2B5EF4-FFF2-40B4-BE49-F238E27FC236}">
                  <a16:creationId xmlns:a16="http://schemas.microsoft.com/office/drawing/2014/main" id="{8436F0EF-26C6-D032-2E1E-33A252E05C1A}"/>
                </a:ext>
              </a:extLst>
            </p:cNvPr>
            <p:cNvSpPr/>
            <p:nvPr/>
          </p:nvSpPr>
          <p:spPr>
            <a:xfrm>
              <a:off x="3032760" y="2440103"/>
              <a:ext cx="320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5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→</a:t>
              </a:r>
              <a:endParaRPr lang="en-US" sz="2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0" name="Shape 11">
              <a:extLst>
                <a:ext uri="{FF2B5EF4-FFF2-40B4-BE49-F238E27FC236}">
                  <a16:creationId xmlns:a16="http://schemas.microsoft.com/office/drawing/2014/main" id="{E668D051-A03A-6F45-1E87-F335893D68FB}"/>
                </a:ext>
              </a:extLst>
            </p:cNvPr>
            <p:cNvSpPr/>
            <p:nvPr/>
          </p:nvSpPr>
          <p:spPr>
            <a:xfrm>
              <a:off x="3444240" y="2139696"/>
              <a:ext cx="2148840" cy="798282"/>
            </a:xfrm>
            <a:prstGeom prst="roundRect">
              <a:avLst>
                <a:gd name="adj" fmla="val 6400"/>
              </a:avLst>
            </a:prstGeom>
            <a:solidFill>
              <a:srgbClr val="65B8A6"/>
            </a:solidFill>
            <a:ln w="12700">
              <a:solidFill>
                <a:srgbClr val="24484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21A701DA-6612-8015-DC53-313C1BB8A957}"/>
                </a:ext>
              </a:extLst>
            </p:cNvPr>
            <p:cNvSpPr/>
            <p:nvPr/>
          </p:nvSpPr>
          <p:spPr>
            <a:xfrm>
              <a:off x="3627120" y="2450592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原始文件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2" name="Text 13">
              <a:extLst>
                <a:ext uri="{FF2B5EF4-FFF2-40B4-BE49-F238E27FC236}">
                  <a16:creationId xmlns:a16="http://schemas.microsoft.com/office/drawing/2014/main" id="{75A5076B-1FA7-F79B-FE6E-A3A00B8526EB}"/>
                </a:ext>
              </a:extLst>
            </p:cNvPr>
            <p:cNvSpPr/>
            <p:nvPr/>
          </p:nvSpPr>
          <p:spPr>
            <a:xfrm>
              <a:off x="5684520" y="2440103"/>
              <a:ext cx="320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5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→</a:t>
              </a:r>
              <a:endParaRPr lang="en-US" sz="2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3" name="Shape 14">
              <a:extLst>
                <a:ext uri="{FF2B5EF4-FFF2-40B4-BE49-F238E27FC236}">
                  <a16:creationId xmlns:a16="http://schemas.microsoft.com/office/drawing/2014/main" id="{D113DE9D-B9DA-74EE-4228-7A8133E16BA2}"/>
                </a:ext>
              </a:extLst>
            </p:cNvPr>
            <p:cNvSpPr/>
            <p:nvPr/>
          </p:nvSpPr>
          <p:spPr>
            <a:xfrm>
              <a:off x="6096000" y="2139696"/>
              <a:ext cx="2148840" cy="798277"/>
            </a:xfrm>
            <a:prstGeom prst="roundRect">
              <a:avLst>
                <a:gd name="adj" fmla="val 6400"/>
              </a:avLst>
            </a:prstGeom>
            <a:solidFill>
              <a:srgbClr val="65B8A6"/>
            </a:solidFill>
            <a:ln w="12700">
              <a:solidFill>
                <a:srgbClr val="24484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F749CE04-86C6-F236-BE14-C6628A32A42C}"/>
                </a:ext>
              </a:extLst>
            </p:cNvPr>
            <p:cNvSpPr/>
            <p:nvPr/>
          </p:nvSpPr>
          <p:spPr>
            <a:xfrm>
              <a:off x="6278880" y="2450592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可讀文字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5" name="Text 16">
              <a:extLst>
                <a:ext uri="{FF2B5EF4-FFF2-40B4-BE49-F238E27FC236}">
                  <a16:creationId xmlns:a16="http://schemas.microsoft.com/office/drawing/2014/main" id="{799BDB9B-DD7C-C938-6C3E-08C685EAF284}"/>
                </a:ext>
              </a:extLst>
            </p:cNvPr>
            <p:cNvSpPr/>
            <p:nvPr/>
          </p:nvSpPr>
          <p:spPr>
            <a:xfrm>
              <a:off x="8336280" y="2440103"/>
              <a:ext cx="320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5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→</a:t>
              </a:r>
              <a:endParaRPr lang="en-US" sz="2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6" name="Shape 17">
              <a:extLst>
                <a:ext uri="{FF2B5EF4-FFF2-40B4-BE49-F238E27FC236}">
                  <a16:creationId xmlns:a16="http://schemas.microsoft.com/office/drawing/2014/main" id="{B940033D-C74B-64C2-EDCE-88FA490FE5C9}"/>
                </a:ext>
              </a:extLst>
            </p:cNvPr>
            <p:cNvSpPr/>
            <p:nvPr/>
          </p:nvSpPr>
          <p:spPr>
            <a:xfrm>
              <a:off x="8747760" y="2139696"/>
              <a:ext cx="2148840" cy="798271"/>
            </a:xfrm>
            <a:prstGeom prst="roundRect">
              <a:avLst>
                <a:gd name="adj" fmla="val 6400"/>
              </a:avLst>
            </a:prstGeom>
            <a:solidFill>
              <a:srgbClr val="65B8A6"/>
            </a:solidFill>
            <a:ln w="12700">
              <a:solidFill>
                <a:srgbClr val="65B8A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6B1B6253-B887-B651-14C2-E65CB8616FDA}"/>
                </a:ext>
              </a:extLst>
            </p:cNvPr>
            <p:cNvSpPr/>
            <p:nvPr/>
          </p:nvSpPr>
          <p:spPr>
            <a:xfrm>
              <a:off x="8930640" y="2450592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可引用答案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8" name="Text 3">
            <a:extLst>
              <a:ext uri="{FF2B5EF4-FFF2-40B4-BE49-F238E27FC236}">
                <a16:creationId xmlns:a16="http://schemas.microsoft.com/office/drawing/2014/main" id="{2DD1DD0C-F3F3-C017-7A7A-51D6033E524E}"/>
              </a:ext>
            </a:extLst>
          </p:cNvPr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3200" b="1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從公開文本到可引用的校務知識應用</a:t>
            </a:r>
            <a:endParaRPr lang="en-US" altLang="zh-TW" sz="32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07F0E109-1323-265E-379E-30C871E1DB14}"/>
              </a:ext>
            </a:extLst>
          </p:cNvPr>
          <p:cNvSpPr/>
          <p:nvPr/>
        </p:nvSpPr>
        <p:spPr>
          <a:xfrm>
            <a:off x="566928" y="129744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D98B9818-3E58-2E6B-EA01-451E9B1896EF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02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933FFAC-5841-52DC-4083-8611AD89EE0D}"/>
              </a:ext>
            </a:extLst>
          </p:cNvPr>
          <p:cNvGrpSpPr/>
          <p:nvPr/>
        </p:nvGrpSpPr>
        <p:grpSpPr>
          <a:xfrm>
            <a:off x="815340" y="3103312"/>
            <a:ext cx="10561320" cy="2197788"/>
            <a:chOff x="786384" y="2325803"/>
            <a:chExt cx="10561320" cy="2197788"/>
          </a:xfrm>
        </p:grpSpPr>
        <p:sp>
          <p:nvSpPr>
            <p:cNvPr id="19" name="Shape 17"/>
            <p:cNvSpPr/>
            <p:nvPr/>
          </p:nvSpPr>
          <p:spPr>
            <a:xfrm>
              <a:off x="786384" y="2764715"/>
              <a:ext cx="2971800" cy="1758876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865376" y="2325803"/>
              <a:ext cx="822960" cy="822960"/>
            </a:xfrm>
            <a:prstGeom prst="ellipse">
              <a:avLst/>
            </a:prstGeom>
            <a:solidFill>
              <a:srgbClr val="E37B6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865376" y="2554403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1</a:t>
              </a:r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60704" y="3359075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Crawler</a:t>
              </a:r>
              <a:endParaRPr lang="en-US" sz="21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060704" y="3898571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取得名單內的公開網頁與附件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840480" y="3541955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28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→</a:t>
              </a:r>
              <a:endParaRPr 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581144" y="2764715"/>
              <a:ext cx="2971800" cy="1758876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660136" y="2325803"/>
              <a:ext cx="822960" cy="82296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5660136" y="2554403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2</a:t>
              </a:r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4855464" y="3359075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MarkItDown</a:t>
              </a:r>
              <a:endParaRPr lang="en-US" sz="21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793831" y="3898571"/>
              <a:ext cx="2546425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把已下載的文件轉成 Markdown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7635240" y="3541955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28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→</a:t>
              </a:r>
              <a:endParaRPr 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8375904" y="2764715"/>
              <a:ext cx="2971800" cy="1758876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9454896" y="2325803"/>
              <a:ext cx="822960" cy="822960"/>
            </a:xfrm>
            <a:prstGeom prst="ellipse">
              <a:avLst/>
            </a:prstGeom>
            <a:solidFill>
              <a:srgbClr val="163A3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9454896" y="2554403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3</a:t>
              </a:r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8650224" y="3359075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RAG</a:t>
              </a:r>
              <a:endParaRPr lang="en-US" sz="21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598004" y="3898571"/>
              <a:ext cx="2527599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找</a:t>
              </a: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 </a:t>
              </a:r>
              <a:r>
                <a:rPr lang="en-US" sz="1400" dirty="0" err="1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chunks再用模型回答與引用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1203960" y="589546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關鍵順序：先爬取，再解析；先檢索，再生成。</a:t>
            </a:r>
            <a:endParaRPr lang="en-US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12191121-C655-9B11-894C-DB4B9FF39FA5}"/>
              </a:ext>
            </a:extLst>
          </p:cNvPr>
          <p:cNvGrpSpPr/>
          <p:nvPr/>
        </p:nvGrpSpPr>
        <p:grpSpPr>
          <a:xfrm>
            <a:off x="815340" y="1502036"/>
            <a:ext cx="10972800" cy="1298448"/>
            <a:chOff x="576072" y="2670048"/>
            <a:chExt cx="10972800" cy="1298448"/>
          </a:xfrm>
        </p:grpSpPr>
        <p:sp>
          <p:nvSpPr>
            <p:cNvPr id="39" name="Shape 17">
              <a:extLst>
                <a:ext uri="{FF2B5EF4-FFF2-40B4-BE49-F238E27FC236}">
                  <a16:creationId xmlns:a16="http://schemas.microsoft.com/office/drawing/2014/main" id="{4B53B3B2-A02C-B8BE-D7C4-C9DF797E51B0}"/>
                </a:ext>
              </a:extLst>
            </p:cNvPr>
            <p:cNvSpPr/>
            <p:nvPr/>
          </p:nvSpPr>
          <p:spPr>
            <a:xfrm>
              <a:off x="914400" y="2926080"/>
              <a:ext cx="141732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3B1A8D96-2445-F92D-E4D2-A30627DC7367}"/>
                </a:ext>
              </a:extLst>
            </p:cNvPr>
            <p:cNvSpPr/>
            <p:nvPr/>
          </p:nvSpPr>
          <p:spPr>
            <a:xfrm>
              <a:off x="685800" y="2670048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382C62DE-1283-FC15-2BD5-E59D88D6882A}"/>
                </a:ext>
              </a:extLst>
            </p:cNvPr>
            <p:cNvSpPr/>
            <p:nvPr/>
          </p:nvSpPr>
          <p:spPr>
            <a:xfrm>
              <a:off x="57607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範圍與來源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A9DA4A62-398F-131B-2992-967C9A779140}"/>
                </a:ext>
              </a:extLst>
            </p:cNvPr>
            <p:cNvSpPr/>
            <p:nvPr/>
          </p:nvSpPr>
          <p:spPr>
            <a:xfrm>
              <a:off x="57607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scope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3" name="Shape 22">
              <a:extLst>
                <a:ext uri="{FF2B5EF4-FFF2-40B4-BE49-F238E27FC236}">
                  <a16:creationId xmlns:a16="http://schemas.microsoft.com/office/drawing/2014/main" id="{C1253B4F-7240-E1EF-3D4F-B99E272BB452}"/>
                </a:ext>
              </a:extLst>
            </p:cNvPr>
            <p:cNvSpPr/>
            <p:nvPr/>
          </p:nvSpPr>
          <p:spPr>
            <a:xfrm>
              <a:off x="2788920" y="2926080"/>
              <a:ext cx="141732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sp>
        <p:sp>
          <p:nvSpPr>
            <p:cNvPr id="44" name="Shape 23">
              <a:extLst>
                <a:ext uri="{FF2B5EF4-FFF2-40B4-BE49-F238E27FC236}">
                  <a16:creationId xmlns:a16="http://schemas.microsoft.com/office/drawing/2014/main" id="{39E8A4C5-C52F-CE6E-9F4A-3DA76DE45D08}"/>
                </a:ext>
              </a:extLst>
            </p:cNvPr>
            <p:cNvSpPr/>
            <p:nvPr/>
          </p:nvSpPr>
          <p:spPr>
            <a:xfrm>
              <a:off x="2560320" y="2670048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Text 25">
              <a:extLst>
                <a:ext uri="{FF2B5EF4-FFF2-40B4-BE49-F238E27FC236}">
                  <a16:creationId xmlns:a16="http://schemas.microsoft.com/office/drawing/2014/main" id="{15576B90-223D-7419-4924-16B539775506}"/>
                </a:ext>
              </a:extLst>
            </p:cNvPr>
            <p:cNvSpPr/>
            <p:nvPr/>
          </p:nvSpPr>
          <p:spPr>
            <a:xfrm>
              <a:off x="245059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爬取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6" name="Text 26">
              <a:extLst>
                <a:ext uri="{FF2B5EF4-FFF2-40B4-BE49-F238E27FC236}">
                  <a16:creationId xmlns:a16="http://schemas.microsoft.com/office/drawing/2014/main" id="{54A40F36-86B6-0A3E-8BA6-53B2994F4EBD}"/>
                </a:ext>
              </a:extLst>
            </p:cNvPr>
            <p:cNvSpPr/>
            <p:nvPr/>
          </p:nvSpPr>
          <p:spPr>
            <a:xfrm>
              <a:off x="245059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raw + manifest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CEF9DC48-E425-6AD7-B46D-4B45AFF1B143}"/>
                </a:ext>
              </a:extLst>
            </p:cNvPr>
            <p:cNvSpPr/>
            <p:nvPr/>
          </p:nvSpPr>
          <p:spPr>
            <a:xfrm>
              <a:off x="4663440" y="2926080"/>
              <a:ext cx="141732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D0A71F29-A3EC-8096-F070-01D227CD156E}"/>
                </a:ext>
              </a:extLst>
            </p:cNvPr>
            <p:cNvSpPr/>
            <p:nvPr/>
          </p:nvSpPr>
          <p:spPr>
            <a:xfrm>
              <a:off x="4434840" y="2670048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Text 30">
              <a:extLst>
                <a:ext uri="{FF2B5EF4-FFF2-40B4-BE49-F238E27FC236}">
                  <a16:creationId xmlns:a16="http://schemas.microsoft.com/office/drawing/2014/main" id="{445447A1-2B05-A946-EC0F-7EFFB49D8237}"/>
                </a:ext>
              </a:extLst>
            </p:cNvPr>
            <p:cNvSpPr/>
            <p:nvPr/>
          </p:nvSpPr>
          <p:spPr>
            <a:xfrm>
              <a:off x="432511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解析與檢查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0" name="Text 31">
              <a:extLst>
                <a:ext uri="{FF2B5EF4-FFF2-40B4-BE49-F238E27FC236}">
                  <a16:creationId xmlns:a16="http://schemas.microsoft.com/office/drawing/2014/main" id="{E867DD49-F2BE-E156-2261-9EB4782D4949}"/>
                </a:ext>
              </a:extLst>
            </p:cNvPr>
            <p:cNvSpPr/>
            <p:nvPr/>
          </p:nvSpPr>
          <p:spPr>
            <a:xfrm>
              <a:off x="432511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markdown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1" name="Shape 32">
              <a:extLst>
                <a:ext uri="{FF2B5EF4-FFF2-40B4-BE49-F238E27FC236}">
                  <a16:creationId xmlns:a16="http://schemas.microsoft.com/office/drawing/2014/main" id="{434E1775-0F08-329C-8C1D-62E41262637F}"/>
                </a:ext>
              </a:extLst>
            </p:cNvPr>
            <p:cNvSpPr/>
            <p:nvPr/>
          </p:nvSpPr>
          <p:spPr>
            <a:xfrm>
              <a:off x="6537960" y="2926080"/>
              <a:ext cx="141732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sp>
        <p:sp>
          <p:nvSpPr>
            <p:cNvPr id="52" name="Shape 33">
              <a:extLst>
                <a:ext uri="{FF2B5EF4-FFF2-40B4-BE49-F238E27FC236}">
                  <a16:creationId xmlns:a16="http://schemas.microsoft.com/office/drawing/2014/main" id="{F13552D4-742C-F720-BD0D-D151297E2205}"/>
                </a:ext>
              </a:extLst>
            </p:cNvPr>
            <p:cNvSpPr/>
            <p:nvPr/>
          </p:nvSpPr>
          <p:spPr>
            <a:xfrm>
              <a:off x="6309360" y="2670048"/>
              <a:ext cx="502920" cy="502920"/>
            </a:xfrm>
            <a:prstGeom prst="ellipse">
              <a:avLst/>
            </a:prstGeom>
            <a:solidFill>
              <a:srgbClr val="E37B6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Text 35">
              <a:extLst>
                <a:ext uri="{FF2B5EF4-FFF2-40B4-BE49-F238E27FC236}">
                  <a16:creationId xmlns:a16="http://schemas.microsoft.com/office/drawing/2014/main" id="{E2FBDDED-D6E0-439D-958E-0093A44919ED}"/>
                </a:ext>
              </a:extLst>
            </p:cNvPr>
            <p:cNvSpPr/>
            <p:nvPr/>
          </p:nvSpPr>
          <p:spPr>
            <a:xfrm>
              <a:off x="619963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AI 分析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4" name="Text 36">
              <a:extLst>
                <a:ext uri="{FF2B5EF4-FFF2-40B4-BE49-F238E27FC236}">
                  <a16:creationId xmlns:a16="http://schemas.microsoft.com/office/drawing/2014/main" id="{7FB36C34-9E8B-32AD-1851-E90F380C481A}"/>
                </a:ext>
              </a:extLst>
            </p:cNvPr>
            <p:cNvSpPr/>
            <p:nvPr/>
          </p:nvSpPr>
          <p:spPr>
            <a:xfrm>
              <a:off x="619963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chunks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5" name="Shape 37">
              <a:extLst>
                <a:ext uri="{FF2B5EF4-FFF2-40B4-BE49-F238E27FC236}">
                  <a16:creationId xmlns:a16="http://schemas.microsoft.com/office/drawing/2014/main" id="{D73CFB9A-16C5-59B5-75DF-CC613BC2AA15}"/>
                </a:ext>
              </a:extLst>
            </p:cNvPr>
            <p:cNvSpPr/>
            <p:nvPr/>
          </p:nvSpPr>
          <p:spPr>
            <a:xfrm>
              <a:off x="8412480" y="2926080"/>
              <a:ext cx="141732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sp>
        <p:sp>
          <p:nvSpPr>
            <p:cNvPr id="56" name="Shape 38">
              <a:extLst>
                <a:ext uri="{FF2B5EF4-FFF2-40B4-BE49-F238E27FC236}">
                  <a16:creationId xmlns:a16="http://schemas.microsoft.com/office/drawing/2014/main" id="{50260761-5CF2-4652-5031-DB8948338325}"/>
                </a:ext>
              </a:extLst>
            </p:cNvPr>
            <p:cNvSpPr/>
            <p:nvPr/>
          </p:nvSpPr>
          <p:spPr>
            <a:xfrm>
              <a:off x="8183880" y="2670048"/>
              <a:ext cx="502920" cy="502920"/>
            </a:xfrm>
            <a:prstGeom prst="ellipse">
              <a:avLst/>
            </a:prstGeom>
            <a:solidFill>
              <a:srgbClr val="E37B6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Text 40">
              <a:extLst>
                <a:ext uri="{FF2B5EF4-FFF2-40B4-BE49-F238E27FC236}">
                  <a16:creationId xmlns:a16="http://schemas.microsoft.com/office/drawing/2014/main" id="{7415C3D6-6B86-F5A4-441E-4FB34ABFEE13}"/>
                </a:ext>
              </a:extLst>
            </p:cNvPr>
            <p:cNvSpPr/>
            <p:nvPr/>
          </p:nvSpPr>
          <p:spPr>
            <a:xfrm>
              <a:off x="807415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可引用問答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8" name="Text 41">
              <a:extLst>
                <a:ext uri="{FF2B5EF4-FFF2-40B4-BE49-F238E27FC236}">
                  <a16:creationId xmlns:a16="http://schemas.microsoft.com/office/drawing/2014/main" id="{A0BD1DFB-AA0E-2E5D-5551-C45AB2062E81}"/>
                </a:ext>
              </a:extLst>
            </p:cNvPr>
            <p:cNvSpPr/>
            <p:nvPr/>
          </p:nvSpPr>
          <p:spPr>
            <a:xfrm>
              <a:off x="807415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RAG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9" name="Shape 43">
              <a:extLst>
                <a:ext uri="{FF2B5EF4-FFF2-40B4-BE49-F238E27FC236}">
                  <a16:creationId xmlns:a16="http://schemas.microsoft.com/office/drawing/2014/main" id="{BD0D270A-3190-4070-C57B-1C64907C32A0}"/>
                </a:ext>
              </a:extLst>
            </p:cNvPr>
            <p:cNvSpPr/>
            <p:nvPr/>
          </p:nvSpPr>
          <p:spPr>
            <a:xfrm>
              <a:off x="10058400" y="2670048"/>
              <a:ext cx="502920" cy="502920"/>
            </a:xfrm>
            <a:prstGeom prst="ellipse">
              <a:avLst/>
            </a:prstGeom>
            <a:solidFill>
              <a:srgbClr val="E37B6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Text 45">
              <a:extLst>
                <a:ext uri="{FF2B5EF4-FFF2-40B4-BE49-F238E27FC236}">
                  <a16:creationId xmlns:a16="http://schemas.microsoft.com/office/drawing/2014/main" id="{2A63F824-F16D-59EF-47AF-4C39F8D90D27}"/>
                </a:ext>
              </a:extLst>
            </p:cNvPr>
            <p:cNvSpPr/>
            <p:nvPr/>
          </p:nvSpPr>
          <p:spPr>
            <a:xfrm>
              <a:off x="9948672" y="3401568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回饋改善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1" name="Text 46">
              <a:extLst>
                <a:ext uri="{FF2B5EF4-FFF2-40B4-BE49-F238E27FC236}">
                  <a16:creationId xmlns:a16="http://schemas.microsoft.com/office/drawing/2014/main" id="{F031C8F0-02A7-9D20-1DE9-9B3387073430}"/>
                </a:ext>
              </a:extLst>
            </p:cNvPr>
            <p:cNvSpPr/>
            <p:nvPr/>
          </p:nvSpPr>
          <p:spPr>
            <a:xfrm>
              <a:off x="9948672" y="3767328"/>
              <a:ext cx="1600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backlog</a:t>
              </a:r>
              <a:endParaRPr 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2" name="Text 1">
            <a:extLst>
              <a:ext uri="{FF2B5EF4-FFF2-40B4-BE49-F238E27FC236}">
                <a16:creationId xmlns:a16="http://schemas.microsoft.com/office/drawing/2014/main" id="{F6822158-9442-E0E1-F247-3B91F4D8E6D6}"/>
              </a:ext>
            </a:extLst>
          </p:cNvPr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概念流程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D27A351-839C-1B34-D758-1B2C08CE5514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MCP 與 MarkItDown：讓 Codex </a:t>
            </a:r>
            <a:r>
              <a:rPr lang="en-US" sz="3200" b="1" dirty="0" err="1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有「文件解析能力</a:t>
            </a: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」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03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1811" y="2686622"/>
            <a:ext cx="2834640" cy="1496753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124711" y="287864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Codex</a:t>
            </a:r>
            <a:endParaRPr lang="en-US" sz="2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4711" y="342585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理解你的指令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協助整理與分析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0307" y="267462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65B8A6"/>
          </a:solidFill>
          <a:ln w="12700">
            <a:solidFill>
              <a:srgbClr val="65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81778" y="294265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MCP</a:t>
            </a:r>
            <a:endParaRPr 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85048" y="2674613"/>
            <a:ext cx="2880360" cy="1508761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41080" y="287864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MarkItDown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41080" y="34337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HTML / PDF / DOCX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 Markdown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08C9FC0-01D9-7D71-1809-E4C412CD07FE}"/>
              </a:ext>
            </a:extLst>
          </p:cNvPr>
          <p:cNvSpPr txBox="1"/>
          <p:nvPr/>
        </p:nvSpPr>
        <p:spPr>
          <a:xfrm>
            <a:off x="4911984" y="3433724"/>
            <a:ext cx="219124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呼叫工具的接頭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C0765D44-ACB1-D7CF-635C-02E0948EA232}"/>
              </a:ext>
            </a:extLst>
          </p:cNvPr>
          <p:cNvSpPr/>
          <p:nvPr/>
        </p:nvSpPr>
        <p:spPr>
          <a:xfrm>
            <a:off x="3875912" y="3451000"/>
            <a:ext cx="62788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97098A35-0347-B91C-0592-6DFE14D6FB11}"/>
              </a:ext>
            </a:extLst>
          </p:cNvPr>
          <p:cNvSpPr/>
          <p:nvPr/>
        </p:nvSpPr>
        <p:spPr>
          <a:xfrm>
            <a:off x="7532088" y="3426075"/>
            <a:ext cx="62788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720D63F-6139-A1BD-C4D8-5226752696A8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Step 00｜先建立小組專案，再確認資料範圍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04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3608" y="188976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73608" y="1889760"/>
            <a:ext cx="91440" cy="3611880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29640" y="219529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現在要做什麼？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9640" y="2820875"/>
            <a:ext cx="48737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1. 建立 team-xx-project/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2. 填入講師指定起始網址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3. 提出 allowed_hosts、允許路徑、格式與數量上限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4. 等待確認後才寫 crawl_scope.json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53200" y="1889760"/>
            <a:ext cx="4919472" cy="3611880"/>
          </a:xfrm>
          <a:prstGeom prst="roundRect">
            <a:avLst>
              <a:gd name="adj" fmla="val 2025"/>
            </a:avLst>
          </a:prstGeom>
          <a:solidFill>
            <a:srgbClr val="102A27"/>
          </a:solidFill>
          <a:ln w="12700">
            <a:solidFill>
              <a:srgbClr val="102A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891528" y="22211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5B8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預期產物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37248" y="2820875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team-01-project/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├── data/raw/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├── data/manifests/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├── data/markdown/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├── data/processed/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onsolas" pitchFamily="34" charset="-120"/>
              </a:rPr>
              <a:t>├── analysis/  rag/  feedback/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A0AD922-741F-1238-426A-36704167B0A1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檢查點｜crawl scope 是否可重現？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08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F09BD29A-0DF1-587D-F3BF-DA17AFF0F993}"/>
              </a:ext>
            </a:extLst>
          </p:cNvPr>
          <p:cNvGrpSpPr/>
          <p:nvPr/>
        </p:nvGrpSpPr>
        <p:grpSpPr>
          <a:xfrm>
            <a:off x="758952" y="1915668"/>
            <a:ext cx="10853928" cy="3026664"/>
            <a:chOff x="777240" y="1417320"/>
            <a:chExt cx="10853928" cy="3026664"/>
          </a:xfrm>
        </p:grpSpPr>
        <p:sp>
          <p:nvSpPr>
            <p:cNvPr id="19" name="Shape 17"/>
            <p:cNvSpPr/>
            <p:nvPr/>
          </p:nvSpPr>
          <p:spPr>
            <a:xfrm>
              <a:off x="777240" y="1554480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777240" y="1636776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✓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435608" y="1417320"/>
              <a:ext cx="4572000" cy="1152144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1691640" y="1645920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完整主機名稱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691640" y="2112264"/>
              <a:ext cx="4096512" cy="73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只列允許的 host，不自動加子網域。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400800" y="1554480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400800" y="1636776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✓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7059168" y="1417320"/>
              <a:ext cx="4572000" cy="1152144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7315200" y="1645920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允許路徑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7315200" y="2112264"/>
              <a:ext cx="4096512" cy="73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清楚限定單位或資料區的 URL path。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777240" y="3429000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777240" y="3511296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✓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435608" y="3291840"/>
              <a:ext cx="4572000" cy="1152144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1691640" y="3520440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格式與數量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1691640" y="3986784"/>
              <a:ext cx="4096512" cy="73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只處理 HTML、PDF、DOCX；設定上限。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400800" y="3429000"/>
              <a:ext cx="502920" cy="502920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6400800" y="3511296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✓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7059168" y="3291839"/>
              <a:ext cx="4572000" cy="1152141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7315200" y="3520440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尚未爬取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7315200" y="3986784"/>
              <a:ext cx="4096512" cy="731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scope 確認前，data/raw 應保持空白。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Text 41"/>
          <p:cNvSpPr/>
          <p:nvPr/>
        </p:nvSpPr>
        <p:spPr>
          <a:xfrm>
            <a:off x="1051560" y="56007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通過後才進入 Step 01：限定範圍爬取。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CAF4117-E855-7ACE-1BE3-C7560C3F1D19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Step 01｜限定範圍爬取，保留原始資料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09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1E6B6366-F0AD-441A-8E2C-9F7921B96246}"/>
              </a:ext>
            </a:extLst>
          </p:cNvPr>
          <p:cNvGrpSpPr/>
          <p:nvPr/>
        </p:nvGrpSpPr>
        <p:grpSpPr>
          <a:xfrm>
            <a:off x="783046" y="1888587"/>
            <a:ext cx="10266244" cy="2092560"/>
            <a:chOff x="1663701" y="1874519"/>
            <a:chExt cx="8126585" cy="1656435"/>
          </a:xfrm>
        </p:grpSpPr>
        <p:sp>
          <p:nvSpPr>
            <p:cNvPr id="19" name="Shape 17"/>
            <p:cNvSpPr/>
            <p:nvPr/>
          </p:nvSpPr>
          <p:spPr>
            <a:xfrm>
              <a:off x="2012424" y="1874519"/>
              <a:ext cx="784627" cy="784627"/>
            </a:xfrm>
            <a:prstGeom prst="ellipse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2012424" y="2070676"/>
              <a:ext cx="784627" cy="239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1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794472" y="2833508"/>
              <a:ext cx="1220531" cy="2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讀 scope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663701" y="3138640"/>
              <a:ext cx="1503869" cy="3923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allowed_hosts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allowed_path_prefix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202842" y="1874519"/>
              <a:ext cx="784627" cy="784627"/>
            </a:xfrm>
            <a:prstGeom prst="ellipse">
              <a:avLst/>
            </a:prstGeom>
            <a:solidFill>
              <a:srgbClr val="F4C95D"/>
            </a:solidFill>
            <a:ln w="12700">
              <a:solidFill>
                <a:srgbClr val="F4C95D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4202842" y="2070676"/>
              <a:ext cx="784627" cy="239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2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3984890" y="2833508"/>
              <a:ext cx="1220531" cy="2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判格式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3854118" y="3138640"/>
              <a:ext cx="1503869" cy="3923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Content-Type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Content-Disposition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連結文字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6444723" y="1874519"/>
              <a:ext cx="784627" cy="784627"/>
            </a:xfrm>
            <a:prstGeom prst="ellipse">
              <a:avLst/>
            </a:prstGeom>
            <a:solidFill>
              <a:srgbClr val="E37B62"/>
            </a:solidFill>
            <a:ln w="12700">
              <a:solidFill>
                <a:srgbClr val="E37B62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6444723" y="2070676"/>
              <a:ext cx="784627" cy="239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3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226771" y="2833508"/>
              <a:ext cx="1220531" cy="2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保存原始檔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096000" y="3138640"/>
              <a:ext cx="1503869" cy="3923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data/raw/&lt;document_id&gt;/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&lt;原始檔名&gt;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8635141" y="1874519"/>
              <a:ext cx="784627" cy="784627"/>
            </a:xfrm>
            <a:prstGeom prst="ellipse">
              <a:avLst/>
            </a:prstGeom>
            <a:solidFill>
              <a:srgbClr val="163A35"/>
            </a:solidFill>
            <a:ln w="12700">
              <a:solidFill>
                <a:srgbClr val="163A35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8635141" y="2070676"/>
              <a:ext cx="784627" cy="239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4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8417189" y="2833508"/>
              <a:ext cx="1220531" cy="272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寫 manifest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8286417" y="3138640"/>
              <a:ext cx="1503869" cy="3923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URL · 時間 · 狀態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67A7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raw_path</a:t>
              </a:r>
              <a:endPara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A3AFDD2-536A-A4AF-F1A5-9041882BA599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manifest：每一份資料都有一張「護照」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10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0AC1328-3109-B74C-11E4-933839DD0735}"/>
              </a:ext>
            </a:extLst>
          </p:cNvPr>
          <p:cNvGrpSpPr/>
          <p:nvPr/>
        </p:nvGrpSpPr>
        <p:grpSpPr>
          <a:xfrm>
            <a:off x="998220" y="1783080"/>
            <a:ext cx="10195560" cy="3977640"/>
            <a:chOff x="998220" y="1783080"/>
            <a:chExt cx="10195560" cy="3977640"/>
          </a:xfrm>
        </p:grpSpPr>
        <p:sp>
          <p:nvSpPr>
            <p:cNvPr id="19" name="Shape 17"/>
            <p:cNvSpPr/>
            <p:nvPr/>
          </p:nvSpPr>
          <p:spPr>
            <a:xfrm>
              <a:off x="998220" y="1783080"/>
              <a:ext cx="10195560" cy="3977640"/>
            </a:xfrm>
            <a:prstGeom prst="roundRect">
              <a:avLst>
                <a:gd name="adj" fmla="val 1839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363980" y="2176272"/>
              <a:ext cx="320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65B8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{</a:t>
              </a:r>
              <a:endPara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729740" y="2331720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"document_id"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3741420" y="2331720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/>
                  <a:ea typeface="Microsoft JhengHei"/>
                  <a:cs typeface="Consolas"/>
                </a:rPr>
                <a:t>: "tve-003",</a:t>
              </a:r>
              <a:endParaRPr lang="en-US" sz="1400"/>
            </a:p>
          </p:txBody>
        </p:sp>
        <p:sp>
          <p:nvSpPr>
            <p:cNvPr id="23" name="Text 21"/>
            <p:cNvSpPr/>
            <p:nvPr/>
          </p:nvSpPr>
          <p:spPr>
            <a:xfrm>
              <a:off x="1729740" y="2807208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"source_url"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741420" y="2807208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/>
                  <a:ea typeface="Microsoft JhengHei"/>
                  <a:cs typeface="Consolas"/>
                </a:rPr>
                <a:t>: "https://tve.yuntech.edu.tw/...",</a:t>
              </a:r>
              <a:endParaRPr lang="en-US" sz="1400"/>
            </a:p>
          </p:txBody>
        </p:sp>
        <p:sp>
          <p:nvSpPr>
            <p:cNvPr id="25" name="Text 23"/>
            <p:cNvSpPr/>
            <p:nvPr/>
          </p:nvSpPr>
          <p:spPr>
            <a:xfrm>
              <a:off x="1729740" y="3282696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"original_filename"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3741420" y="3282696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/>
                  <a:ea typeface="Microsoft JhengHei"/>
                  <a:cs typeface="Consolas"/>
                </a:rPr>
                <a:t>: "1-1博士生修課計畫.docx",</a:t>
              </a:r>
              <a:endParaRPr lang="en-US" sz="1400"/>
            </a:p>
          </p:txBody>
        </p:sp>
        <p:sp>
          <p:nvSpPr>
            <p:cNvPr id="27" name="Text 25"/>
            <p:cNvSpPr/>
            <p:nvPr/>
          </p:nvSpPr>
          <p:spPr>
            <a:xfrm>
              <a:off x="1729740" y="3758184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"crawled_at"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3741420" y="3758184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/>
                  <a:ea typeface="Microsoft JhengHei"/>
                  <a:cs typeface="Consolas"/>
                </a:rPr>
                <a:t>: "2026-07-22T10:12:00+08:00",</a:t>
              </a:r>
              <a:endParaRPr lang="en-US" sz="1400"/>
            </a:p>
          </p:txBody>
        </p:sp>
        <p:sp>
          <p:nvSpPr>
            <p:cNvPr id="29" name="Text 27"/>
            <p:cNvSpPr/>
            <p:nvPr/>
          </p:nvSpPr>
          <p:spPr>
            <a:xfrm>
              <a:off x="1729740" y="4233672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"raw_path"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3741420" y="4233672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/>
                  <a:ea typeface="Microsoft JhengHei"/>
                  <a:cs typeface="Consolas"/>
                </a:rPr>
                <a:t>: "data/raw/tve-003/1-1博士生修課計畫.docx",</a:t>
              </a:r>
              <a:endParaRPr lang="en-US" sz="1400"/>
            </a:p>
          </p:txBody>
        </p:sp>
        <p:sp>
          <p:nvSpPr>
            <p:cNvPr id="31" name="Text 29"/>
            <p:cNvSpPr/>
            <p:nvPr/>
          </p:nvSpPr>
          <p:spPr>
            <a:xfrm>
              <a:off x="1729740" y="4709160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"crawl_status"</a:t>
              </a:r>
              <a:endParaRPr lang="en-US" sz="15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741420" y="4709160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: "success"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1363980" y="5212080"/>
              <a:ext cx="320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65B8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onsolas" pitchFamily="34" charset="-120"/>
                </a:rPr>
                <a:t>}</a:t>
              </a:r>
              <a:endPara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916FD03-5D17-AC1D-35E5-DDE9D47ACC41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  <p:extLst>
      <p:ext uri="{BB962C8B-B14F-4D97-AF65-F5344CB8AC3E}">
        <p14:creationId xmlns:p14="http://schemas.microsoft.com/office/powerpoint/2010/main" val="221213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Step 02｜用 MarkItDown MCP 解析已下載文件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11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9E77738-74EB-BF01-5665-046FD66AE307}"/>
              </a:ext>
            </a:extLst>
          </p:cNvPr>
          <p:cNvGrpSpPr/>
          <p:nvPr/>
        </p:nvGrpSpPr>
        <p:grpSpPr>
          <a:xfrm>
            <a:off x="737616" y="1764792"/>
            <a:ext cx="10707624" cy="3429000"/>
            <a:chOff x="742188" y="1760220"/>
            <a:chExt cx="10707624" cy="3429000"/>
          </a:xfrm>
        </p:grpSpPr>
        <p:sp>
          <p:nvSpPr>
            <p:cNvPr id="19" name="Shape 17"/>
            <p:cNvSpPr/>
            <p:nvPr/>
          </p:nvSpPr>
          <p:spPr>
            <a:xfrm>
              <a:off x="742188" y="1760220"/>
              <a:ext cx="3246120" cy="3429000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42188" y="1760220"/>
              <a:ext cx="91440" cy="3429000"/>
            </a:xfrm>
            <a:prstGeom prst="rect">
              <a:avLst/>
            </a:prstGeom>
            <a:solidFill>
              <a:srgbClr val="E37B62"/>
            </a:solidFill>
            <a:ln w="12700">
              <a:solidFill>
                <a:srgbClr val="E37B62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998220" y="1988820"/>
              <a:ext cx="2788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輸入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998220" y="2455164"/>
              <a:ext cx="2770632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從 crawl_manifest.json 選 crawl_status: success 的 raw_path。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使用本機 file: URI。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472940" y="1760220"/>
              <a:ext cx="3246120" cy="3429000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4472940" y="1760220"/>
              <a:ext cx="91440" cy="3429000"/>
            </a:xfrm>
            <a:prstGeom prst="rect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4728972" y="1988820"/>
              <a:ext cx="2788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轉換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728972" y="2455164"/>
              <a:ext cx="2770632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透過 Codex 的 MarkItDown MCP，轉為 data/markdown/&lt;document_id&gt;.md。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不修改 data/raw。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8203692" y="1760220"/>
              <a:ext cx="3246120" cy="3429000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8203692" y="1760220"/>
              <a:ext cx="91440" cy="342900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8459724" y="1988820"/>
              <a:ext cx="2788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保留 metadata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8459724" y="2455164"/>
              <a:ext cx="2770632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Markdown 檔頭：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document_id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source_url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crawled_at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raw_path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1" name="Text 29"/>
          <p:cNvSpPr/>
          <p:nvPr/>
        </p:nvSpPr>
        <p:spPr>
          <a:xfrm>
            <a:off x="1107948" y="56921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先爬取 → 再解析：MarkItDown 不是網站爬蟲。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A2EDA2D-786E-D330-DC15-61130C39E756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品質檢查：不是所有轉出的文字都可以直接交給 AI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12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FD8872D9-7D47-DF8A-B3D8-37EF44C74CDA}"/>
              </a:ext>
            </a:extLst>
          </p:cNvPr>
          <p:cNvGrpSpPr/>
          <p:nvPr/>
        </p:nvGrpSpPr>
        <p:grpSpPr>
          <a:xfrm>
            <a:off x="669036" y="2029968"/>
            <a:ext cx="10853928" cy="3200400"/>
            <a:chOff x="758952" y="2007108"/>
            <a:chExt cx="10853928" cy="3200400"/>
          </a:xfrm>
        </p:grpSpPr>
        <p:sp>
          <p:nvSpPr>
            <p:cNvPr id="19" name="Shape 17"/>
            <p:cNvSpPr/>
            <p:nvPr/>
          </p:nvSpPr>
          <p:spPr>
            <a:xfrm>
              <a:off x="758952" y="2007108"/>
              <a:ext cx="3246120" cy="3200400"/>
            </a:xfrm>
            <a:prstGeom prst="roundRect">
              <a:avLst>
                <a:gd name="adj" fmla="val 2286"/>
              </a:avLst>
            </a:prstGeom>
            <a:solidFill>
              <a:srgbClr val="65B8A6"/>
            </a:solidFill>
            <a:ln w="12700">
              <a:solidFill>
                <a:srgbClr val="65B8A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987552" y="2519172"/>
              <a:ext cx="2788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ready_for_analysis</a:t>
              </a:r>
              <a:endParaRPr lang="en-US" sz="19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124712" y="3287268"/>
              <a:ext cx="2514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標題、段落與表格可讀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可以進入 chunks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124712" y="4347972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✓ 可進 RAG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562856" y="2007108"/>
              <a:ext cx="3246120" cy="3200400"/>
            </a:xfrm>
            <a:prstGeom prst="roundRect">
              <a:avLst>
                <a:gd name="adj" fmla="val 2286"/>
              </a:avLst>
            </a:prstGeom>
            <a:solidFill>
              <a:srgbClr val="E37B62"/>
            </a:solidFill>
            <a:ln w="12700">
              <a:solidFill>
                <a:srgbClr val="E37B6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4791456" y="2519172"/>
              <a:ext cx="2788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needs_review</a:t>
              </a:r>
              <a:endParaRPr lang="en-US" sz="19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4928616" y="3287268"/>
              <a:ext cx="2514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掃描、表格或結構有缺失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先人工檢視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928616" y="4347972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✕ 暫停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8366760" y="2007108"/>
              <a:ext cx="3246120" cy="3200400"/>
            </a:xfrm>
            <a:prstGeom prst="roundRect">
              <a:avLst>
                <a:gd name="adj" fmla="val 2286"/>
              </a:avLst>
            </a:prstGeom>
            <a:solidFill>
              <a:srgbClr val="47645F"/>
            </a:solidFill>
            <a:ln w="12700">
              <a:solidFill>
                <a:srgbClr val="47645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8595360" y="2519172"/>
              <a:ext cx="2788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excluded</a:t>
              </a:r>
              <a:endParaRPr lang="en-US" sz="19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8732520" y="3287268"/>
              <a:ext cx="2514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受限、白名單外或無法確認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不進後續流程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8732520" y="4347972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✕ 暫停</a:t>
              </a:r>
              <a:endParaRPr 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F6800E1-5D1C-13D9-7BE6-ED94655A2300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  <p:sp>
        <p:nvSpPr>
          <p:cNvPr id="37" name="Schema definition">
            <a:extLst>
              <a:ext uri="{FF2B5EF4-FFF2-40B4-BE49-F238E27FC236}">
                <a16:creationId xmlns:a16="http://schemas.microsoft.com/office/drawing/2014/main" id="{A583C422-CA9C-184A-97E5-9CFF79B17847}"/>
              </a:ext>
            </a:extLst>
          </p:cNvPr>
          <p:cNvSpPr txBox="1"/>
          <p:nvPr/>
        </p:nvSpPr>
        <p:spPr>
          <a:xfrm>
            <a:off x="838200" y="5372100"/>
            <a:ext cx="1051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data/processed/quality_report.jsonl  schema</a:t>
            </a:r>
            <a:r>
              <a:rPr lang="zh-TW" altLang="en-US" sz="1100">
                <a:solidFill>
                  <a:srgbClr val="47645F"/>
                </a:solidFill>
                <a:latin typeface="Microsoft JhengHei"/>
                <a:ea typeface="Microsoft JhengHei"/>
              </a:rPr>
              <a:t>：</a:t>
            </a:r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document_id · markdown_path · quality_status · quality_reasons · checked_at · checked_by</a:t>
            </a:r>
            <a:endParaRPr lang="zh-TW" altLang="en-US" sz="1100">
              <a:solidFill>
                <a:srgbClr val="47645F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Step 03｜把文件切成可檢索、可引用的 chunks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13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88136" y="1773936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408176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一份長文件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426464" y="2688336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EDF4F1"/>
          </a:solidFill>
          <a:ln w="12700">
            <a:solidFill>
              <a:srgbClr val="ED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426464" y="3346704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DCE9E3"/>
          </a:solidFill>
          <a:ln w="12700">
            <a:solidFill>
              <a:srgbClr val="DCE9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426464" y="400507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EDF4F1"/>
          </a:solidFill>
          <a:ln w="12700">
            <a:solidFill>
              <a:srgbClr val="ED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554480" y="27980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第一章：修業規定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54480" y="3456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第二章：資格考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54480" y="41148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第三章：畢業流程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14216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9744" y="1837944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809744" y="1837944"/>
            <a:ext cx="91440" cy="1298448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065776" y="206654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63A35"/>
                </a:solidFill>
                <a:latin typeface="Microsoft JhengHei"/>
                <a:ea typeface="Microsoft JhengHei"/>
              </a:rPr>
              <a:t>tve-003#001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065776" y="253288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段落文字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來源章節、網址、時間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11312" y="1837944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8211312" y="1837944"/>
            <a:ext cx="91440" cy="1298448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8467344" y="206654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63A35"/>
                </a:solidFill>
                <a:latin typeface="Microsoft JhengHei"/>
                <a:ea typeface="Microsoft JhengHei"/>
              </a:rPr>
              <a:t>tve-003#002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8467344" y="253288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段落文字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來源章節、網址、時間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09744" y="3685032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4809744" y="3685032"/>
            <a:ext cx="91440" cy="1298448"/>
          </a:xfrm>
          <a:prstGeom prst="rect">
            <a:avLst/>
          </a:prstGeom>
          <a:solidFill>
            <a:srgbClr val="E37B62"/>
          </a:solidFill>
          <a:ln w="12700">
            <a:solidFill>
              <a:srgbClr val="E37B6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5065776" y="3913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63A35"/>
                </a:solidFill>
                <a:latin typeface="Microsoft JhengHei"/>
                <a:ea typeface="Microsoft JhengHei"/>
              </a:rPr>
              <a:t>tve-003#003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5065776" y="4379976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畢業流程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來源章節、網址、時間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572768" y="56784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每段都不能失去 document_id、source_url、crawled_at。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8085F9D-A16D-1804-244D-90F39D5488DB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  <p:extLst>
      <p:ext uri="{BB962C8B-B14F-4D97-AF65-F5344CB8AC3E}">
        <p14:creationId xmlns:p14="http://schemas.microsoft.com/office/powerpoint/2010/main" val="332584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3A35"/>
                </a:solidFill>
                <a:latin typeface="Microsoft JhengHei"/>
                <a:ea typeface="Microsoft JhengHei"/>
              </a:rPr>
              <a:t>文本分析｜analysis/text_analysis.jsonl：證據與解讀分欄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14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FBA8921-B1C4-473F-D3C5-2D61DF51D319}"/>
              </a:ext>
            </a:extLst>
          </p:cNvPr>
          <p:cNvGrpSpPr/>
          <p:nvPr/>
        </p:nvGrpSpPr>
        <p:grpSpPr>
          <a:xfrm>
            <a:off x="723900" y="1977390"/>
            <a:ext cx="10744200" cy="2624328"/>
            <a:chOff x="603504" y="1600200"/>
            <a:chExt cx="10744200" cy="2624328"/>
          </a:xfrm>
        </p:grpSpPr>
        <p:sp>
          <p:nvSpPr>
            <p:cNvPr id="19" name="Shape 17"/>
            <p:cNvSpPr/>
            <p:nvPr/>
          </p:nvSpPr>
          <p:spPr>
            <a:xfrm>
              <a:off x="603504" y="1600200"/>
              <a:ext cx="1143000" cy="54864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0" name="Text 18"/>
            <p:cNvSpPr/>
            <p:nvPr/>
          </p:nvSpPr>
          <p:spPr>
            <a:xfrm>
              <a:off x="676656" y="1773936"/>
              <a:ext cx="99669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chunk_id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746504" y="1600200"/>
              <a:ext cx="2057400" cy="54864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2" name="Text 20"/>
            <p:cNvSpPr/>
            <p:nvPr/>
          </p:nvSpPr>
          <p:spPr>
            <a:xfrm>
              <a:off x="1819656" y="1773936"/>
              <a:ext cx="191109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summary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3803904" y="1600200"/>
              <a:ext cx="1417320" cy="54864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4" name="Text 22"/>
            <p:cNvSpPr/>
            <p:nvPr/>
          </p:nvSpPr>
          <p:spPr>
            <a:xfrm>
              <a:off x="3877056" y="1773936"/>
              <a:ext cx="127101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category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221224" y="1600200"/>
              <a:ext cx="3063240" cy="54864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6" name="Text 24"/>
            <p:cNvSpPr/>
            <p:nvPr/>
          </p:nvSpPr>
          <p:spPr>
            <a:xfrm>
              <a:off x="5294376" y="1773936"/>
              <a:ext cx="291693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document_evidence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8284464" y="1600200"/>
              <a:ext cx="3063240" cy="548640"/>
            </a:xfrm>
            <a:prstGeom prst="rect">
              <a:avLst/>
            </a:prstGeom>
            <a:solidFill>
              <a:srgbClr val="163A35"/>
            </a:solidFill>
            <a:ln w="12700">
              <a:solidFill>
                <a:srgbClr val="163A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8" name="Text 26"/>
            <p:cNvSpPr/>
            <p:nvPr/>
          </p:nvSpPr>
          <p:spPr>
            <a:xfrm>
              <a:off x="8357616" y="1773936"/>
              <a:ext cx="291693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ai_interpretation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603504" y="2157984"/>
              <a:ext cx="114300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30" name="Text 28"/>
            <p:cNvSpPr/>
            <p:nvPr/>
          </p:nvSpPr>
          <p:spPr>
            <a:xfrm>
              <a:off x="685800" y="2304288"/>
              <a:ext cx="9784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50">
                  <a:solidFill>
                    <a:srgbClr val="163A35"/>
                  </a:solidFill>
                  <a:latin typeface="Microsoft JhengHei"/>
                  <a:ea typeface="Microsoft JhengHei"/>
                </a:rPr>
                <a:t>tve-003#001</a:t>
              </a:r>
              <a:endParaRPr lang="en-US" sz="1150"/>
            </a:p>
          </p:txBody>
        </p:sp>
        <p:sp>
          <p:nvSpPr>
            <p:cNvPr id="31" name="Shape 29"/>
            <p:cNvSpPr/>
            <p:nvPr/>
          </p:nvSpPr>
          <p:spPr>
            <a:xfrm>
              <a:off x="1746504" y="2157984"/>
              <a:ext cx="205740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32" name="Text 30"/>
            <p:cNvSpPr/>
            <p:nvPr/>
          </p:nvSpPr>
          <p:spPr>
            <a:xfrm>
              <a:off x="1828800" y="2304288"/>
              <a:ext cx="18928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修課計畫提交期限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803904" y="2157984"/>
              <a:ext cx="141732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34" name="Text 32"/>
            <p:cNvSpPr/>
            <p:nvPr/>
          </p:nvSpPr>
          <p:spPr>
            <a:xfrm>
              <a:off x="3886200" y="2304288"/>
              <a:ext cx="12527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修業規範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5221224" y="2157984"/>
              <a:ext cx="306324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36" name="Text 34"/>
            <p:cNvSpPr/>
            <p:nvPr/>
          </p:nvSpPr>
          <p:spPr>
            <a:xfrm>
              <a:off x="5303520" y="2304288"/>
              <a:ext cx="289864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「第一年第一學期結束前…送所辦」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8284464" y="2157984"/>
              <a:ext cx="3063240" cy="10241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38" name="Text 36"/>
            <p:cNvSpPr/>
            <p:nvPr/>
          </p:nvSpPr>
          <p:spPr>
            <a:xfrm>
              <a:off x="8366760" y="2304288"/>
              <a:ext cx="289864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此規定關注修課計畫的早期確認。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603504" y="3200400"/>
              <a:ext cx="1143000" cy="1024128"/>
            </a:xfrm>
            <a:prstGeom prst="rect">
              <a:avLst/>
            </a:prstGeom>
            <a:solidFill>
              <a:srgbClr val="EDF4F1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40" name="Text 38"/>
            <p:cNvSpPr/>
            <p:nvPr/>
          </p:nvSpPr>
          <p:spPr>
            <a:xfrm>
              <a:off x="685800" y="3346704"/>
              <a:ext cx="9784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50">
                  <a:solidFill>
                    <a:srgbClr val="163A35"/>
                  </a:solidFill>
                  <a:latin typeface="Microsoft JhengHei"/>
                  <a:ea typeface="Microsoft JhengHei"/>
                </a:rPr>
                <a:t>tve-003#002</a:t>
              </a:r>
              <a:endParaRPr lang="en-US" sz="1150"/>
            </a:p>
          </p:txBody>
        </p:sp>
        <p:sp>
          <p:nvSpPr>
            <p:cNvPr id="41" name="Shape 39"/>
            <p:cNvSpPr/>
            <p:nvPr/>
          </p:nvSpPr>
          <p:spPr>
            <a:xfrm>
              <a:off x="1746504" y="3200400"/>
              <a:ext cx="2057400" cy="1024128"/>
            </a:xfrm>
            <a:prstGeom prst="rect">
              <a:avLst/>
            </a:prstGeom>
            <a:solidFill>
              <a:srgbClr val="EDF4F1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42" name="Text 40"/>
            <p:cNvSpPr/>
            <p:nvPr/>
          </p:nvSpPr>
          <p:spPr>
            <a:xfrm>
              <a:off x="1828800" y="3346704"/>
              <a:ext cx="18928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資格考申請資料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3803904" y="3200400"/>
              <a:ext cx="1417320" cy="1024128"/>
            </a:xfrm>
            <a:prstGeom prst="rect">
              <a:avLst/>
            </a:prstGeom>
            <a:solidFill>
              <a:srgbClr val="EDF4F1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44" name="Text 42"/>
            <p:cNvSpPr/>
            <p:nvPr/>
          </p:nvSpPr>
          <p:spPr>
            <a:xfrm>
              <a:off x="3886200" y="3346704"/>
              <a:ext cx="12527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行政流程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5221224" y="3200400"/>
              <a:ext cx="3063240" cy="1024128"/>
            </a:xfrm>
            <a:prstGeom prst="rect">
              <a:avLst/>
            </a:prstGeom>
            <a:solidFill>
              <a:srgbClr val="EDF4F1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46" name="Text 44"/>
            <p:cNvSpPr/>
            <p:nvPr/>
          </p:nvSpPr>
          <p:spPr>
            <a:xfrm>
              <a:off x="5303520" y="3346704"/>
              <a:ext cx="289864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「應檢附…」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8284464" y="3200400"/>
              <a:ext cx="3063240" cy="1024128"/>
            </a:xfrm>
            <a:prstGeom prst="rect">
              <a:avLst/>
            </a:prstGeom>
            <a:solidFill>
              <a:srgbClr val="EDF4F1"/>
            </a:solidFill>
            <a:ln w="12700">
              <a:solidFill>
                <a:srgbClr val="BCD3CC"/>
              </a:solidFill>
              <a:prstDash val="solid"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48" name="Text 46"/>
            <p:cNvSpPr/>
            <p:nvPr/>
          </p:nvSpPr>
          <p:spPr>
            <a:xfrm>
              <a:off x="8366760" y="3346704"/>
              <a:ext cx="289864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可能是學生常詢問的準備事項。</a:t>
              </a:r>
              <a:endPara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9CA4FFB-8AB0-ED20-FCE3-0709D4209C46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  <p:sp>
        <p:nvSpPr>
          <p:cNvPr id="2" name="Schema definition">
            <a:extLst>
              <a:ext uri="{FF2B5EF4-FFF2-40B4-BE49-F238E27FC236}">
                <a16:creationId xmlns:a16="http://schemas.microsoft.com/office/drawing/2014/main" id="{EAD3B576-590F-E347-B96E-B02C89CFE392}"/>
              </a:ext>
            </a:extLst>
          </p:cNvPr>
          <p:cNvSpPr txBox="1"/>
          <p:nvPr/>
        </p:nvSpPr>
        <p:spPr>
          <a:xfrm>
            <a:off x="838200" y="4902200"/>
            <a:ext cx="1051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schema</a:t>
            </a:r>
            <a:r>
              <a:rPr lang="zh-TW" altLang="en-US" sz="1100">
                <a:solidFill>
                  <a:srgbClr val="47645F"/>
                </a:solidFill>
                <a:latin typeface="Microsoft JhengHei"/>
                <a:ea typeface="Microsoft JhengHei"/>
              </a:rPr>
              <a:t>：</a:t>
            </a:r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document_id · chunk_id · summary · category · document_evidence · ai_interpretation</a:t>
            </a:r>
            <a:endParaRPr lang="zh-TW" altLang="en-US" sz="1100">
              <a:solidFill>
                <a:srgbClr val="47645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7340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Step 04｜RAG：先找證據，再讓模型回答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15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0" name="Shape 18"/>
          <p:cNvSpPr/>
          <p:nvPr/>
        </p:nvSpPr>
        <p:spPr>
          <a:xfrm>
            <a:off x="685800" y="1828800"/>
            <a:ext cx="91440" cy="2011680"/>
          </a:xfrm>
          <a:prstGeom prst="rect">
            <a:avLst/>
          </a:prstGeom>
          <a:solidFill>
            <a:srgbClr val="E37B62"/>
          </a:solidFill>
          <a:ln w="12700">
            <a:solidFill>
              <a:srgbClr val="E37B62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1" name="Text 19"/>
          <p:cNvSpPr/>
          <p:nvPr/>
        </p:nvSpPr>
        <p:spPr>
          <a:xfrm>
            <a:off x="94183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學生問題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最晚何時送所辦？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8152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2044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5" name="Shape 23"/>
          <p:cNvSpPr/>
          <p:nvPr/>
        </p:nvSpPr>
        <p:spPr>
          <a:xfrm>
            <a:off x="3520440" y="1828800"/>
            <a:ext cx="91440" cy="2011680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6" name="Text 24"/>
          <p:cNvSpPr/>
          <p:nvPr/>
        </p:nvSpPr>
        <p:spPr>
          <a:xfrm>
            <a:off x="377647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檢索 chunks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7647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只讀 ready_for_analysis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最多三筆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1616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0" name="Shape 28"/>
          <p:cNvSpPr/>
          <p:nvPr/>
        </p:nvSpPr>
        <p:spPr>
          <a:xfrm>
            <a:off x="6355080" y="1828800"/>
            <a:ext cx="91440" cy="2011680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1" name="Text 29"/>
          <p:cNvSpPr/>
          <p:nvPr/>
        </p:nvSpPr>
        <p:spPr>
          <a:xfrm>
            <a:off x="661111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本機模型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1111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Ollama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qwen2.5:3b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75080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18972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5" name="Shape 33"/>
          <p:cNvSpPr/>
          <p:nvPr/>
        </p:nvSpPr>
        <p:spPr>
          <a:xfrm>
            <a:off x="9189720" y="1828800"/>
            <a:ext cx="91440" cy="2011680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6" name="Text 34"/>
          <p:cNvSpPr/>
          <p:nvPr/>
        </p:nvSpPr>
        <p:spPr>
          <a:xfrm>
            <a:off x="944575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回答＋引用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4575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645F"/>
                </a:solidFill>
                <a:latin typeface="Microsoft JhengHei"/>
                <a:ea typeface="Microsoft JhengHei"/>
              </a:rPr>
              <a:t>答案</a:t>
            </a:r>
          </a:p>
          <a:p>
            <a:pPr marL="0" indent="0">
              <a:buNone/>
            </a:pPr>
            <a:r>
              <a:rPr lang="en-US" sz="1250">
                <a:solidFill>
                  <a:srgbClr val="47645F"/>
                </a:solidFill>
                <a:latin typeface="Microsoft JhengHei"/>
                <a:ea typeface="Microsoft JhengHei"/>
              </a:rPr>
              <a:t>document_id · chunk_id</a:t>
            </a:r>
          </a:p>
          <a:p>
            <a:pPr marL="0" indent="0">
              <a:buNone/>
            </a:pPr>
            <a:r>
              <a:rPr lang="en-US" sz="1250">
                <a:solidFill>
                  <a:srgbClr val="47645F"/>
                </a:solidFill>
                <a:latin typeface="Microsoft JhengHei"/>
                <a:ea typeface="Microsoft JhengHei"/>
              </a:rPr>
              <a:t>source_url · locator</a:t>
            </a:r>
          </a:p>
          <a:p>
            <a:pPr marL="0" indent="0">
              <a:buNone/>
            </a:pPr>
            <a:r>
              <a:rPr lang="en-US" sz="1250">
                <a:solidFill>
                  <a:srgbClr val="47645F"/>
                </a:solidFill>
                <a:latin typeface="Microsoft JhengHei"/>
                <a:ea typeface="Microsoft JhengHei"/>
              </a:rPr>
              <a:t>crawled_at</a:t>
            </a:r>
            <a:endParaRPr lang="en-US" sz="125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6D77E68-2835-8C0B-87CE-0AA7A1B1A71A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  <p:sp>
        <p:nvSpPr>
          <p:cNvPr id="2" name="Schema definition">
            <a:extLst>
              <a:ext uri="{FF2B5EF4-FFF2-40B4-BE49-F238E27FC236}">
                <a16:creationId xmlns:a16="http://schemas.microsoft.com/office/drawing/2014/main" id="{BE703070-22BF-ED4B-9A14-E6C4C2EB456E}"/>
              </a:ext>
            </a:extLst>
          </p:cNvPr>
          <p:cNvSpPr txBox="1"/>
          <p:nvPr/>
        </p:nvSpPr>
        <p:spPr>
          <a:xfrm>
            <a:off x="838200" y="4470400"/>
            <a:ext cx="1051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rag/citations.jsonl  schema</a:t>
            </a:r>
            <a:r>
              <a:rPr lang="zh-TW" altLang="en-US" sz="1100">
                <a:solidFill>
                  <a:srgbClr val="47645F"/>
                </a:solidFill>
                <a:latin typeface="Microsoft JhengHei"/>
                <a:ea typeface="Microsoft JhengHei"/>
              </a:rPr>
              <a:t>：</a:t>
            </a:r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query_id · document_id · chunk_id · source_url · locator · crawled_at</a:t>
            </a:r>
            <a:endParaRPr lang="zh-TW" altLang="en-US" sz="1100">
              <a:solidFill>
                <a:srgbClr val="47645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409929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RAG 實測｜有證據時，回答要能回到原文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16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0120" y="1389888"/>
            <a:ext cx="101955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417320" y="1847088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DCE9E3"/>
          </a:solidFill>
          <a:ln w="12700">
            <a:solidFill>
              <a:srgbClr val="DCE9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1691640" y="2057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博士生修課計畫最晚何時送所辦？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2862072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E0F1EC"/>
          </a:solidFill>
          <a:ln w="12700">
            <a:solidFill>
              <a:srgbClr val="E0F1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376672" y="3136392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第一年第一學期結束前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76672" y="3493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B8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狀態：supported</a:t>
            </a:r>
            <a:endParaRPr lang="en-US" sz="11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74520" y="4279900"/>
            <a:ext cx="8366760" cy="1270000"/>
          </a:xfrm>
          <a:prstGeom prst="roundRect">
            <a:avLst>
              <a:gd name="adj" fmla="val 10000"/>
            </a:avLst>
          </a:prstGeom>
          <a:solidFill>
            <a:srgbClr val="EDF4F1"/>
          </a:solidFill>
          <a:ln w="12700">
            <a:solidFill>
              <a:srgbClr val="ED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130552" y="441960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引用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30552" y="4775200"/>
            <a:ext cx="789127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47645F"/>
                </a:solidFill>
                <a:latin typeface="Microsoft JhengHei"/>
                <a:ea typeface="Microsoft JhengHei"/>
              </a:rPr>
              <a:t>document_id: tve-003 ｜ chunk_id: tve-003#001</a:t>
            </a:r>
          </a:p>
          <a:p>
            <a:pPr marL="0" indent="0">
              <a:buNone/>
            </a:pPr>
            <a:r>
              <a:rPr lang="en-US" sz="1150">
                <a:solidFill>
                  <a:srgbClr val="47645F"/>
                </a:solidFill>
                <a:latin typeface="Microsoft JhengHei"/>
                <a:ea typeface="Microsoft JhengHei"/>
              </a:rPr>
              <a:t>source_url: https://tve.yuntech.edu.tw/...</a:t>
            </a:r>
          </a:p>
          <a:p>
            <a:pPr marL="0" indent="0">
              <a:buNone/>
            </a:pPr>
            <a:r>
              <a:rPr lang="en-US" sz="1150">
                <a:solidFill>
                  <a:srgbClr val="47645F"/>
                </a:solidFill>
                <a:latin typeface="Microsoft JhengHei"/>
                <a:ea typeface="Microsoft JhengHei"/>
              </a:rPr>
              <a:t>locator: 四、預定在本校修課學分數／備註</a:t>
            </a:r>
          </a:p>
          <a:p>
            <a:pPr marL="0" indent="0">
              <a:buNone/>
            </a:pPr>
            <a:r>
              <a:rPr lang="en-US" sz="1150">
                <a:solidFill>
                  <a:srgbClr val="47645F"/>
                </a:solidFill>
                <a:latin typeface="Microsoft JhengHei"/>
                <a:ea typeface="Microsoft JhengHei"/>
              </a:rPr>
              <a:t>crawled_at: 2026-07-22T10:12:00+08:00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1828800" y="58674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期限、數字、單位名稱都必須可逐字回查。</a:t>
            </a:r>
            <a:endParaRPr 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9039133-1A1F-FD31-1669-D665AB3AAED9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  <p:extLst>
      <p:ext uri="{BB962C8B-B14F-4D97-AF65-F5344CB8AC3E}">
        <p14:creationId xmlns:p14="http://schemas.microsoft.com/office/powerpoint/2010/main" val="126614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RAG 實測｜資料沒有說，就明確地說不知道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17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FEE1F7BB-849C-A4DF-22F3-EBB059ADE0BD}"/>
              </a:ext>
            </a:extLst>
          </p:cNvPr>
          <p:cNvGrpSpPr/>
          <p:nvPr/>
        </p:nvGrpSpPr>
        <p:grpSpPr>
          <a:xfrm>
            <a:off x="868680" y="2071116"/>
            <a:ext cx="10469880" cy="2715768"/>
            <a:chOff x="731520" y="1371600"/>
            <a:chExt cx="10469880" cy="2715768"/>
          </a:xfrm>
        </p:grpSpPr>
        <p:sp>
          <p:nvSpPr>
            <p:cNvPr id="19" name="Shape 17"/>
            <p:cNvSpPr/>
            <p:nvPr/>
          </p:nvSpPr>
          <p:spPr>
            <a:xfrm>
              <a:off x="731520" y="1371600"/>
              <a:ext cx="5166360" cy="2715763"/>
            </a:xfrm>
            <a:prstGeom prst="roundRect">
              <a:avLst>
                <a:gd name="adj" fmla="val 2319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078992" y="1783080"/>
              <a:ext cx="4480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資格考什麼時候申請？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078992" y="2395728"/>
              <a:ext cx="4480560" cy="1005840"/>
            </a:xfrm>
            <a:prstGeom prst="roundRect">
              <a:avLst>
                <a:gd name="adj" fmla="val 7273"/>
              </a:avLst>
            </a:prstGeom>
            <a:solidFill>
              <a:srgbClr val="FDE7E1"/>
            </a:solidFill>
            <a:ln w="12700">
              <a:solidFill>
                <a:srgbClr val="FDE7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371600" y="2697480"/>
              <a:ext cx="3931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65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目前語料沒有足夠證據回答此問題。</a:t>
              </a:r>
              <a:endParaRPr lang="en-US" sz="16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307592" y="3182112"/>
              <a:ext cx="40416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E37B6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狀態：insufficient_evidence</a:t>
              </a:r>
              <a:endParaRPr lang="en-US" sz="11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537960" y="1371600"/>
              <a:ext cx="2176272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6537960" y="1371600"/>
              <a:ext cx="91440" cy="1143000"/>
            </a:xfrm>
            <a:prstGeom prst="rect">
              <a:avLst/>
            </a:prstGeom>
            <a:solidFill>
              <a:srgbClr val="65B8A6"/>
            </a:solidFill>
            <a:ln w="12700">
              <a:solidFill>
                <a:srgbClr val="65B8A6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793992" y="1600200"/>
              <a:ext cx="17190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1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793992" y="2066544"/>
              <a:ext cx="17007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有依據的規章或流程</a:t>
              </a:r>
              <a:endParaRPr lang="en-US" sz="12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9025128" y="1371600"/>
              <a:ext cx="2176272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9025128" y="1371600"/>
              <a:ext cx="91440" cy="1143000"/>
            </a:xfrm>
            <a:prstGeom prst="rect">
              <a:avLst/>
            </a:prstGeom>
            <a:solidFill>
              <a:srgbClr val="F4C95D"/>
            </a:solidFill>
            <a:ln w="12700">
              <a:solidFill>
                <a:srgbClr val="F4C95D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9281160" y="1600200"/>
              <a:ext cx="17190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2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9281160" y="2066544"/>
              <a:ext cx="17007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公開聯絡資訊</a:t>
              </a:r>
              <a:endParaRPr lang="en-US" sz="12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537960" y="2944368"/>
              <a:ext cx="2176272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6537960" y="2944368"/>
              <a:ext cx="91440" cy="1143000"/>
            </a:xfrm>
            <a:prstGeom prst="rect">
              <a:avLst/>
            </a:prstGeom>
            <a:solidFill>
              <a:srgbClr val="E37B62"/>
            </a:solidFill>
            <a:ln w="12700">
              <a:solidFill>
                <a:srgbClr val="E37B62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6793992" y="3172968"/>
              <a:ext cx="17190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3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6793992" y="3639312"/>
              <a:ext cx="17007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模糊問題</a:t>
              </a:r>
              <a:endParaRPr lang="en-US" sz="12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9025128" y="2944368"/>
              <a:ext cx="2176272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9025128" y="2944368"/>
              <a:ext cx="91440" cy="1143000"/>
            </a:xfrm>
            <a:prstGeom prst="rect">
              <a:avLst/>
            </a:prstGeom>
            <a:solidFill>
              <a:srgbClr val="47645F"/>
            </a:solidFill>
            <a:ln w="12700">
              <a:solidFill>
                <a:srgbClr val="47645F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9281160" y="3172968"/>
              <a:ext cx="17190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63A3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4</a:t>
              </a:r>
              <a:endParaRPr 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9281160" y="3639312"/>
              <a:ext cx="17007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47645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 pitchFamily="34" charset="-120"/>
                </a:rPr>
                <a:t>語料範圍外問題</a:t>
              </a:r>
              <a:endParaRPr lang="en-US" sz="125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5580994-AAB8-5B19-DCE2-39BA8B00F5A3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3A35"/>
                </a:solidFill>
                <a:latin typeface="Microsoft JhengHei"/>
                <a:ea typeface="Microsoft JhengHei"/>
              </a:rPr>
              <a:t>Step 05｜feedback/query_log.jsonl：每次問答都留下改善訊號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18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1869948"/>
            <a:ext cx="108813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68680" y="2253996"/>
            <a:ext cx="1417320" cy="475488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1" name="Text 19"/>
          <p:cNvSpPr/>
          <p:nvPr/>
        </p:nvSpPr>
        <p:spPr>
          <a:xfrm>
            <a:off x="941832" y="240030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query_id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0" y="2253996"/>
            <a:ext cx="3063240" cy="475488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3" name="Text 21"/>
          <p:cNvSpPr/>
          <p:nvPr/>
        </p:nvSpPr>
        <p:spPr>
          <a:xfrm>
            <a:off x="2359152" y="2400300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question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49240" y="2253996"/>
            <a:ext cx="1920240" cy="475488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5" name="Text 23"/>
          <p:cNvSpPr/>
          <p:nvPr/>
        </p:nvSpPr>
        <p:spPr>
          <a:xfrm>
            <a:off x="5422392" y="2400300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answer_status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269480" y="2253996"/>
            <a:ext cx="2103120" cy="475488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7" name="Text 25"/>
          <p:cNvSpPr/>
          <p:nvPr/>
        </p:nvSpPr>
        <p:spPr>
          <a:xfrm>
            <a:off x="7342632" y="2400300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cited_chunk_ids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72600" y="2253996"/>
            <a:ext cx="2148840" cy="475488"/>
          </a:xfrm>
          <a:prstGeom prst="rect">
            <a:avLst/>
          </a:prstGeom>
          <a:solidFill>
            <a:srgbClr val="163A35"/>
          </a:solidFill>
          <a:ln w="12700">
            <a:solidFill>
              <a:srgbClr val="163A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29" name="Text 27"/>
          <p:cNvSpPr/>
          <p:nvPr/>
        </p:nvSpPr>
        <p:spPr>
          <a:xfrm>
            <a:off x="9445752" y="2400300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user_feedback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2729484"/>
            <a:ext cx="1417320" cy="859536"/>
          </a:xfrm>
          <a:prstGeom prst="rect">
            <a:avLst/>
          </a:prstGeom>
          <a:solidFill>
            <a:srgbClr val="EDF4F1"/>
          </a:solidFill>
          <a:ln w="12700">
            <a:solidFill>
              <a:srgbClr val="BCD3CC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1" name="Text 29"/>
          <p:cNvSpPr/>
          <p:nvPr/>
        </p:nvSpPr>
        <p:spPr>
          <a:xfrm>
            <a:off x="960120" y="29946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q-103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0" y="2729484"/>
            <a:ext cx="3063240" cy="859536"/>
          </a:xfrm>
          <a:prstGeom prst="rect">
            <a:avLst/>
          </a:prstGeom>
          <a:solidFill>
            <a:srgbClr val="EDF4F1"/>
          </a:solidFill>
          <a:ln w="12700">
            <a:solidFill>
              <a:srgbClr val="BCD3CC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3" name="Text 31"/>
          <p:cNvSpPr/>
          <p:nvPr/>
        </p:nvSpPr>
        <p:spPr>
          <a:xfrm>
            <a:off x="2377440" y="29946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資格考何時申請？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349240" y="2729484"/>
            <a:ext cx="1920240" cy="859536"/>
          </a:xfrm>
          <a:prstGeom prst="rect">
            <a:avLst/>
          </a:prstGeom>
          <a:solidFill>
            <a:srgbClr val="EDF4F1"/>
          </a:solidFill>
          <a:ln w="12700">
            <a:solidFill>
              <a:srgbClr val="BCD3CC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5" name="Text 33"/>
          <p:cNvSpPr/>
          <p:nvPr/>
        </p:nvSpPr>
        <p:spPr>
          <a:xfrm>
            <a:off x="5440680" y="29946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insufficient_evidence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69480" y="2729484"/>
            <a:ext cx="2103120" cy="859536"/>
          </a:xfrm>
          <a:prstGeom prst="rect">
            <a:avLst/>
          </a:prstGeom>
          <a:solidFill>
            <a:srgbClr val="EDF4F1"/>
          </a:solidFill>
          <a:ln w="12700">
            <a:solidFill>
              <a:srgbClr val="BCD3CC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7" name="Text 35"/>
          <p:cNvSpPr/>
          <p:nvPr/>
        </p:nvSpPr>
        <p:spPr>
          <a:xfrm>
            <a:off x="7360920" y="29946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[]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372600" y="2729484"/>
            <a:ext cx="2148840" cy="859536"/>
          </a:xfrm>
          <a:prstGeom prst="rect">
            <a:avLst/>
          </a:prstGeom>
          <a:solidFill>
            <a:srgbClr val="EDF4F1"/>
          </a:solidFill>
          <a:ln w="12700">
            <a:solidFill>
              <a:srgbClr val="BCD3CC"/>
            </a:solidFill>
            <a:prstDash val="solid"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39" name="Text 37"/>
          <p:cNvSpPr/>
          <p:nvPr/>
        </p:nvSpPr>
        <p:spPr>
          <a:xfrm>
            <a:off x="9464040" y="29946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null</a:t>
            </a: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3000" y="41833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JSONL：每行一筆紀錄，方便追加、分類與分析。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C85E3BB-2972-ED49-DBC7-21C463A58E00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  <p:extLst>
      <p:ext uri="{BB962C8B-B14F-4D97-AF65-F5344CB8AC3E}">
        <p14:creationId xmlns:p14="http://schemas.microsoft.com/office/powerpoint/2010/main" val="218773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3A35"/>
                </a:solidFill>
                <a:latin typeface="Microsoft JhengHei"/>
                <a:ea typeface="Microsoft JhengHei"/>
              </a:rPr>
              <a:t>改善 backlog｜feedback/improvement_backlog.jsonl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19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1828800"/>
            <a:ext cx="91440" cy="2240280"/>
          </a:xfrm>
          <a:prstGeom prst="rect">
            <a:avLst/>
          </a:prstGeom>
          <a:solidFill>
            <a:srgbClr val="E37B62"/>
          </a:solidFill>
          <a:ln w="12700">
            <a:solidFill>
              <a:srgbClr val="E37B6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8755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現象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資格考問題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反覆無法回答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546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2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6616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566160" y="1828800"/>
            <a:ext cx="91440" cy="2240280"/>
          </a:xfrm>
          <a:prstGeom prst="rect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82219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證據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219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645F"/>
                </a:solidFill>
                <a:latin typeface="Microsoft JhengHei"/>
                <a:ea typeface="Microsoft JhengHei"/>
              </a:rPr>
              <a:t>source_query_ids</a:t>
            </a:r>
          </a:p>
          <a:p>
            <a:pPr marL="0" indent="0">
              <a:buNone/>
            </a:pPr>
            <a:r>
              <a:rPr lang="en-US" sz="1400">
                <a:solidFill>
                  <a:srgbClr val="47645F"/>
                </a:solidFill>
                <a:latin typeface="Microsoft JhengHei"/>
                <a:ea typeface="Microsoft JhengHei"/>
              </a:rPr>
              <a:t>狀態 · 引用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9893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2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400800" y="1828800"/>
            <a:ext cx="91440" cy="2240280"/>
          </a:xfrm>
          <a:prstGeom prst="rect">
            <a:avLst/>
          </a:prstGeom>
          <a:solidFill>
            <a:srgbClr val="47645F"/>
          </a:solidFill>
          <a:ln w="12700">
            <a:solidFill>
              <a:srgbClr val="4764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65683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原因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5683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缺少規章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或解析失敗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239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→</a:t>
            </a:r>
            <a:endParaRPr lang="en-US" sz="2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23544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9235440" y="1828800"/>
            <a:ext cx="91440" cy="2240280"/>
          </a:xfrm>
          <a:prstGeom prst="rect">
            <a:avLst/>
          </a:prstGeom>
          <a:solidFill>
            <a:srgbClr val="65B8A6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949147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動作</a:t>
            </a:r>
            <a:endParaRPr lang="en-US" sz="19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147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add_source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47645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repair_parse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2AF8CDE-CB5A-1127-B8B5-1843EA0D94EF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  <p:sp>
        <p:nvSpPr>
          <p:cNvPr id="2" name="Schema definition">
            <a:extLst>
              <a:ext uri="{FF2B5EF4-FFF2-40B4-BE49-F238E27FC236}">
                <a16:creationId xmlns:a16="http://schemas.microsoft.com/office/drawing/2014/main" id="{0414ECF5-9A2F-EF47-B60E-1D1D73852C94}"/>
              </a:ext>
            </a:extLst>
          </p:cNvPr>
          <p:cNvSpPr txBox="1"/>
          <p:nvPr/>
        </p:nvSpPr>
        <p:spPr>
          <a:xfrm>
            <a:off x="838200" y="4445000"/>
            <a:ext cx="1051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schema</a:t>
            </a:r>
            <a:r>
              <a:rPr lang="zh-TW" altLang="en-US" sz="1100">
                <a:solidFill>
                  <a:srgbClr val="47645F"/>
                </a:solidFill>
                <a:latin typeface="Microsoft JhengHei"/>
                <a:ea typeface="Microsoft JhengHei"/>
              </a:rPr>
              <a:t>：</a:t>
            </a:r>
            <a:r>
              <a:rPr lang="en-US" altLang="zh-TW" sz="1100">
                <a:solidFill>
                  <a:srgbClr val="47645F"/>
                </a:solidFill>
                <a:latin typeface="Microsoft JhengHei"/>
                <a:ea typeface="Microsoft JhengHei"/>
              </a:rPr>
              <a:t>backlog_id · phenomenon · evidence · cause · action · source_query_ids · priority · status</a:t>
            </a:r>
            <a:endParaRPr lang="zh-TW" altLang="en-US" sz="1100">
              <a:solidFill>
                <a:srgbClr val="47645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864047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最後繳交：五個可驗證的成果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BC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20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" y="1874520"/>
            <a:ext cx="1920240" cy="248716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01</a:t>
            </a:r>
            <a:endParaRPr lang="en-US" sz="23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範圍與原始資料</a:t>
            </a:r>
            <a:endParaRPr lang="en-US" sz="15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35478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A7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crawl_scope · raw · manifest</a:t>
            </a:r>
            <a:endParaRPr lang="en-US" sz="10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99232" y="1874520"/>
            <a:ext cx="1920240" cy="248716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200400" y="21488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02</a:t>
            </a:r>
            <a:endParaRPr lang="en-US" sz="23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Markdown 與品質</a:t>
            </a:r>
            <a:endParaRPr lang="en-US" sz="15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0" y="3454400"/>
            <a:ext cx="1508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A76"/>
                </a:solidFill>
                <a:latin typeface="Microsoft JhengHei"/>
                <a:ea typeface="Microsoft JhengHei"/>
              </a:rPr>
              <a:t>markdown · quality_report.jsonl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285232" y="1874520"/>
            <a:ext cx="1920240" cy="248716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21488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03</a:t>
            </a:r>
            <a:endParaRPr lang="en-US" sz="23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chunks 與分析</a:t>
            </a:r>
            <a:endParaRPr lang="en-US" sz="15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0" y="3454400"/>
            <a:ext cx="1508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A76"/>
                </a:solidFill>
                <a:latin typeface="Microsoft JhengHei"/>
                <a:ea typeface="Microsoft JhengHei"/>
              </a:rPr>
              <a:t>chunks.jsonl · text_analysis.jsonl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7571232" y="1874520"/>
            <a:ext cx="1920240" cy="2487168"/>
          </a:xfrm>
          <a:prstGeom prst="roundRect">
            <a:avLst>
              <a:gd name="adj" fmla="val 3810"/>
            </a:avLst>
          </a:prstGeom>
          <a:solidFill>
            <a:srgbClr val="E0F1EC"/>
          </a:solidFill>
          <a:ln w="12700">
            <a:solidFill>
              <a:srgbClr val="E0F1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7772400" y="21488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5B8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04</a:t>
            </a:r>
            <a:endParaRPr lang="en-US" sz="23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可引用問答</a:t>
            </a:r>
            <a:endParaRPr lang="en-US" sz="15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72400" y="3454400"/>
            <a:ext cx="1508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A76"/>
                </a:solidFill>
                <a:latin typeface="Microsoft JhengHei"/>
                <a:ea typeface="Microsoft JhengHei"/>
              </a:rPr>
              <a:t>Streamlit · citations.jsonl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667A76"/>
                </a:solidFill>
                <a:latin typeface="Microsoft JhengHei"/>
                <a:ea typeface="Microsoft JhengHei"/>
              </a:rPr>
              <a:t>query_log.jsonl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9857232" y="1874520"/>
            <a:ext cx="1920240" cy="248716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10058400" y="21488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37B6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05</a:t>
            </a:r>
            <a:endParaRPr lang="en-US" sz="23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58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改善 backlog</a:t>
            </a:r>
            <a:endParaRPr lang="en-US" sz="155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58400" y="3454400"/>
            <a:ext cx="150876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667A76"/>
                </a:solidFill>
                <a:latin typeface="Microsoft JhengHei"/>
                <a:ea typeface="Microsoft JhengHei"/>
              </a:rPr>
              <a:t>improvement_backlog.jsonl</a:t>
            </a:r>
          </a:p>
          <a:p>
            <a:pPr marL="0" indent="0" algn="ctr">
              <a:buNone/>
            </a:pPr>
            <a:r>
              <a:rPr lang="en-US" sz="850">
                <a:solidFill>
                  <a:srgbClr val="667A76"/>
                </a:solidFill>
                <a:latin typeface="Microsoft JhengHei"/>
                <a:ea typeface="Microsoft JhengHei"/>
              </a:rPr>
              <a:t>含原因 · source_query_ids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1097280" y="5212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3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評量重點：資料可追溯性與改善判斷，不是聊天介面多漂亮。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981685E-4578-D89F-F2FF-009DFF4338B6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  <p:extLst>
      <p:ext uri="{BB962C8B-B14F-4D97-AF65-F5344CB8AC3E}">
        <p14:creationId xmlns:p14="http://schemas.microsoft.com/office/powerpoint/2010/main" val="1052839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60120"/>
            <a:ext cx="4114800" cy="4114800"/>
          </a:xfrm>
          <a:prstGeom prst="arc">
            <a:avLst/>
          </a:prstGeom>
          <a:solidFill>
            <a:srgbClr val="102A27">
              <a:alpha val="0"/>
            </a:srgbClr>
          </a:solidFill>
          <a:ln w="25400">
            <a:solidFill>
              <a:srgbClr val="65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228600"/>
            <a:ext cx="2834640" cy="2834640"/>
          </a:xfrm>
          <a:prstGeom prst="arc">
            <a:avLst/>
          </a:prstGeom>
          <a:solidFill>
            <a:srgbClr val="102A27">
              <a:alpha val="0"/>
            </a:srgbClr>
          </a:solidFill>
          <a:ln w="16510">
            <a:solidFill>
              <a:srgbClr val="E37B6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65B8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今天的核心原則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667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把文件變成可用的知識，前提是它仍然可追溯。</a:t>
            </a:r>
            <a:endParaRPr lang="en-US" sz="3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4F81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B8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22</a:t>
            </a:r>
            <a:endParaRPr 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240280"/>
            <a:ext cx="932688" cy="932688"/>
          </a:xfrm>
          <a:prstGeom prst="ellipse">
            <a:avLst/>
          </a:prstGeom>
          <a:solidFill>
            <a:srgbClr val="28534C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94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1</a:t>
            </a:r>
            <a:endParaRPr lang="en-US" sz="1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先確認範圍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80944" y="2240280"/>
            <a:ext cx="932688" cy="932688"/>
          </a:xfrm>
          <a:prstGeom prst="ellipse">
            <a:avLst/>
          </a:prstGeom>
          <a:solidFill>
            <a:srgbClr val="28534C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980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2</a:t>
            </a:r>
            <a:endParaRPr lang="en-US" sz="1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33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保留原始資料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66944" y="2240280"/>
            <a:ext cx="932688" cy="932688"/>
          </a:xfrm>
          <a:prstGeom prst="ellipse">
            <a:avLst/>
          </a:prstGeom>
          <a:solidFill>
            <a:srgbClr val="28534C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266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3</a:t>
            </a:r>
            <a:endParaRPr lang="en-US" sz="1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19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解析後要檢查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52944" y="2240280"/>
            <a:ext cx="932688" cy="932688"/>
          </a:xfrm>
          <a:prstGeom prst="ellipse">
            <a:avLst/>
          </a:prstGeom>
          <a:solidFill>
            <a:srgbClr val="28534C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552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4</a:t>
            </a:r>
            <a:endParaRPr lang="en-US" sz="1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05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有證據才回答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838944" y="2240280"/>
            <a:ext cx="932688" cy="932688"/>
          </a:xfrm>
          <a:prstGeom prst="ellipse">
            <a:avLst/>
          </a:prstGeom>
          <a:solidFill>
            <a:srgbClr val="E37B62"/>
          </a:solidFill>
          <a:ln w="12700">
            <a:solidFill>
              <a:srgbClr val="65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9838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5</a:t>
            </a:r>
            <a:endParaRPr lang="en-US" sz="17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91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用互動資料改善</a:t>
            </a:r>
            <a:endParaRPr lang="en-US" sz="15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97280" y="51206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 pitchFamily="34" charset="-120"/>
              </a:rPr>
              <a:t>資料 → 文本 → AI 分析 → 智慧應用 → 使用者回饋 → 系統改善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2FAAB36-4FF2-AC9F-6191-300BED48B058}"/>
              </a:ext>
            </a:extLst>
          </p:cNvPr>
          <p:cNvSpPr txBox="1"/>
          <p:nvPr/>
        </p:nvSpPr>
        <p:spPr>
          <a:xfrm>
            <a:off x="502920" y="6473952"/>
            <a:ext cx="609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Day3 | </a:t>
            </a:r>
            <a:r>
              <a:rPr lang="zh-TW" altLang="zh-TW" sz="105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生成式人工智慧於文本資料分析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45D2B0-79D1-3646-A8DD-0C2287486BA4}">
  <we:reference id="wa200010215" version="2.0.0.0" store="zh-TW" storeType="OMEX"/>
  <we:alternateReferences>
    <we:reference id="wa200010215" version="2.0.0.0" store="wa200010215" storeType="OMEX"/>
  </we:alternateReferences>
  <we:properties>
    <we:property name="bps.codex_control.document_id" value="&quot;be192752-e22f-4613-89b9-bbc99fbe1f1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1506</Words>
  <Application>Microsoft Macintosh PowerPoint</Application>
  <PresentationFormat>寬螢幕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YunTech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3｜生成式人工智慧於文本資料分析的應用</dc:title>
  <dc:subject>Day 3 — 生成式人工智慧於文本資料分析的應用</dc:subject>
  <dc:creator>張育慈 Ruby</dc:creator>
  <cp:lastModifiedBy>TZU</cp:lastModifiedBy>
  <cp:revision>9</cp:revision>
  <dcterms:created xsi:type="dcterms:W3CDTF">2026-07-25T05:56:53Z</dcterms:created>
  <dcterms:modified xsi:type="dcterms:W3CDTF">2026-07-26T03:20:47Z</dcterms:modified>
</cp:coreProperties>
</file>