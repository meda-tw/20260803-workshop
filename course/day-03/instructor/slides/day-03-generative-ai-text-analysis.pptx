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講師關鍵句：今天的重點不是做一個聊天機器人，而是讓 AI 的解讀與每個答案都能回到資料來源。
學生動作：下載工作坊 ZIP，開啟 course/day-03/rag-demo。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講師關鍵句：今天不是先做聊天畫面；先讓 AI 協助讀懂並整理文件。
學生動作：確認今天有兩個成果：分析表和可引用問答助手。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講師關鍵句：前 30 分鐘一起把工具裝好；之後每個階段都要留下可回查的產物。
學生動作：完成健康檢查後，依時程安排工作，午休前完成解析與品質檢查。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講師關鍵句：RAG 不讓模型取代文件；它讓模型先取得可回查的證據，再協助整理答案。
學生動作：回答時先問：這句話能回到哪份文件、哪個段落？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講師關鍵句：這些不是考試名詞，而是介面建立前必須完成的資料成果。
學生動作：在 repo README 找到資料夾結構與輸出檔。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講師關鍵句：學生不選網址，也不下載資料；先讀來源紀錄，知道每份文件從哪裡來。
學生動作：貼上提示詞 1，確認環境與四份來源檔。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講師關鍵句：原始檔已準備好；學生只做本機轉換與品質判讀，不重做網頁蒐集。
學生動作：貼上提示詞 2，完成四份文件的轉換與品質結果。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講師關鍵句：生成式 AI 的價值是協助閱讀與分類，不是取代來源或補造規定。
學生動作：貼上提示詞 3，建立含來源段落的校務文件分析表。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講師關鍵句：不要把 PDF 轉出一堆破碎表格，卻假裝它已經適合問答。
學生動作：為文件設定品質狀態，非 ready 必須寫下原因。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講師關鍵句：chunk 不只是一段文字；它同時帶著來源，才能被檢索和引用。
學生動作：處理 Markdown 後執行 python scripts/build_index.py。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講師關鍵句：這一頁確認的不是答案，而是 Streamlit 稍後會使用的資料來源與索引欄位。
學生動作：確認 vector_index.jsonl 已建立，並知道有哪些文件與 chunks。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講師關鍵句：nomic-embed-text-v2-moe 只建立與比較向量，不負責回答；qwen2.5:3b 只根據找回的證據整理自然語言答案。
學生動作：依提示詞 5 建立 Streamlit 介面，再接上自己的向量索引。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講師關鍵句：這是學生以 Codex 從空白建立的 Streamlit 介面；問題先出現在右側，答案與引用在左側。
學生動作：以自己的索引提問，確認答案、年度與來源完整顯示。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講師關鍵句：資料不足不是失敗；它告訴學生下一輪應補哪一類公開文件，而不是讓模型猜。
學生動作：測試四類問題，確認英文與日期題會顯示適用年度或公告日期。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講師關鍵句：問答紀錄把一次問答轉成下一次改善的資料；它不是真實使用者回饋。
學生動作：確認本機問答紀錄表格會彙整每次對話的主要主題，並保留每題自我測試紀錄。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講師關鍵句：改善不是憑感覺調 prompt；每一項 backlog 都要回連 query_id 和證據。
學生動作：從問答紀錄回顧哪些題目需要補資料、修解析、調整切分或改善檢索。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講師關鍵句：今天不是交作業；請每個人用自己的電腦核對完整證據鏈。
學生動作：完成個人自我檢核；不公開部署或分享連結。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YUNTECH WORKSHOP · 2026 / 08 / 05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3｜生成式人工智慧於文本資料分析的應用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DAY 03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000" dirty="0"/>
          </a:p>
        </p:txBody>
      </p:sp>
      <p:sp>
        <p:nvSpPr>
          <p:cNvPr id="51" name="Text 48"/>
          <p:cNvSpPr/>
          <p:nvPr/>
        </p:nvSpPr>
        <p:spPr>
          <a:xfrm>
            <a:off x="603504" y="1481328"/>
            <a:ext cx="8686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先用生成式 AI 分析校務文件，再用問答助手驗證解讀</a:t>
            </a:r>
            <a:endParaRPr lang="en-US" sz="2000" dirty="0"/>
          </a:p>
        </p:txBody>
      </p:sp>
      <p:sp>
        <p:nvSpPr>
          <p:cNvPr id="52" name="Shape 49"/>
          <p:cNvSpPr/>
          <p:nvPr/>
        </p:nvSpPr>
        <p:spPr>
          <a:xfrm>
            <a:off x="64008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82296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四份原始文件</a:t>
            </a:r>
            <a:endParaRPr lang="en-US" sz="1800" dirty="0"/>
          </a:p>
        </p:txBody>
      </p:sp>
      <p:sp>
        <p:nvSpPr>
          <p:cNvPr id="54" name="Text 51"/>
          <p:cNvSpPr/>
          <p:nvPr/>
        </p:nvSpPr>
        <p:spPr>
          <a:xfrm>
            <a:off x="285292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5" name="Shape 52"/>
          <p:cNvSpPr/>
          <p:nvPr/>
        </p:nvSpPr>
        <p:spPr>
          <a:xfrm>
            <a:off x="329184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47472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文件分析表</a:t>
            </a:r>
            <a:endParaRPr lang="en-US" sz="1800" dirty="0"/>
          </a:p>
        </p:txBody>
      </p:sp>
      <p:sp>
        <p:nvSpPr>
          <p:cNvPr id="57" name="Text 54"/>
          <p:cNvSpPr/>
          <p:nvPr/>
        </p:nvSpPr>
        <p:spPr>
          <a:xfrm>
            <a:off x="550468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58" name="Shape 55"/>
          <p:cNvSpPr/>
          <p:nvPr/>
        </p:nvSpPr>
        <p:spPr>
          <a:xfrm>
            <a:off x="594360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12648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搜尋索引</a:t>
            </a:r>
            <a:endParaRPr lang="en-US" sz="1800" dirty="0"/>
          </a:p>
        </p:txBody>
      </p:sp>
      <p:sp>
        <p:nvSpPr>
          <p:cNvPr id="60" name="Text 57"/>
          <p:cNvSpPr/>
          <p:nvPr/>
        </p:nvSpPr>
        <p:spPr>
          <a:xfrm>
            <a:off x="8156448" y="3090672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1" name="Shape 58"/>
          <p:cNvSpPr/>
          <p:nvPr/>
        </p:nvSpPr>
        <p:spPr>
          <a:xfrm>
            <a:off x="8595360" y="2743200"/>
            <a:ext cx="2148840" cy="1143000"/>
          </a:xfrm>
          <a:prstGeom prst="roundRect">
            <a:avLst>
              <a:gd name="adj" fmla="val 6400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8778240" y="305409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可引用問答</a:t>
            </a:r>
            <a:endParaRPr lang="en-US" sz="1800" dirty="0"/>
          </a:p>
        </p:txBody>
      </p:sp>
      <p:sp>
        <p:nvSpPr>
          <p:cNvPr id="63" name="Text 60"/>
          <p:cNvSpPr/>
          <p:nvPr/>
        </p:nvSpPr>
        <p:spPr>
          <a:xfrm>
            <a:off x="621792" y="53218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講師｜張育慈 Ruby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今日成果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今天結束前，你會完成什麼？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417320"/>
            <a:ext cx="91440" cy="138988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四份原始文件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41832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講師已提供 raw 與來源紀錄，學生不必找網址。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245352" y="1417320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6245352" y="1417320"/>
            <a:ext cx="91440" cy="138988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6501384" y="1645920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校務文件分析表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6501384" y="2112264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分開原文、AI 解讀、適用條件與不確定處。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685800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3264408"/>
            <a:ext cx="91440" cy="1389888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1832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自己的資料索引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941832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Markdown、品質結果、chunks 與向量索引。</a:t>
            </a:r>
            <a:endParaRPr lang="en-US" sz="1600" dirty="0"/>
          </a:p>
        </p:txBody>
      </p:sp>
      <p:sp>
        <p:nvSpPr>
          <p:cNvPr id="75" name="Shape 72"/>
          <p:cNvSpPr/>
          <p:nvPr/>
        </p:nvSpPr>
        <p:spPr>
          <a:xfrm>
            <a:off x="6245352" y="3264408"/>
            <a:ext cx="5084064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6245352" y="3264408"/>
            <a:ext cx="91440" cy="1389888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501384" y="3493008"/>
            <a:ext cx="46268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可引用 RAG</a:t>
            </a:r>
            <a:endParaRPr lang="en-US" sz="1800" dirty="0"/>
          </a:p>
        </p:txBody>
      </p:sp>
      <p:sp>
        <p:nvSpPr>
          <p:cNvPr id="78" name="Text 75"/>
          <p:cNvSpPr/>
          <p:nvPr/>
        </p:nvSpPr>
        <p:spPr>
          <a:xfrm>
            <a:off x="6501384" y="3959352"/>
            <a:ext cx="460857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回答只用自己的來源；證據不足時明確停止。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713232" y="541324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完成順序不能倒過來：原始文件 → 分析表 → 索引 → Streamlit 問答與歷程。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 — 16:30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今日時程與檢查點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OPENING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1440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760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09:00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5760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工具建置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760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Ollama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278892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256032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245059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09:30</a:t>
            </a:r>
            <a:endParaRPr lang="en-US" sz="1400" dirty="0"/>
          </a:p>
        </p:txBody>
      </p:sp>
      <p:sp>
        <p:nvSpPr>
          <p:cNvPr id="71" name="Text 68"/>
          <p:cNvSpPr/>
          <p:nvPr/>
        </p:nvSpPr>
        <p:spPr>
          <a:xfrm>
            <a:off x="245059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讀懂來源資料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245059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+ manifest</a:t>
            </a:r>
            <a:endParaRPr lang="en-US" sz="1000" dirty="0"/>
          </a:p>
        </p:txBody>
      </p:sp>
      <p:sp>
        <p:nvSpPr>
          <p:cNvPr id="73" name="Shape 70"/>
          <p:cNvSpPr/>
          <p:nvPr/>
        </p:nvSpPr>
        <p:spPr>
          <a:xfrm>
            <a:off x="466344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4434840" y="2670048"/>
            <a:ext cx="502920" cy="502920"/>
          </a:xfrm>
          <a:prstGeom prst="ellipse">
            <a:avLst/>
          </a:prstGeom>
          <a:solidFill>
            <a:srgbClr val="3679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32511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10:00</a:t>
            </a:r>
            <a:endParaRPr lang="en-US" sz="1400" dirty="0"/>
          </a:p>
        </p:txBody>
      </p:sp>
      <p:sp>
        <p:nvSpPr>
          <p:cNvPr id="76" name="Text 73"/>
          <p:cNvSpPr/>
          <p:nvPr/>
        </p:nvSpPr>
        <p:spPr>
          <a:xfrm>
            <a:off x="432511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解析與品質檢查</a:t>
            </a:r>
            <a:endParaRPr lang="en-US" sz="1400" dirty="0"/>
          </a:p>
        </p:txBody>
      </p:sp>
      <p:sp>
        <p:nvSpPr>
          <p:cNvPr id="77" name="Text 74"/>
          <p:cNvSpPr/>
          <p:nvPr/>
        </p:nvSpPr>
        <p:spPr>
          <a:xfrm>
            <a:off x="432511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 → Markdown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653796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630936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619963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13:30</a:t>
            </a:r>
            <a:endParaRPr lang="en-US" sz="1400" dirty="0"/>
          </a:p>
        </p:txBody>
      </p:sp>
      <p:sp>
        <p:nvSpPr>
          <p:cNvPr id="81" name="Text 78"/>
          <p:cNvSpPr/>
          <p:nvPr/>
        </p:nvSpPr>
        <p:spPr>
          <a:xfrm>
            <a:off x="619963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建立分析表</a:t>
            </a:r>
            <a:endParaRPr lang="en-US" sz="1400" dirty="0"/>
          </a:p>
        </p:txBody>
      </p:sp>
      <p:sp>
        <p:nvSpPr>
          <p:cNvPr id="82" name="Text 79"/>
          <p:cNvSpPr/>
          <p:nvPr/>
        </p:nvSpPr>
        <p:spPr>
          <a:xfrm>
            <a:off x="619963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原文 → AI 解讀</a:t>
            </a:r>
            <a:endParaRPr lang="en-US" sz="1000" dirty="0"/>
          </a:p>
        </p:txBody>
      </p:sp>
      <p:sp>
        <p:nvSpPr>
          <p:cNvPr id="83" name="Shape 80"/>
          <p:cNvSpPr/>
          <p:nvPr/>
        </p:nvSpPr>
        <p:spPr>
          <a:xfrm>
            <a:off x="8412480" y="2926080"/>
            <a:ext cx="1417320" cy="0"/>
          </a:xfrm>
          <a:prstGeom prst="line">
            <a:avLst/>
          </a:prstGeom>
          <a:noFill/>
          <a:ln w="25400">
            <a:solidFill>
              <a:srgbClr val="3679B9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818388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807415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14:30</a:t>
            </a:r>
            <a:endParaRPr lang="en-US" sz="1400" dirty="0"/>
          </a:p>
        </p:txBody>
      </p:sp>
      <p:sp>
        <p:nvSpPr>
          <p:cNvPr id="86" name="Text 83"/>
          <p:cNvSpPr/>
          <p:nvPr/>
        </p:nvSpPr>
        <p:spPr>
          <a:xfrm>
            <a:off x="807415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索引與 Streamlit</a:t>
            </a:r>
            <a:endParaRPr lang="en-US" sz="1400" dirty="0"/>
          </a:p>
        </p:txBody>
      </p:sp>
      <p:sp>
        <p:nvSpPr>
          <p:cNvPr id="87" name="Text 84"/>
          <p:cNvSpPr/>
          <p:nvPr/>
        </p:nvSpPr>
        <p:spPr>
          <a:xfrm>
            <a:off x="807415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Codex + RAG</a:t>
            </a:r>
            <a:endParaRPr lang="en-US" sz="1000" dirty="0"/>
          </a:p>
        </p:txBody>
      </p:sp>
      <p:sp>
        <p:nvSpPr>
          <p:cNvPr id="88" name="Shape 85"/>
          <p:cNvSpPr/>
          <p:nvPr/>
        </p:nvSpPr>
        <p:spPr>
          <a:xfrm>
            <a:off x="10287000" y="2926080"/>
            <a:ext cx="1417320" cy="0"/>
          </a:xfrm>
          <a:prstGeom prst="line">
            <a:avLst/>
          </a:prstGeom>
          <a:noFill/>
          <a:ln w="25400">
            <a:solidFill>
              <a:srgbClr val="E8F1F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>
            <a:off x="10058400" y="2670048"/>
            <a:ext cx="502920" cy="502920"/>
          </a:xfrm>
          <a:prstGeom prst="ellipse">
            <a:avLst/>
          </a:prstGeom>
          <a:solidFill>
            <a:srgbClr val="E58A4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9948672" y="20574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15:40</a:t>
            </a:r>
            <a:endParaRPr lang="en-US" sz="1400" dirty="0"/>
          </a:p>
        </p:txBody>
      </p:sp>
      <p:sp>
        <p:nvSpPr>
          <p:cNvPr id="91" name="Text 88"/>
          <p:cNvSpPr/>
          <p:nvPr/>
        </p:nvSpPr>
        <p:spPr>
          <a:xfrm>
            <a:off x="9948672" y="340156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測試與歷程</a:t>
            </a:r>
            <a:endParaRPr lang="en-US" sz="1400" dirty="0"/>
          </a:p>
        </p:txBody>
      </p:sp>
      <p:sp>
        <p:nvSpPr>
          <p:cNvPr id="92" name="Text 89"/>
          <p:cNvSpPr/>
          <p:nvPr/>
        </p:nvSpPr>
        <p:spPr>
          <a:xfrm>
            <a:off x="9948672" y="376732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問答紀錄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概念橋接 02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為什麼需要 RAG？先找到證據，再讓模型回答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600200"/>
            <a:ext cx="32461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600200"/>
            <a:ext cx="91440" cy="29718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18288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只用語言模型</a:t>
            </a:r>
            <a:endParaRPr lang="en-US" sz="2300" dirty="0"/>
          </a:p>
        </p:txBody>
      </p:sp>
      <p:sp>
        <p:nvSpPr>
          <p:cNvPr id="66" name="Text 63"/>
          <p:cNvSpPr/>
          <p:nvPr/>
        </p:nvSpPr>
        <p:spPr>
          <a:xfrm>
            <a:off x="941832" y="2295144"/>
            <a:ext cx="27706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可能混淆年度、沒有課程文件依據，也無法指出答案來自哪一段。</a:t>
            </a:r>
            <a:endParaRPr lang="en-US" sz="1500" dirty="0"/>
          </a:p>
        </p:txBody>
      </p:sp>
      <p:sp>
        <p:nvSpPr>
          <p:cNvPr id="67" name="Shape 64"/>
          <p:cNvSpPr/>
          <p:nvPr/>
        </p:nvSpPr>
        <p:spPr>
          <a:xfrm>
            <a:off x="4251960" y="1600200"/>
            <a:ext cx="32461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251960" y="1600200"/>
            <a:ext cx="91440" cy="29718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4507992" y="18288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先檢索</a:t>
            </a:r>
            <a:endParaRPr lang="en-US" sz="2300" dirty="0"/>
          </a:p>
        </p:txBody>
      </p:sp>
      <p:sp>
        <p:nvSpPr>
          <p:cNvPr id="70" name="Text 67"/>
          <p:cNvSpPr/>
          <p:nvPr/>
        </p:nvSpPr>
        <p:spPr>
          <a:xfrm>
            <a:off x="4507992" y="2295144"/>
            <a:ext cx="27706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從文件 chunks 找出最相關的段落與來源，再把證據交給語言模型。</a:t>
            </a:r>
            <a:endParaRPr lang="en-US" sz="1500" dirty="0"/>
          </a:p>
        </p:txBody>
      </p:sp>
      <p:sp>
        <p:nvSpPr>
          <p:cNvPr id="71" name="Shape 68"/>
          <p:cNvSpPr/>
          <p:nvPr/>
        </p:nvSpPr>
        <p:spPr>
          <a:xfrm>
            <a:off x="7818120" y="1600200"/>
            <a:ext cx="3246120" cy="2971800"/>
          </a:xfrm>
          <a:prstGeom prst="roundRect">
            <a:avLst>
              <a:gd name="adj" fmla="val 246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7818120" y="1600200"/>
            <a:ext cx="91440" cy="297180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074152" y="182880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有證據才回答</a:t>
            </a:r>
            <a:endParaRPr lang="en-US" sz="2300" dirty="0"/>
          </a:p>
        </p:txBody>
      </p:sp>
      <p:sp>
        <p:nvSpPr>
          <p:cNvPr id="74" name="Text 71"/>
          <p:cNvSpPr/>
          <p:nvPr/>
        </p:nvSpPr>
        <p:spPr>
          <a:xfrm>
            <a:off x="8074152" y="2295144"/>
            <a:ext cx="27706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答案附文件、段落、網址與時間；沒有直接證據就說「資料不足」。</a:t>
            </a:r>
            <a:endParaRPr lang="en-US" sz="1500" dirty="0"/>
          </a:p>
        </p:txBody>
      </p:sp>
      <p:sp>
        <p:nvSpPr>
          <p:cNvPr id="75" name="Text 72"/>
          <p:cNvSpPr/>
          <p:nvPr/>
        </p:nvSpPr>
        <p:spPr>
          <a:xfrm>
            <a:off x="3858768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6" name="Text 73"/>
          <p:cNvSpPr/>
          <p:nvPr/>
        </p:nvSpPr>
        <p:spPr>
          <a:xfrm>
            <a:off x="7424928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不是先做聊天畫面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資料完成前，必須看見的七個產物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VOCABULARY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576072" y="141732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83210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83210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四份指定來源與規則</a:t>
            </a:r>
            <a:endParaRPr lang="en-US" sz="1250" dirty="0"/>
          </a:p>
        </p:txBody>
      </p:sp>
      <p:sp>
        <p:nvSpPr>
          <p:cNvPr id="67" name="Shape 64"/>
          <p:cNvSpPr/>
          <p:nvPr/>
        </p:nvSpPr>
        <p:spPr>
          <a:xfrm>
            <a:off x="345643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456432" y="141732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371246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raw</a:t>
            </a:r>
            <a:endParaRPr lang="en-US" sz="1700" dirty="0"/>
          </a:p>
        </p:txBody>
      </p:sp>
      <p:sp>
        <p:nvSpPr>
          <p:cNvPr id="70" name="Text 67"/>
          <p:cNvSpPr/>
          <p:nvPr/>
        </p:nvSpPr>
        <p:spPr>
          <a:xfrm>
            <a:off x="371246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保留不改的原始檔</a:t>
            </a:r>
            <a:endParaRPr lang="en-US" sz="1250" dirty="0"/>
          </a:p>
        </p:txBody>
      </p:sp>
      <p:sp>
        <p:nvSpPr>
          <p:cNvPr id="71" name="Shape 68"/>
          <p:cNvSpPr/>
          <p:nvPr/>
        </p:nvSpPr>
        <p:spPr>
          <a:xfrm>
            <a:off x="633679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336792" y="141732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659282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Markdown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659282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可閱讀、可搜尋的文字</a:t>
            </a:r>
            <a:endParaRPr lang="en-US" sz="1250" dirty="0"/>
          </a:p>
        </p:txBody>
      </p:sp>
      <p:sp>
        <p:nvSpPr>
          <p:cNvPr id="75" name="Shape 72"/>
          <p:cNvSpPr/>
          <p:nvPr/>
        </p:nvSpPr>
        <p:spPr>
          <a:xfrm>
            <a:off x="9217152" y="141732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3"/>
          <p:cNvSpPr/>
          <p:nvPr/>
        </p:nvSpPr>
        <p:spPr>
          <a:xfrm>
            <a:off x="9217152" y="1417320"/>
            <a:ext cx="91440" cy="141732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9473184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quality</a:t>
            </a:r>
            <a:endParaRPr lang="en-US" sz="1700" dirty="0"/>
          </a:p>
        </p:txBody>
      </p:sp>
      <p:sp>
        <p:nvSpPr>
          <p:cNvPr id="78" name="Text 75"/>
          <p:cNvSpPr/>
          <p:nvPr/>
        </p:nvSpPr>
        <p:spPr>
          <a:xfrm>
            <a:off x="9473184" y="211226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可否進入分析與索引</a:t>
            </a:r>
            <a:endParaRPr lang="en-US" sz="1250" dirty="0"/>
          </a:p>
        </p:txBody>
      </p:sp>
      <p:sp>
        <p:nvSpPr>
          <p:cNvPr id="79" name="Shape 76"/>
          <p:cNvSpPr/>
          <p:nvPr/>
        </p:nvSpPr>
        <p:spPr>
          <a:xfrm>
            <a:off x="57607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hape 77"/>
          <p:cNvSpPr/>
          <p:nvPr/>
        </p:nvSpPr>
        <p:spPr>
          <a:xfrm>
            <a:off x="576072" y="3383280"/>
            <a:ext cx="91440" cy="14173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83210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</a:t>
            </a:r>
            <a:endParaRPr lang="en-US" sz="1700" dirty="0"/>
          </a:p>
        </p:txBody>
      </p:sp>
      <p:sp>
        <p:nvSpPr>
          <p:cNvPr id="82" name="Text 79"/>
          <p:cNvSpPr/>
          <p:nvPr/>
        </p:nvSpPr>
        <p:spPr>
          <a:xfrm>
            <a:off x="83210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可檢索、可引用的段落</a:t>
            </a:r>
            <a:endParaRPr lang="en-US" sz="1250" dirty="0"/>
          </a:p>
        </p:txBody>
      </p:sp>
      <p:sp>
        <p:nvSpPr>
          <p:cNvPr id="83" name="Shape 80"/>
          <p:cNvSpPr/>
          <p:nvPr/>
        </p:nvSpPr>
        <p:spPr>
          <a:xfrm>
            <a:off x="345643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3456432" y="3383280"/>
            <a:ext cx="91440" cy="141732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5" name="Text 82"/>
          <p:cNvSpPr/>
          <p:nvPr/>
        </p:nvSpPr>
        <p:spPr>
          <a:xfrm>
            <a:off x="371246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vector index</a:t>
            </a:r>
            <a:endParaRPr lang="en-US" sz="1700" dirty="0"/>
          </a:p>
        </p:txBody>
      </p:sp>
      <p:sp>
        <p:nvSpPr>
          <p:cNvPr id="86" name="Text 83"/>
          <p:cNvSpPr/>
          <p:nvPr/>
        </p:nvSpPr>
        <p:spPr>
          <a:xfrm>
            <a:off x="371246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向量索引給 RAG 使用</a:t>
            </a:r>
            <a:endParaRPr lang="en-US" sz="1250" dirty="0"/>
          </a:p>
        </p:txBody>
      </p:sp>
      <p:sp>
        <p:nvSpPr>
          <p:cNvPr id="87" name="Shape 84"/>
          <p:cNvSpPr/>
          <p:nvPr/>
        </p:nvSpPr>
        <p:spPr>
          <a:xfrm>
            <a:off x="6336792" y="3383280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5"/>
          <p:cNvSpPr/>
          <p:nvPr/>
        </p:nvSpPr>
        <p:spPr>
          <a:xfrm>
            <a:off x="6336792" y="3383280"/>
            <a:ext cx="91440" cy="141732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89" name="Text 86"/>
          <p:cNvSpPr/>
          <p:nvPr/>
        </p:nvSpPr>
        <p:spPr>
          <a:xfrm>
            <a:off x="6592824" y="36118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</a:t>
            </a:r>
            <a:endParaRPr lang="en-US" sz="1700" dirty="0"/>
          </a:p>
        </p:txBody>
      </p:sp>
      <p:sp>
        <p:nvSpPr>
          <p:cNvPr id="90" name="Text 87"/>
          <p:cNvSpPr/>
          <p:nvPr/>
        </p:nvSpPr>
        <p:spPr>
          <a:xfrm>
            <a:off x="6592824" y="4078224"/>
            <a:ext cx="2084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來源與問答的本機紀錄</a:t>
            </a:r>
            <a:endParaRPr lang="en-US" sz="1250" dirty="0"/>
          </a:p>
        </p:txBody>
      </p:sp>
      <p:sp>
        <p:nvSpPr>
          <p:cNvPr id="91" name="Text 88"/>
          <p:cNvSpPr/>
          <p:nvPr/>
        </p:nvSpPr>
        <p:spPr>
          <a:xfrm>
            <a:off x="749808" y="5468112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以上產物完成後，才開始用 Codex 建立 Streamlit 問答助手。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1 · 環境與來源確認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01｜讀取講師提供的四份原始文件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SCOPE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58368" y="1417320"/>
            <a:ext cx="534924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58368" y="1417320"/>
            <a:ext cx="91440" cy="36118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14400" y="164592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四份固定資料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14400" y="2112264"/>
            <a:ext cx="48737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1. 技職所碩士班修業流程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2. 115 研究生手冊（DOCX）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3. 語言中心英文畢業門檻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4. 115-1 校務行事曆（PDF）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6537960" y="1417320"/>
            <a:ext cx="4919472" cy="3611880"/>
          </a:xfrm>
          <a:prstGeom prst="roundRect">
            <a:avLst>
              <a:gd name="adj" fmla="val 2025"/>
            </a:avLst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876288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rag-demo 已備妥</a:t>
            </a:r>
            <a:endParaRPr lang="en-US" sz="2000" dirty="0"/>
          </a:p>
        </p:txBody>
      </p:sp>
      <p:sp>
        <p:nvSpPr>
          <p:cNvPr id="69" name="Text 66"/>
          <p:cNvSpPr/>
          <p:nvPr/>
        </p:nvSpPr>
        <p:spPr>
          <a:xfrm>
            <a:off x="6931152" y="2194560"/>
            <a:ext cx="406908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data/raw/      原始文件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data/manifests/ 來源紀錄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data/markdown/  轉換結果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analysis/       分析表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data/processed/ 索引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rag/  feedback/  介面與歷程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2 · MARKITDOWN 轉換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02｜轉換四份原始文件並做品質檢查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82296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600" dirty="0"/>
          </a:p>
        </p:txBody>
      </p:sp>
      <p:sp>
        <p:nvSpPr>
          <p:cNvPr id="65" name="Text 62"/>
          <p:cNvSpPr/>
          <p:nvPr/>
        </p:nvSpPr>
        <p:spPr>
          <a:xfrm>
            <a:off x="64008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讀取 manifest</a:t>
            </a:r>
            <a:endParaRPr lang="en-US" sz="1200" dirty="0"/>
          </a:p>
        </p:txBody>
      </p:sp>
      <p:sp>
        <p:nvSpPr>
          <p:cNvPr id="66" name="Text 63"/>
          <p:cNvSpPr/>
          <p:nvPr/>
        </p:nvSpPr>
        <p:spPr>
          <a:xfrm>
            <a:off x="53035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確認四份來源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與原始檔</a:t>
            </a:r>
            <a:endParaRPr lang="en-US" sz="880" dirty="0"/>
          </a:p>
        </p:txBody>
      </p:sp>
      <p:sp>
        <p:nvSpPr>
          <p:cNvPr id="67" name="Shape 64"/>
          <p:cNvSpPr/>
          <p:nvPr/>
        </p:nvSpPr>
        <p:spPr>
          <a:xfrm>
            <a:off x="3611880" y="1874520"/>
            <a:ext cx="658368" cy="658368"/>
          </a:xfrm>
          <a:prstGeom prst="ellipse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61188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600" dirty="0"/>
          </a:p>
        </p:txBody>
      </p:sp>
      <p:sp>
        <p:nvSpPr>
          <p:cNvPr id="69" name="Text 66"/>
          <p:cNvSpPr/>
          <p:nvPr/>
        </p:nvSpPr>
        <p:spPr>
          <a:xfrm>
            <a:off x="342900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保留原始檔</a:t>
            </a:r>
            <a:endParaRPr lang="en-US" sz="1200" dirty="0"/>
          </a:p>
        </p:txBody>
      </p:sp>
      <p:sp>
        <p:nvSpPr>
          <p:cNvPr id="70" name="Text 67"/>
          <p:cNvSpPr/>
          <p:nvPr/>
        </p:nvSpPr>
        <p:spPr>
          <a:xfrm>
            <a:off x="331927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HTML／DOCX／PDF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不覆寫</a:t>
            </a:r>
            <a:endParaRPr lang="en-US" sz="880" dirty="0"/>
          </a:p>
        </p:txBody>
      </p:sp>
      <p:sp>
        <p:nvSpPr>
          <p:cNvPr id="71" name="Shape 68"/>
          <p:cNvSpPr/>
          <p:nvPr/>
        </p:nvSpPr>
        <p:spPr>
          <a:xfrm>
            <a:off x="6400800" y="1874520"/>
            <a:ext cx="658368" cy="65836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640080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600" dirty="0"/>
          </a:p>
        </p:txBody>
      </p:sp>
      <p:sp>
        <p:nvSpPr>
          <p:cNvPr id="73" name="Text 70"/>
          <p:cNvSpPr/>
          <p:nvPr/>
        </p:nvSpPr>
        <p:spPr>
          <a:xfrm>
            <a:off x="621792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解析文字</a:t>
            </a:r>
            <a:endParaRPr lang="en-US" sz="1200" dirty="0"/>
          </a:p>
        </p:txBody>
      </p:sp>
      <p:sp>
        <p:nvSpPr>
          <p:cNvPr id="74" name="Text 71"/>
          <p:cNvSpPr/>
          <p:nvPr/>
        </p:nvSpPr>
        <p:spPr>
          <a:xfrm>
            <a:off x="610819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MarkItDown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轉為 Markdown</a:t>
            </a:r>
            <a:endParaRPr lang="en-US" sz="880" dirty="0"/>
          </a:p>
        </p:txBody>
      </p:sp>
      <p:sp>
        <p:nvSpPr>
          <p:cNvPr id="75" name="Shape 72"/>
          <p:cNvSpPr/>
          <p:nvPr/>
        </p:nvSpPr>
        <p:spPr>
          <a:xfrm>
            <a:off x="9189720" y="1874520"/>
            <a:ext cx="658368" cy="65836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189720" y="203911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600" dirty="0"/>
          </a:p>
        </p:txBody>
      </p:sp>
      <p:sp>
        <p:nvSpPr>
          <p:cNvPr id="77" name="Text 74"/>
          <p:cNvSpPr/>
          <p:nvPr/>
        </p:nvSpPr>
        <p:spPr>
          <a:xfrm>
            <a:off x="9006840" y="2679192"/>
            <a:ext cx="10241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品質結果</a:t>
            </a:r>
            <a:endParaRPr lang="en-US" sz="1200" dirty="0"/>
          </a:p>
        </p:txBody>
      </p:sp>
      <p:sp>
        <p:nvSpPr>
          <p:cNvPr id="78" name="Text 75"/>
          <p:cNvSpPr/>
          <p:nvPr/>
        </p:nvSpPr>
        <p:spPr>
          <a:xfrm>
            <a:off x="8897112" y="2935224"/>
            <a:ext cx="1261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可分析或</a:t>
            </a:r>
            <a:endParaRPr lang="en-US" sz="880" dirty="0"/>
          </a:p>
          <a:p>
            <a:pPr algn="ctr" indent="0" marL="0">
              <a:buNone/>
            </a:pPr>
            <a:r>
              <a:rPr lang="en-US" sz="88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人工查看</a:t>
            </a:r>
            <a:endParaRPr lang="en-US" sz="8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3 · 原文與 AI 解讀分開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03｜先做校務文件分析表，再建立搜尋索引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08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417320"/>
            <a:ext cx="91440" cy="3429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文件明確寫了什麼</a:t>
            </a:r>
            <a:endParaRPr lang="en-US" sz="1800" dirty="0"/>
          </a:p>
        </p:txBody>
      </p:sp>
      <p:sp>
        <p:nvSpPr>
          <p:cNvPr id="66" name="Text 63"/>
          <p:cNvSpPr/>
          <p:nvPr/>
        </p:nvSpPr>
        <p:spPr>
          <a:xfrm>
            <a:off x="987552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保留可回查的原文、年度、對象與來源段落。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不把推論寫成規定。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462272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4462272" y="1417320"/>
            <a:ext cx="91440" cy="3429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4718304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摘要或分類</a:t>
            </a:r>
            <a:endParaRPr lang="en-US" sz="1800" dirty="0"/>
          </a:p>
        </p:txBody>
      </p:sp>
      <p:sp>
        <p:nvSpPr>
          <p:cNvPr id="70" name="Text 67"/>
          <p:cNvSpPr/>
          <p:nvPr/>
        </p:nvSpPr>
        <p:spPr>
          <a:xfrm>
            <a:off x="4718304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AI 協助整理學生行動、主題與重點。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明確標示這是 AI 解讀。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193024" y="1417320"/>
            <a:ext cx="3246120" cy="342900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8193024" y="1417320"/>
            <a:ext cx="91440" cy="342900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449056" y="1645920"/>
            <a:ext cx="2788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不確定處與索引</a:t>
            </a:r>
            <a:endParaRPr lang="en-US" sz="1800" dirty="0"/>
          </a:p>
        </p:txBody>
      </p:sp>
      <p:sp>
        <p:nvSpPr>
          <p:cNvPr id="74" name="Text 71"/>
          <p:cNvSpPr/>
          <p:nvPr/>
        </p:nvSpPr>
        <p:spPr>
          <a:xfrm>
            <a:off x="8449056" y="2112264"/>
            <a:ext cx="277063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條件不足就標示不確定；只有可用文字才切成 chunks。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1097280" y="5349240"/>
            <a:ext cx="9966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分析表是主要成果；索引與問答助手用來驗證它。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建立索引前的門檻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品質檢查：只有可用文字才能進入索引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PARSE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58952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3679B9"/>
          </a:solidFill>
          <a:ln w="12700">
            <a:solidFill>
              <a:srgbClr val="3679B9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987552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ready_for_analysis</a:t>
            </a:r>
            <a:endParaRPr lang="en-US" sz="1900" dirty="0"/>
          </a:p>
        </p:txBody>
      </p:sp>
      <p:sp>
        <p:nvSpPr>
          <p:cNvPr id="65" name="Text 62"/>
          <p:cNvSpPr/>
          <p:nvPr/>
        </p:nvSpPr>
        <p:spPr>
          <a:xfrm>
            <a:off x="1124712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標題、段落與表格可讀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可以進入 chunks</a:t>
            </a:r>
            <a:endParaRPr lang="en-US" sz="1600" dirty="0"/>
          </a:p>
        </p:txBody>
      </p:sp>
      <p:sp>
        <p:nvSpPr>
          <p:cNvPr id="66" name="Text 63"/>
          <p:cNvSpPr/>
          <p:nvPr/>
        </p:nvSpPr>
        <p:spPr>
          <a:xfrm>
            <a:off x="1124712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✓ 可進 RAG</a:t>
            </a:r>
            <a:endParaRPr lang="en-US" sz="1600" dirty="0"/>
          </a:p>
        </p:txBody>
      </p:sp>
      <p:sp>
        <p:nvSpPr>
          <p:cNvPr id="67" name="Shape 64"/>
          <p:cNvSpPr/>
          <p:nvPr/>
        </p:nvSpPr>
        <p:spPr>
          <a:xfrm>
            <a:off x="4562856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E58A4A"/>
          </a:solidFill>
          <a:ln w="12700">
            <a:solidFill>
              <a:srgbClr val="E58A4A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4791456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needs_review</a:t>
            </a:r>
            <a:endParaRPr lang="en-US" sz="1900" dirty="0"/>
          </a:p>
        </p:txBody>
      </p:sp>
      <p:sp>
        <p:nvSpPr>
          <p:cNvPr id="69" name="Text 66"/>
          <p:cNvSpPr/>
          <p:nvPr/>
        </p:nvSpPr>
        <p:spPr>
          <a:xfrm>
            <a:off x="4928616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掃描、表格或結構有缺失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先人工檢視</a:t>
            </a:r>
            <a:endParaRPr lang="en-US" sz="1600" dirty="0"/>
          </a:p>
        </p:txBody>
      </p:sp>
      <p:sp>
        <p:nvSpPr>
          <p:cNvPr id="70" name="Text 67"/>
          <p:cNvSpPr/>
          <p:nvPr/>
        </p:nvSpPr>
        <p:spPr>
          <a:xfrm>
            <a:off x="4928616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  <p:sp>
        <p:nvSpPr>
          <p:cNvPr id="71" name="Shape 68"/>
          <p:cNvSpPr/>
          <p:nvPr/>
        </p:nvSpPr>
        <p:spPr>
          <a:xfrm>
            <a:off x="8366760" y="1572768"/>
            <a:ext cx="3246120" cy="3200400"/>
          </a:xfrm>
          <a:prstGeom prst="roundRect">
            <a:avLst>
              <a:gd name="adj" fmla="val 2286"/>
            </a:avLst>
          </a:prstGeom>
          <a:solidFill>
            <a:srgbClr val="49657A"/>
          </a:solidFill>
          <a:ln w="12700">
            <a:solidFill>
              <a:srgbClr val="49657A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595360" y="208483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excluded</a:t>
            </a:r>
            <a:endParaRPr lang="en-US" sz="1900" dirty="0"/>
          </a:p>
        </p:txBody>
      </p:sp>
      <p:sp>
        <p:nvSpPr>
          <p:cNvPr id="73" name="Text 70"/>
          <p:cNvSpPr/>
          <p:nvPr/>
        </p:nvSpPr>
        <p:spPr>
          <a:xfrm>
            <a:off x="8732520" y="285292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受限、白名單外或無法確認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不進後續流程</a:t>
            </a:r>
            <a:endParaRPr lang="en-US" sz="1600" dirty="0"/>
          </a:p>
        </p:txBody>
      </p:sp>
      <p:sp>
        <p:nvSpPr>
          <p:cNvPr id="74" name="Text 71"/>
          <p:cNvSpPr/>
          <p:nvPr/>
        </p:nvSpPr>
        <p:spPr>
          <a:xfrm>
            <a:off x="8732520" y="3913632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✕ 暫停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4 · 資料處理與索引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04｜切成 chunks，建立自己的向量索引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444752"/>
            <a:ext cx="2743200" cy="33832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97280" y="17830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一份長文件</a:t>
            </a:r>
            <a:endParaRPr lang="en-US" sz="2000" dirty="0"/>
          </a:p>
        </p:txBody>
      </p:sp>
      <p:sp>
        <p:nvSpPr>
          <p:cNvPr id="65" name="Shape 62"/>
          <p:cNvSpPr/>
          <p:nvPr/>
        </p:nvSpPr>
        <p:spPr>
          <a:xfrm>
            <a:off x="1115568" y="2359152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1115568" y="3017520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1115568" y="3675888"/>
            <a:ext cx="2048256" cy="420624"/>
          </a:xfrm>
          <a:prstGeom prst="roundRect">
            <a:avLst>
              <a:gd name="adj" fmla="val 17391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1243584" y="2468880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第一章：修業規定</a:t>
            </a:r>
            <a:endParaRPr lang="en-US" sz="1150" dirty="0"/>
          </a:p>
        </p:txBody>
      </p:sp>
      <p:sp>
        <p:nvSpPr>
          <p:cNvPr id="69" name="Text 66"/>
          <p:cNvSpPr/>
          <p:nvPr/>
        </p:nvSpPr>
        <p:spPr>
          <a:xfrm>
            <a:off x="1243584" y="3127248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第二章：英文門檻</a:t>
            </a:r>
            <a:endParaRPr lang="en-US" sz="1150" dirty="0"/>
          </a:p>
        </p:txBody>
      </p:sp>
      <p:sp>
        <p:nvSpPr>
          <p:cNvPr id="70" name="Text 67"/>
          <p:cNvSpPr/>
          <p:nvPr/>
        </p:nvSpPr>
        <p:spPr>
          <a:xfrm>
            <a:off x="1243584" y="3785616"/>
            <a:ext cx="1783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第三章：行事曆</a:t>
            </a:r>
            <a:endParaRPr lang="en-US" sz="1150" dirty="0"/>
          </a:p>
        </p:txBody>
      </p:sp>
      <p:sp>
        <p:nvSpPr>
          <p:cNvPr id="71" name="Text 68"/>
          <p:cNvSpPr/>
          <p:nvPr/>
        </p:nvSpPr>
        <p:spPr>
          <a:xfrm>
            <a:off x="3703320" y="28346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800" dirty="0"/>
          </a:p>
        </p:txBody>
      </p:sp>
      <p:sp>
        <p:nvSpPr>
          <p:cNvPr id="72" name="Shape 69"/>
          <p:cNvSpPr/>
          <p:nvPr/>
        </p:nvSpPr>
        <p:spPr>
          <a:xfrm>
            <a:off x="4498848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4498848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4754880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chunk-001</a:t>
            </a:r>
            <a:endParaRPr lang="en-US" sz="1600" dirty="0"/>
          </a:p>
        </p:txBody>
      </p:sp>
      <p:sp>
        <p:nvSpPr>
          <p:cNvPr id="75" name="Text 72"/>
          <p:cNvSpPr/>
          <p:nvPr/>
        </p:nvSpPr>
        <p:spPr>
          <a:xfrm>
            <a:off x="4754880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7900416" y="1508760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7900416" y="1508760"/>
            <a:ext cx="91440" cy="1298448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8156448" y="173736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chunk-002</a:t>
            </a:r>
            <a:endParaRPr lang="en-US" sz="1600" dirty="0"/>
          </a:p>
        </p:txBody>
      </p:sp>
      <p:sp>
        <p:nvSpPr>
          <p:cNvPr id="79" name="Text 76"/>
          <p:cNvSpPr/>
          <p:nvPr/>
        </p:nvSpPr>
        <p:spPr>
          <a:xfrm>
            <a:off x="8156448" y="2203704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4498848" y="3355848"/>
            <a:ext cx="29718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498848" y="3355848"/>
            <a:ext cx="91440" cy="1298448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4754880" y="3584448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chunk-003</a:t>
            </a:r>
            <a:endParaRPr lang="en-US" sz="1600" dirty="0"/>
          </a:p>
        </p:txBody>
      </p:sp>
      <p:sp>
        <p:nvSpPr>
          <p:cNvPr id="83" name="Text 80"/>
          <p:cNvSpPr/>
          <p:nvPr/>
        </p:nvSpPr>
        <p:spPr>
          <a:xfrm>
            <a:off x="4754880" y="4050792"/>
            <a:ext cx="24963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段落＋來源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可建立向量索引</a:t>
            </a:r>
            <a:endParaRPr lang="en-US" sz="1250" dirty="0"/>
          </a:p>
        </p:txBody>
      </p:sp>
      <p:sp>
        <p:nvSpPr>
          <p:cNvPr id="84" name="Text 81"/>
          <p:cNvSpPr/>
          <p:nvPr/>
        </p:nvSpPr>
        <p:spPr>
          <a:xfrm>
            <a:off x="1261872" y="5349240"/>
            <a:ext cx="9692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只讓 ready_for_analysis 的 chunks 進入 vector_index.jsonl。</a:t>
            </a:r>
            <a:endParaRPr lang="en-US" sz="1800" dirty="0"/>
          </a:p>
        </p:txBody>
      </p:sp>
      <p:sp>
        <p:nvSpPr>
          <p:cNvPr id="85" name="Text 82"/>
          <p:cNvSpPr/>
          <p:nvPr/>
        </p:nvSpPr>
        <p:spPr>
          <a:xfrm>
            <a:off x="987552" y="5687568"/>
            <a:ext cx="10149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 沒有固定最佳長度：依文件結構、問題型態與檢索測試調整。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建立 STREAMLIT 前的最後確認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索引完成檢查：RAG 只能讀自己的資料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ANALYZE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03504" y="1600200"/>
            <a:ext cx="11430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76656" y="1773936"/>
            <a:ext cx="9966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chunk_id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1746504" y="1600200"/>
            <a:ext cx="205740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819656" y="1773936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document</a:t>
            </a:r>
            <a:endParaRPr lang="en-US" sz="1050" dirty="0"/>
          </a:p>
        </p:txBody>
      </p:sp>
      <p:sp>
        <p:nvSpPr>
          <p:cNvPr id="67" name="Shape 64"/>
          <p:cNvSpPr/>
          <p:nvPr/>
        </p:nvSpPr>
        <p:spPr>
          <a:xfrm>
            <a:off x="3803904" y="1600200"/>
            <a:ext cx="141732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3877056" y="1773936"/>
            <a:ext cx="127101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source_url</a:t>
            </a:r>
            <a:endParaRPr lang="en-US" sz="1050" dirty="0"/>
          </a:p>
        </p:txBody>
      </p:sp>
      <p:sp>
        <p:nvSpPr>
          <p:cNvPr id="69" name="Shape 66"/>
          <p:cNvSpPr/>
          <p:nvPr/>
        </p:nvSpPr>
        <p:spPr>
          <a:xfrm>
            <a:off x="522122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9437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section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8284464" y="1600200"/>
            <a:ext cx="3063240" cy="54864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8357616" y="1773936"/>
            <a:ext cx="2916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crawled_at</a:t>
            </a:r>
            <a:endParaRPr lang="en-US" sz="1050" dirty="0"/>
          </a:p>
        </p:txBody>
      </p:sp>
      <p:sp>
        <p:nvSpPr>
          <p:cNvPr id="73" name="Shape 70"/>
          <p:cNvSpPr/>
          <p:nvPr/>
        </p:nvSpPr>
        <p:spPr>
          <a:xfrm>
            <a:off x="603504" y="2157984"/>
            <a:ext cx="11430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85800" y="2304288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master-115-001</a:t>
            </a:r>
            <a:endParaRPr lang="en-US" sz="1150" dirty="0"/>
          </a:p>
        </p:txBody>
      </p:sp>
      <p:sp>
        <p:nvSpPr>
          <p:cNvPr id="75" name="Shape 72"/>
          <p:cNvSpPr/>
          <p:nvPr/>
        </p:nvSpPr>
        <p:spPr>
          <a:xfrm>
            <a:off x="1746504" y="2157984"/>
            <a:ext cx="2057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1828800" y="2304288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</a:t>
            </a:r>
            <a:endParaRPr lang="en-US" sz="1150" dirty="0"/>
          </a:p>
        </p:txBody>
      </p:sp>
      <p:sp>
        <p:nvSpPr>
          <p:cNvPr id="77" name="Shape 74"/>
          <p:cNvSpPr/>
          <p:nvPr/>
        </p:nvSpPr>
        <p:spPr>
          <a:xfrm>
            <a:off x="3803904" y="2157984"/>
            <a:ext cx="141732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3886200" y="2304288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tve.yuntech.edu.tw</a:t>
            </a:r>
            <a:endParaRPr lang="en-US" sz="1150" dirty="0"/>
          </a:p>
        </p:txBody>
      </p:sp>
      <p:sp>
        <p:nvSpPr>
          <p:cNvPr id="79" name="Shape 76"/>
          <p:cNvSpPr/>
          <p:nvPr/>
        </p:nvSpPr>
        <p:spPr>
          <a:xfrm>
            <a:off x="522122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530352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修業規定</a:t>
            </a:r>
            <a:endParaRPr lang="en-US" sz="1050" dirty="0"/>
          </a:p>
        </p:txBody>
      </p:sp>
      <p:sp>
        <p:nvSpPr>
          <p:cNvPr id="81" name="Shape 78"/>
          <p:cNvSpPr/>
          <p:nvPr/>
        </p:nvSpPr>
        <p:spPr>
          <a:xfrm>
            <a:off x="8284464" y="2157984"/>
            <a:ext cx="3063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8366760" y="2304288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  <p:sp>
        <p:nvSpPr>
          <p:cNvPr id="83" name="Shape 80"/>
          <p:cNvSpPr/>
          <p:nvPr/>
        </p:nvSpPr>
        <p:spPr>
          <a:xfrm>
            <a:off x="603504" y="3200400"/>
            <a:ext cx="11430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85800" y="3346704"/>
            <a:ext cx="978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150" dirty="0"/>
          </a:p>
        </p:txBody>
      </p:sp>
      <p:sp>
        <p:nvSpPr>
          <p:cNvPr id="85" name="Shape 82"/>
          <p:cNvSpPr/>
          <p:nvPr/>
        </p:nvSpPr>
        <p:spPr>
          <a:xfrm>
            <a:off x="1746504" y="3200400"/>
            <a:ext cx="205740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6" name="Text 83"/>
          <p:cNvSpPr/>
          <p:nvPr/>
        </p:nvSpPr>
        <p:spPr>
          <a:xfrm>
            <a:off x="1828800" y="3346704"/>
            <a:ext cx="1892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行事曆</a:t>
            </a:r>
            <a:endParaRPr lang="en-US" sz="1150" dirty="0"/>
          </a:p>
        </p:txBody>
      </p:sp>
      <p:sp>
        <p:nvSpPr>
          <p:cNvPr id="87" name="Shape 84"/>
          <p:cNvSpPr/>
          <p:nvPr/>
        </p:nvSpPr>
        <p:spPr>
          <a:xfrm>
            <a:off x="3803904" y="3200400"/>
            <a:ext cx="141732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8" name="Text 85"/>
          <p:cNvSpPr/>
          <p:nvPr/>
        </p:nvSpPr>
        <p:spPr>
          <a:xfrm>
            <a:off x="3886200" y="3346704"/>
            <a:ext cx="1252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aax.yuntech.edu.tw</a:t>
            </a:r>
            <a:endParaRPr lang="en-US" sz="1150" dirty="0"/>
          </a:p>
        </p:txBody>
      </p:sp>
      <p:sp>
        <p:nvSpPr>
          <p:cNvPr id="89" name="Shape 86"/>
          <p:cNvSpPr/>
          <p:nvPr/>
        </p:nvSpPr>
        <p:spPr>
          <a:xfrm>
            <a:off x="522122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0" name="Text 87"/>
          <p:cNvSpPr/>
          <p:nvPr/>
        </p:nvSpPr>
        <p:spPr>
          <a:xfrm>
            <a:off x="530352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加退選</a:t>
            </a:r>
            <a:endParaRPr lang="en-US" sz="1050" dirty="0"/>
          </a:p>
        </p:txBody>
      </p:sp>
      <p:sp>
        <p:nvSpPr>
          <p:cNvPr id="91" name="Shape 88"/>
          <p:cNvSpPr/>
          <p:nvPr/>
        </p:nvSpPr>
        <p:spPr>
          <a:xfrm>
            <a:off x="8284464" y="3200400"/>
            <a:ext cx="3063240" cy="1024128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92" name="Text 89"/>
          <p:cNvSpPr/>
          <p:nvPr/>
        </p:nvSpPr>
        <p:spPr>
          <a:xfrm>
            <a:off x="8366760" y="3346704"/>
            <a:ext cx="28986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2026-08-01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操作 5 · 本機模型分工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Step 05｜Ollama 的兩個模型，如何完成 RAG 問答？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8580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85800" y="1828800"/>
            <a:ext cx="91440" cy="20116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4183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文件 chunks</a:t>
            </a:r>
            <a:endParaRPr lang="en-US" sz="1700" dirty="0"/>
          </a:p>
        </p:txBody>
      </p:sp>
      <p:sp>
        <p:nvSpPr>
          <p:cNvPr id="66" name="Text 63"/>
          <p:cNvSpPr/>
          <p:nvPr/>
        </p:nvSpPr>
        <p:spPr>
          <a:xfrm>
            <a:off x="94183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每段保留文字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與來源資訊</a:t>
            </a:r>
            <a:endParaRPr lang="en-US" sz="1350" dirty="0"/>
          </a:p>
        </p:txBody>
      </p:sp>
      <p:sp>
        <p:nvSpPr>
          <p:cNvPr id="67" name="Text 64"/>
          <p:cNvSpPr/>
          <p:nvPr/>
        </p:nvSpPr>
        <p:spPr>
          <a:xfrm>
            <a:off x="308152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2044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2044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77647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nomic embedding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377647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chunks 與問題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 向量</a:t>
            </a:r>
            <a:endParaRPr lang="en-US" sz="1350" dirty="0"/>
          </a:p>
        </p:txBody>
      </p:sp>
      <p:sp>
        <p:nvSpPr>
          <p:cNvPr id="72" name="Text 69"/>
          <p:cNvSpPr/>
          <p:nvPr/>
        </p:nvSpPr>
        <p:spPr>
          <a:xfrm>
            <a:off x="591616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35508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355080" y="1828800"/>
            <a:ext cx="91440" cy="2011680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1111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找相關 chunks</a:t>
            </a:r>
            <a:endParaRPr lang="en-US" sz="1700" dirty="0"/>
          </a:p>
        </p:txBody>
      </p:sp>
      <p:sp>
        <p:nvSpPr>
          <p:cNvPr id="76" name="Text 73"/>
          <p:cNvSpPr/>
          <p:nvPr/>
        </p:nvSpPr>
        <p:spPr>
          <a:xfrm>
            <a:off x="661111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取最多三筆</a:t>
            </a:r>
            <a:endParaRPr lang="en-US" sz="1350" dirty="0"/>
          </a:p>
        </p:txBody>
      </p:sp>
      <p:sp>
        <p:nvSpPr>
          <p:cNvPr id="77" name="Text 74"/>
          <p:cNvSpPr/>
          <p:nvPr/>
        </p:nvSpPr>
        <p:spPr>
          <a:xfrm>
            <a:off x="8750808" y="2624328"/>
            <a:ext cx="320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189720" y="182880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189720" y="1828800"/>
            <a:ext cx="91440" cy="20116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45752" y="2057400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qwen 語言模型</a:t>
            </a:r>
            <a:endParaRPr lang="en-US" sz="1700" dirty="0"/>
          </a:p>
        </p:txBody>
      </p:sp>
      <p:sp>
        <p:nvSpPr>
          <p:cNvPr id="81" name="Text 78"/>
          <p:cNvSpPr/>
          <p:nvPr/>
        </p:nvSpPr>
        <p:spPr>
          <a:xfrm>
            <a:off x="9445752" y="2523744"/>
            <a:ext cx="18562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問題＋證據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 有引用的回答</a:t>
            </a:r>
            <a:endParaRPr lang="en-US" sz="1350" dirty="0"/>
          </a:p>
        </p:txBody>
      </p:sp>
      <p:sp>
        <p:nvSpPr>
          <p:cNvPr id="82" name="Text 79"/>
          <p:cNvSpPr/>
          <p:nvPr/>
        </p:nvSpPr>
        <p:spPr>
          <a:xfrm>
            <a:off x="841248" y="4800600"/>
            <a:ext cx="10698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Ollama 在本機執行：不需 API key、沒有按次費用，文件與索引留在電腦。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但須下載模型，效能取決於硬體。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學生建立的 STREAMLIT 問答頁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 RAG：從底部輸入問題，顯示答案與引用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960120" y="1389888"/>
            <a:ext cx="1019556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417320" y="1847088"/>
            <a:ext cx="4937760" cy="694944"/>
          </a:xfrm>
          <a:prstGeom prst="roundRect">
            <a:avLst>
              <a:gd name="adj" fmla="val 10526"/>
            </a:avLst>
          </a:prstGeom>
          <a:solidFill>
            <a:srgbClr val="E8F1F8"/>
          </a:solidFill>
          <a:ln w="12700">
            <a:solidFill>
              <a:srgbClr val="E8F1F8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1691640" y="20574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學年度碩士班畢業至少需要幾學分？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5074920" y="2862072"/>
            <a:ext cx="5440680" cy="987552"/>
          </a:xfrm>
          <a:prstGeom prst="roundRect">
            <a:avLst>
              <a:gd name="adj" fmla="val 7407"/>
            </a:avLst>
          </a:prstGeom>
          <a:solidFill>
            <a:srgbClr val="E0F1EC"/>
          </a:solidFill>
          <a:ln w="12700">
            <a:solidFill>
              <a:srgbClr val="E0F1EC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376672" y="3136392"/>
            <a:ext cx="4800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至少 39 學分</a:t>
            </a:r>
            <a:endParaRPr lang="en-US" sz="1900" dirty="0"/>
          </a:p>
        </p:txBody>
      </p:sp>
      <p:sp>
        <p:nvSpPr>
          <p:cNvPr id="68" name="Text 65"/>
          <p:cNvSpPr/>
          <p:nvPr/>
        </p:nvSpPr>
        <p:spPr>
          <a:xfrm>
            <a:off x="5376672" y="349300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狀態：supported</a:t>
            </a:r>
            <a:endParaRPr lang="en-US" sz="1150" dirty="0"/>
          </a:p>
        </p:txBody>
      </p:sp>
      <p:sp>
        <p:nvSpPr>
          <p:cNvPr id="69" name="Shape 66"/>
          <p:cNvSpPr/>
          <p:nvPr/>
        </p:nvSpPr>
        <p:spPr>
          <a:xfrm>
            <a:off x="1874520" y="4389120"/>
            <a:ext cx="8366760" cy="731520"/>
          </a:xfrm>
          <a:prstGeom prst="roundRect">
            <a:avLst>
              <a:gd name="adj" fmla="val 10000"/>
            </a:avLst>
          </a:prstGeom>
          <a:solidFill>
            <a:srgbClr val="F4F8FB"/>
          </a:solidFill>
          <a:ln w="12700">
            <a:solidFill>
              <a:srgbClr val="F4F8FB">
                <a:alpha val="0"/>
              </a:srgbClr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874520" y="4389120"/>
            <a:ext cx="91440" cy="73152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2130552" y="4498848"/>
            <a:ext cx="184068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引用與檢索｜講師 Demo 範例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3971239" y="4498848"/>
            <a:ext cx="605058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研究生手冊｜五、修課規定｜115 學年度｜蒐集：2026-07-29｜相似度：0.87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1828800" y="5486400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期限、數字、單位名稱都必須可逐字回查。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四類自我測試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 測試：有證據回答，資料不足就停止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RAG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371600"/>
            <a:ext cx="5166360" cy="3154680"/>
          </a:xfrm>
          <a:prstGeom prst="roundRect">
            <a:avLst>
              <a:gd name="adj" fmla="val 2319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1078992" y="17830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 學年度第 2 學期何時開學？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1078992" y="2395728"/>
            <a:ext cx="4480560" cy="1005840"/>
          </a:xfrm>
          <a:prstGeom prst="roundRect">
            <a:avLst>
              <a:gd name="adj" fmla="val 7273"/>
            </a:avLst>
          </a:prstGeom>
          <a:solidFill>
            <a:srgbClr val="FDE7E1"/>
          </a:solidFill>
          <a:ln w="12700">
            <a:solidFill>
              <a:srgbClr val="FDE7E1">
                <a:alpha val="0"/>
              </a:srgbClr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1371600" y="26974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目前語料沒有足夠證據回答此問題。</a:t>
            </a:r>
            <a:endParaRPr lang="en-US" sz="1650" dirty="0"/>
          </a:p>
        </p:txBody>
      </p:sp>
      <p:sp>
        <p:nvSpPr>
          <p:cNvPr id="67" name="Text 64"/>
          <p:cNvSpPr/>
          <p:nvPr/>
        </p:nvSpPr>
        <p:spPr>
          <a:xfrm>
            <a:off x="1307592" y="3182112"/>
            <a:ext cx="40416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狀態：insufficient_evidence</a:t>
            </a:r>
            <a:endParaRPr lang="en-US" sz="1150" dirty="0"/>
          </a:p>
        </p:txBody>
      </p:sp>
      <p:sp>
        <p:nvSpPr>
          <p:cNvPr id="68" name="Shape 65"/>
          <p:cNvSpPr/>
          <p:nvPr/>
        </p:nvSpPr>
        <p:spPr>
          <a:xfrm>
            <a:off x="6537960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6537960" y="1371600"/>
            <a:ext cx="91440" cy="114300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6793992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800" dirty="0"/>
          </a:p>
        </p:txBody>
      </p:sp>
      <p:sp>
        <p:nvSpPr>
          <p:cNvPr id="71" name="Text 68"/>
          <p:cNvSpPr/>
          <p:nvPr/>
        </p:nvSpPr>
        <p:spPr>
          <a:xfrm>
            <a:off x="6793992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修課與畢業學分</a:t>
            </a:r>
            <a:endParaRPr lang="en-US" sz="1250" dirty="0"/>
          </a:p>
        </p:txBody>
      </p:sp>
      <p:sp>
        <p:nvSpPr>
          <p:cNvPr id="72" name="Shape 69"/>
          <p:cNvSpPr/>
          <p:nvPr/>
        </p:nvSpPr>
        <p:spPr>
          <a:xfrm>
            <a:off x="9025128" y="1371600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9025128" y="1371600"/>
            <a:ext cx="91440" cy="114300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9281160" y="1600200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800" dirty="0"/>
          </a:p>
        </p:txBody>
      </p:sp>
      <p:sp>
        <p:nvSpPr>
          <p:cNvPr id="75" name="Text 72"/>
          <p:cNvSpPr/>
          <p:nvPr/>
        </p:nvSpPr>
        <p:spPr>
          <a:xfrm>
            <a:off x="9281160" y="2066544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英文門檻與年度</a:t>
            </a:r>
            <a:endParaRPr lang="en-US" sz="1250" dirty="0"/>
          </a:p>
        </p:txBody>
      </p:sp>
      <p:sp>
        <p:nvSpPr>
          <p:cNvPr id="76" name="Shape 73"/>
          <p:cNvSpPr/>
          <p:nvPr/>
        </p:nvSpPr>
        <p:spPr>
          <a:xfrm>
            <a:off x="6537960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4"/>
          <p:cNvSpPr/>
          <p:nvPr/>
        </p:nvSpPr>
        <p:spPr>
          <a:xfrm>
            <a:off x="6537960" y="2944368"/>
            <a:ext cx="91440" cy="114300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6793992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800" dirty="0"/>
          </a:p>
        </p:txBody>
      </p:sp>
      <p:sp>
        <p:nvSpPr>
          <p:cNvPr id="79" name="Text 76"/>
          <p:cNvSpPr/>
          <p:nvPr/>
        </p:nvSpPr>
        <p:spPr>
          <a:xfrm>
            <a:off x="6793992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流程或表單</a:t>
            </a:r>
            <a:endParaRPr lang="en-US" sz="1250" dirty="0"/>
          </a:p>
        </p:txBody>
      </p:sp>
      <p:sp>
        <p:nvSpPr>
          <p:cNvPr id="80" name="Shape 77"/>
          <p:cNvSpPr/>
          <p:nvPr/>
        </p:nvSpPr>
        <p:spPr>
          <a:xfrm>
            <a:off x="9025128" y="2944368"/>
            <a:ext cx="2176272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9025128" y="2944368"/>
            <a:ext cx="91440" cy="114300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82" name="Text 79"/>
          <p:cNvSpPr/>
          <p:nvPr/>
        </p:nvSpPr>
        <p:spPr>
          <a:xfrm>
            <a:off x="9281160" y="3172968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800" dirty="0"/>
          </a:p>
        </p:txBody>
      </p:sp>
      <p:sp>
        <p:nvSpPr>
          <p:cNvPr id="83" name="Text 80"/>
          <p:cNvSpPr/>
          <p:nvPr/>
        </p:nvSpPr>
        <p:spPr>
          <a:xfrm>
            <a:off x="9281160" y="3639312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校務日期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學生自己本機的後台頁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問答紀錄：把同一串對話整理成主要主題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77240" y="1389888"/>
            <a:ext cx="10652760" cy="36118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914400" y="1773936"/>
            <a:ext cx="14173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1920240"/>
            <a:ext cx="12710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</a:t>
            </a:r>
            <a:endParaRPr lang="en-US" sz="1000" dirty="0"/>
          </a:p>
        </p:txBody>
      </p:sp>
      <p:sp>
        <p:nvSpPr>
          <p:cNvPr id="66" name="Shape 63"/>
          <p:cNvSpPr/>
          <p:nvPr/>
        </p:nvSpPr>
        <p:spPr>
          <a:xfrm>
            <a:off x="2331720" y="1773936"/>
            <a:ext cx="3063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404872" y="1920240"/>
            <a:ext cx="2916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question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5394960" y="1773936"/>
            <a:ext cx="19202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5468112" y="1920240"/>
            <a:ext cx="17739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answer_status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315200" y="1773936"/>
            <a:ext cx="210312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7388352" y="1920240"/>
            <a:ext cx="195681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cited_chunk_ids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9418320" y="1773936"/>
            <a:ext cx="2148840" cy="475488"/>
          </a:xfrm>
          <a:prstGeom prst="rect">
            <a:avLst/>
          </a:prstGeom>
          <a:solidFill>
            <a:srgbClr val="153E6E"/>
          </a:solidFill>
          <a:ln w="12700">
            <a:solidFill>
              <a:srgbClr val="153E6E">
                <a:alpha val="0"/>
              </a:srgbClr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9491472" y="1920240"/>
            <a:ext cx="2002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self_test_note</a:t>
            </a:r>
            <a:endParaRPr lang="en-US" sz="1000" dirty="0"/>
          </a:p>
        </p:txBody>
      </p:sp>
      <p:sp>
        <p:nvSpPr>
          <p:cNvPr id="74" name="Shape 71"/>
          <p:cNvSpPr/>
          <p:nvPr/>
        </p:nvSpPr>
        <p:spPr>
          <a:xfrm>
            <a:off x="914400" y="2249424"/>
            <a:ext cx="14173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1005840" y="2514600"/>
            <a:ext cx="1234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q-103</a:t>
            </a:r>
            <a:endParaRPr lang="en-US" sz="1200" dirty="0"/>
          </a:p>
        </p:txBody>
      </p:sp>
      <p:sp>
        <p:nvSpPr>
          <p:cNvPr id="76" name="Shape 73"/>
          <p:cNvSpPr/>
          <p:nvPr/>
        </p:nvSpPr>
        <p:spPr>
          <a:xfrm>
            <a:off x="2331720" y="2249424"/>
            <a:ext cx="3063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2423160" y="2514600"/>
            <a:ext cx="2880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115-1 加退選何時截止？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5394960" y="2249424"/>
            <a:ext cx="19202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5486400" y="251460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supported</a:t>
            </a:r>
            <a:endParaRPr lang="en-US" sz="1050" dirty="0"/>
          </a:p>
        </p:txBody>
      </p:sp>
      <p:sp>
        <p:nvSpPr>
          <p:cNvPr id="80" name="Shape 77"/>
          <p:cNvSpPr/>
          <p:nvPr/>
        </p:nvSpPr>
        <p:spPr>
          <a:xfrm>
            <a:off x="7315200" y="2249424"/>
            <a:ext cx="210312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7406640" y="2514600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calendar-115-1</a:t>
            </a:r>
            <a:endParaRPr lang="en-US" sz="1200" dirty="0"/>
          </a:p>
        </p:txBody>
      </p:sp>
      <p:sp>
        <p:nvSpPr>
          <p:cNvPr id="82" name="Shape 79"/>
          <p:cNvSpPr/>
          <p:nvPr/>
        </p:nvSpPr>
        <p:spPr>
          <a:xfrm>
            <a:off x="9418320" y="2249424"/>
            <a:ext cx="2148840" cy="859536"/>
          </a:xfrm>
          <a:prstGeom prst="rect">
            <a:avLst/>
          </a:prstGeom>
          <a:solidFill>
            <a:srgbClr val="F4F8FB"/>
          </a:solidFill>
          <a:ln w="12700">
            <a:solidFill>
              <a:srgbClr val="D7E3EC"/>
            </a:solidFill>
            <a:prstDash val="solid"/>
          </a:ln>
        </p:spPr>
      </p:sp>
      <p:sp>
        <p:nvSpPr>
          <p:cNvPr id="83" name="Text 80"/>
          <p:cNvSpPr/>
          <p:nvPr/>
        </p:nvSpPr>
        <p:spPr>
          <a:xfrm>
            <a:off x="9509760" y="2514600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確認年度與公告日期</a:t>
            </a:r>
            <a:endParaRPr lang="en-US" sz="1200" dirty="0"/>
          </a:p>
        </p:txBody>
      </p:sp>
      <p:sp>
        <p:nvSpPr>
          <p:cNvPr id="84" name="Text 81"/>
          <p:cNvSpPr/>
          <p:nvPr/>
        </p:nvSpPr>
        <p:spPr>
          <a:xfrm>
            <a:off x="1188720" y="3703320"/>
            <a:ext cx="9784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JSONL：每行一筆紀錄，方便追加、分類與分析。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不計分的自我檢查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從問答紀錄，找到下一步要改善什麼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IMPROVE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73152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31520" y="1828800"/>
            <a:ext cx="91440" cy="2240280"/>
          </a:xfrm>
          <a:prstGeom prst="rect">
            <a:avLst/>
          </a:prstGeom>
          <a:solidFill>
            <a:srgbClr val="E58A4A"/>
          </a:solidFill>
          <a:ln w="12700">
            <a:solidFill>
              <a:srgbClr val="E58A4A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98755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現象</a:t>
            </a:r>
            <a:endParaRPr lang="en-US" sz="1900" dirty="0"/>
          </a:p>
        </p:txBody>
      </p:sp>
      <p:sp>
        <p:nvSpPr>
          <p:cNvPr id="66" name="Text 63"/>
          <p:cNvSpPr/>
          <p:nvPr/>
        </p:nvSpPr>
        <p:spPr>
          <a:xfrm>
            <a:off x="98755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英文門檻問題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反覆無法回答</a:t>
            </a:r>
            <a:endParaRPr lang="en-US" sz="1500" dirty="0"/>
          </a:p>
        </p:txBody>
      </p:sp>
      <p:sp>
        <p:nvSpPr>
          <p:cNvPr id="67" name="Text 64"/>
          <p:cNvSpPr/>
          <p:nvPr/>
        </p:nvSpPr>
        <p:spPr>
          <a:xfrm>
            <a:off x="315468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68" name="Shape 65"/>
          <p:cNvSpPr/>
          <p:nvPr/>
        </p:nvSpPr>
        <p:spPr>
          <a:xfrm>
            <a:off x="356616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566160" y="1828800"/>
            <a:ext cx="91440" cy="2240280"/>
          </a:xfrm>
          <a:prstGeom prst="rect">
            <a:avLst/>
          </a:prstGeom>
          <a:solidFill>
            <a:srgbClr val="E8B849"/>
          </a:solidFill>
          <a:ln w="12700">
            <a:solidFill>
              <a:srgbClr val="E8B84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382219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證據</a:t>
            </a:r>
            <a:endParaRPr lang="en-US" sz="1900" dirty="0"/>
          </a:p>
        </p:txBody>
      </p:sp>
      <p:sp>
        <p:nvSpPr>
          <p:cNvPr id="71" name="Text 68"/>
          <p:cNvSpPr/>
          <p:nvPr/>
        </p:nvSpPr>
        <p:spPr>
          <a:xfrm>
            <a:off x="382219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query_id · 狀態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沒有引用</a:t>
            </a:r>
            <a:endParaRPr lang="en-US" sz="1500" dirty="0"/>
          </a:p>
        </p:txBody>
      </p:sp>
      <p:sp>
        <p:nvSpPr>
          <p:cNvPr id="72" name="Text 69"/>
          <p:cNvSpPr/>
          <p:nvPr/>
        </p:nvSpPr>
        <p:spPr>
          <a:xfrm>
            <a:off x="598932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3" name="Shape 70"/>
          <p:cNvSpPr/>
          <p:nvPr/>
        </p:nvSpPr>
        <p:spPr>
          <a:xfrm>
            <a:off x="640080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400800" y="1828800"/>
            <a:ext cx="91440" cy="2240280"/>
          </a:xfrm>
          <a:prstGeom prst="rect">
            <a:avLst/>
          </a:prstGeom>
          <a:solidFill>
            <a:srgbClr val="49657A"/>
          </a:solidFill>
          <a:ln w="12700">
            <a:solidFill>
              <a:srgbClr val="49657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665683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原因</a:t>
            </a:r>
            <a:endParaRPr lang="en-US" sz="1900" dirty="0"/>
          </a:p>
        </p:txBody>
      </p:sp>
      <p:sp>
        <p:nvSpPr>
          <p:cNvPr id="76" name="Text 73"/>
          <p:cNvSpPr/>
          <p:nvPr/>
        </p:nvSpPr>
        <p:spPr>
          <a:xfrm>
            <a:off x="665683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缺少適用年度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或解析失敗</a:t>
            </a:r>
            <a:endParaRPr lang="en-US" sz="1500" dirty="0"/>
          </a:p>
        </p:txBody>
      </p:sp>
      <p:sp>
        <p:nvSpPr>
          <p:cNvPr id="77" name="Text 74"/>
          <p:cNvSpPr/>
          <p:nvPr/>
        </p:nvSpPr>
        <p:spPr>
          <a:xfrm>
            <a:off x="8823960" y="2697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58A4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00" dirty="0"/>
          </a:p>
        </p:txBody>
      </p:sp>
      <p:sp>
        <p:nvSpPr>
          <p:cNvPr id="78" name="Shape 75"/>
          <p:cNvSpPr/>
          <p:nvPr/>
        </p:nvSpPr>
        <p:spPr>
          <a:xfrm>
            <a:off x="9235440" y="1828800"/>
            <a:ext cx="2359152" cy="224028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Shape 76"/>
          <p:cNvSpPr/>
          <p:nvPr/>
        </p:nvSpPr>
        <p:spPr>
          <a:xfrm>
            <a:off x="9235440" y="1828800"/>
            <a:ext cx="91440" cy="2240280"/>
          </a:xfrm>
          <a:prstGeom prst="rect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80" name="Text 77"/>
          <p:cNvSpPr/>
          <p:nvPr/>
        </p:nvSpPr>
        <p:spPr>
          <a:xfrm>
            <a:off x="9491472" y="2057400"/>
            <a:ext cx="1901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動作</a:t>
            </a:r>
            <a:endParaRPr lang="en-US" sz="1900" dirty="0"/>
          </a:p>
        </p:txBody>
      </p:sp>
      <p:sp>
        <p:nvSpPr>
          <p:cNvPr id="81" name="Text 78"/>
          <p:cNvSpPr/>
          <p:nvPr/>
        </p:nvSpPr>
        <p:spPr>
          <a:xfrm>
            <a:off x="9491472" y="2523744"/>
            <a:ext cx="188366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add_source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repair_parse</a:t>
            </a:r>
            <a:endParaRPr lang="en-US" sz="1500" dirty="0"/>
          </a:p>
        </p:txBody>
      </p:sp>
      <p:sp>
        <p:nvSpPr>
          <p:cNvPr id="82" name="Text 79"/>
          <p:cNvSpPr/>
          <p:nvPr/>
        </p:nvSpPr>
        <p:spPr>
          <a:xfrm>
            <a:off x="841248" y="5001768"/>
            <a:ext cx="10561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允許的改善動作：add_source · repair_parse · revise_chunking_or_metadata · improve_retrieval · revise_prompt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71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28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00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686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0584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5156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0" y="0"/>
            <a:ext cx="0" cy="685800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0" y="457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0" y="914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0" y="1371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0" y="1828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0" y="2286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0" y="2743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0" y="3200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3657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0" y="4114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0" y="4572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0" y="50292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54864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0" y="59436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0" y="64008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0" y="6858000"/>
            <a:ext cx="12191695" cy="0"/>
          </a:xfrm>
          <a:prstGeom prst="line">
            <a:avLst/>
          </a:prstGeom>
          <a:noFill/>
          <a:ln w="4445">
            <a:solidFill>
              <a:srgbClr val="EAF0F5"/>
            </a:solidFill>
            <a:prstDash val="solid"/>
          </a:ln>
        </p:spPr>
      </p:sp>
      <p:pic>
        <p:nvPicPr>
          <p:cNvPr id="45" name="Image 0" descr="/Users/tzu/專案/GitHub/20260803-Workshop/course/day-03/instructor/slides/assets/meda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1904" y="164592"/>
            <a:ext cx="1024128" cy="265176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566928" y="402336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b="1" spc="160" kern="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個人自我完成檢核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566928" y="667512"/>
            <a:ext cx="9692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把文件變成可用的知識，前提是它仍然可追溯。</a:t>
            </a:r>
            <a:endParaRPr lang="en-US" sz="3200" dirty="0"/>
          </a:p>
        </p:txBody>
      </p:sp>
      <p:sp>
        <p:nvSpPr>
          <p:cNvPr id="48" name="Shape 45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8255">
            <a:solidFill>
              <a:srgbClr val="D7E3EC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30352" y="6510528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WRAP UP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11064240" y="6473952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6419088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2940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986016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196328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7552944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763256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</a:t>
            </a:r>
            <a:endParaRPr lang="en-US" sz="750" dirty="0"/>
          </a:p>
        </p:txBody>
      </p:sp>
      <p:sp>
        <p:nvSpPr>
          <p:cNvPr id="57" name="Shape 54"/>
          <p:cNvSpPr/>
          <p:nvPr/>
        </p:nvSpPr>
        <p:spPr>
          <a:xfrm>
            <a:off x="8119872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8330184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</a:t>
            </a:r>
            <a:endParaRPr lang="en-US" sz="750" dirty="0"/>
          </a:p>
        </p:txBody>
      </p:sp>
      <p:sp>
        <p:nvSpPr>
          <p:cNvPr id="59" name="Shape 56"/>
          <p:cNvSpPr/>
          <p:nvPr/>
        </p:nvSpPr>
        <p:spPr>
          <a:xfrm>
            <a:off x="8686800" y="6492240"/>
            <a:ext cx="164592" cy="164592"/>
          </a:xfrm>
          <a:prstGeom prst="ellipse">
            <a:avLst/>
          </a:prstGeom>
          <a:solidFill>
            <a:srgbClr val="E8F1F8"/>
          </a:solidFill>
          <a:ln w="12700">
            <a:solidFill>
              <a:srgbClr val="E8F1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8897112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</a:t>
            </a:r>
            <a:endParaRPr lang="en-US" sz="750" dirty="0"/>
          </a:p>
        </p:txBody>
      </p:sp>
      <p:sp>
        <p:nvSpPr>
          <p:cNvPr id="61" name="Shape 58"/>
          <p:cNvSpPr/>
          <p:nvPr/>
        </p:nvSpPr>
        <p:spPr>
          <a:xfrm>
            <a:off x="9253728" y="6492240"/>
            <a:ext cx="164592" cy="164592"/>
          </a:xfrm>
          <a:prstGeom prst="ellipse">
            <a:avLst/>
          </a:prstGeom>
          <a:solidFill>
            <a:srgbClr val="3679B9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9464040" y="6496812"/>
            <a:ext cx="1645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F8291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</a:t>
            </a:r>
            <a:endParaRPr 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694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694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700" dirty="0"/>
          </a:p>
        </p:txBody>
      </p:sp>
      <p:sp>
        <p:nvSpPr>
          <p:cNvPr id="65" name="Text 62"/>
          <p:cNvSpPr/>
          <p:nvPr/>
        </p:nvSpPr>
        <p:spPr>
          <a:xfrm>
            <a:off x="347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四份指定資料</a:t>
            </a:r>
            <a:endParaRPr lang="en-US" sz="1500" dirty="0"/>
          </a:p>
        </p:txBody>
      </p:sp>
      <p:sp>
        <p:nvSpPr>
          <p:cNvPr id="66" name="Shape 63"/>
          <p:cNvSpPr/>
          <p:nvPr/>
        </p:nvSpPr>
        <p:spPr>
          <a:xfrm>
            <a:off x="2980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2980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700" dirty="0"/>
          </a:p>
        </p:txBody>
      </p:sp>
      <p:sp>
        <p:nvSpPr>
          <p:cNvPr id="68" name="Text 65"/>
          <p:cNvSpPr/>
          <p:nvPr/>
        </p:nvSpPr>
        <p:spPr>
          <a:xfrm>
            <a:off x="2633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品質與 chunks</a:t>
            </a:r>
            <a:endParaRPr lang="en-US" sz="1500" dirty="0"/>
          </a:p>
        </p:txBody>
      </p:sp>
      <p:sp>
        <p:nvSpPr>
          <p:cNvPr id="69" name="Shape 66"/>
          <p:cNvSpPr/>
          <p:nvPr/>
        </p:nvSpPr>
        <p:spPr>
          <a:xfrm>
            <a:off x="5266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0" name="Text 67"/>
          <p:cNvSpPr/>
          <p:nvPr/>
        </p:nvSpPr>
        <p:spPr>
          <a:xfrm>
            <a:off x="5266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700" dirty="0"/>
          </a:p>
        </p:txBody>
      </p:sp>
      <p:sp>
        <p:nvSpPr>
          <p:cNvPr id="71" name="Text 68"/>
          <p:cNvSpPr/>
          <p:nvPr/>
        </p:nvSpPr>
        <p:spPr>
          <a:xfrm>
            <a:off x="4919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向量索引</a:t>
            </a:r>
            <a:endParaRPr lang="en-US" sz="1500" dirty="0"/>
          </a:p>
        </p:txBody>
      </p:sp>
      <p:sp>
        <p:nvSpPr>
          <p:cNvPr id="72" name="Shape 69"/>
          <p:cNvSpPr/>
          <p:nvPr/>
        </p:nvSpPr>
        <p:spPr>
          <a:xfrm>
            <a:off x="7552944" y="2240280"/>
            <a:ext cx="932688" cy="932688"/>
          </a:xfrm>
          <a:prstGeom prst="ellipse">
            <a:avLst/>
          </a:prstGeom>
          <a:solidFill>
            <a:srgbClr val="153E6E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7552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</a:t>
            </a:r>
            <a:endParaRPr lang="en-US" sz="1700" dirty="0"/>
          </a:p>
        </p:txBody>
      </p:sp>
      <p:sp>
        <p:nvSpPr>
          <p:cNvPr id="74" name="Text 71"/>
          <p:cNvSpPr/>
          <p:nvPr/>
        </p:nvSpPr>
        <p:spPr>
          <a:xfrm>
            <a:off x="7205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Streamlit 問答</a:t>
            </a:r>
            <a:endParaRPr lang="en-US" sz="1500" dirty="0"/>
          </a:p>
        </p:txBody>
      </p:sp>
      <p:sp>
        <p:nvSpPr>
          <p:cNvPr id="75" name="Shape 72"/>
          <p:cNvSpPr/>
          <p:nvPr/>
        </p:nvSpPr>
        <p:spPr>
          <a:xfrm>
            <a:off x="9838944" y="2240280"/>
            <a:ext cx="932688" cy="932688"/>
          </a:xfrm>
          <a:prstGeom prst="ellipse">
            <a:avLst/>
          </a:prstGeom>
          <a:solidFill>
            <a:srgbClr val="E58A4A"/>
          </a:solidFill>
          <a:ln w="12700">
            <a:solidFill>
              <a:srgbClr val="3679B9"/>
            </a:solidFill>
            <a:prstDash val="solid"/>
          </a:ln>
        </p:spPr>
      </p:sp>
      <p:sp>
        <p:nvSpPr>
          <p:cNvPr id="76" name="Text 73"/>
          <p:cNvSpPr/>
          <p:nvPr/>
        </p:nvSpPr>
        <p:spPr>
          <a:xfrm>
            <a:off x="9838944" y="2514600"/>
            <a:ext cx="932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</a:t>
            </a:r>
            <a:endParaRPr lang="en-US" sz="1700" dirty="0"/>
          </a:p>
        </p:txBody>
      </p:sp>
      <p:sp>
        <p:nvSpPr>
          <p:cNvPr id="77" name="Text 74"/>
          <p:cNvSpPr/>
          <p:nvPr/>
        </p:nvSpPr>
        <p:spPr>
          <a:xfrm>
            <a:off x="9491472" y="3529584"/>
            <a:ext cx="16276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3E6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歷程與改善</a:t>
            </a:r>
            <a:endParaRPr lang="en-US" sz="1500" dirty="0"/>
          </a:p>
        </p:txBody>
      </p:sp>
      <p:sp>
        <p:nvSpPr>
          <p:cNvPr id="78" name="Text 75"/>
          <p:cNvSpPr/>
          <p:nvPr/>
        </p:nvSpPr>
        <p:spPr>
          <a:xfrm>
            <a:off x="1097280" y="512064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679B9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完成順序：原始文件 → 分析表 → 索引 → Streamlit 問答與歷程。</a:t>
            </a:r>
            <a:endParaRPr lang="en-US" sz="2000" dirty="0"/>
          </a:p>
        </p:txBody>
      </p:sp>
      <p:sp>
        <p:nvSpPr>
          <p:cNvPr id="79" name="Text 76"/>
          <p:cNvSpPr/>
          <p:nvPr/>
        </p:nvSpPr>
        <p:spPr>
          <a:xfrm>
            <a:off x="1417320" y="571500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49657A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只在本機執行｜回答附來源｜證據不足時不猜｜以原始網站最新公告為準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YunTech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3｜生成式人工智慧於文本資料分析的應用</dc:title>
  <dc:subject>Day 3 — 生成式人工智慧於文本資料分析的應用</dc:subject>
  <dc:creator>張育慈 Ruby</dc:creator>
  <cp:lastModifiedBy>張育慈 Ruby</cp:lastModifiedBy>
  <cp:revision>1</cp:revision>
  <dcterms:created xsi:type="dcterms:W3CDTF">2026-08-03T07:15:11Z</dcterms:created>
  <dcterms:modified xsi:type="dcterms:W3CDTF">2026-08-03T07:15:11Z</dcterms:modified>
</cp:coreProperties>
</file>