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講師關鍵句：今天的重點不是做一個聊天機器人，而是讓 AI 的解讀與每個答案都能回到資料來源。
學生動作：下載工作坊 ZIP，開啟 course/day-03/starter。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講師關鍵句：今天不是先做聊天畫面；先讓 AI 協助讀懂並整理文件。
學生動作：確認今天有兩個成果：分析表和可引用問答助手。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講師關鍵句：前 30 分鐘一起把工具裝好；之後每個階段都要留下可回查的產物。
學生動作：完成健康檢查後，依時程安排工作，午休前完成解析與品質檢查。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講師關鍵句：學生不會得到一個已完成的聊天室；先完成分析表，才用 Codex 建立它。
學生動作：說出今天的四段順序。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講師關鍵句：Codex 依提示詞協作，MarkItDown 負責解析已下載文件，Ollama 在最後的索引與回答階段運作。
學生動作：完成一筆成功下載後，才以 file: URI 測試 MarkItDown MCP。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講師關鍵句：這些不是考試名詞，而是介面建立前必須完成的資料成果。
學生動作：在 repo README 找到資料夾結構與輸出檔。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講師關鍵句：學生不選網址，也不下載資料；先讀來源紀錄，知道每份文件從哪裡來。
學生動作：貼上提示詞 1，確認環境與四份來源檔。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講師關鍵句：原始檔已準備好；學生只做本機轉換與品質判讀，不重做網頁蒐集。
學生動作：貼上提示詞 2，完成四份文件的轉換與品質結果。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講師關鍵句：生成式 AI 的價值是協助閱讀與分類，不是取代來源或補造規定。
學生動作：貼上提示詞 3，建立含來源段落的校務文件分析表。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講師關鍵句：不要把 PDF 轉出一堆破碎表格，卻假裝它已經適合問答。
學生動作：為文件設定品質狀態，非 ready 必須寫下原因。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講師關鍵句：chunk 不只是一段文字；它同時帶著來源，才能被檢索和引用。
學生動作：處理 Markdown 後執行 python scripts/build_index.py。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講師關鍵句：這一頁確認的不是答案，而是 Streamlit 稍後會使用的資料來源與索引欄位。
學生動作：確認 vector_index.jsonl 已建立，並知道有哪些文件與 chunks。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講師關鍵句：介面在資料與索引完成後才建立；學生要核對的是找回的 evidence 是否支撐回答。
學生動作：依提示詞 5 建立 Streamlit 介面，再接上自己的向量索引。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講師關鍵句：這是學生以 Codex 從空白建立的 Streamlit 介面；問題先出現在右側，答案與引用在左側。
學生動作：以自己的索引提問，確認答案、年度與來源完整顯示。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講師關鍵句：資料不足不是失敗；它告訴學生下一輪應補哪一類公開文件，而不是讓模型猜。
學生動作：測試四類問題，確認英文與日期題會顯示適用年度或公告日期。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講師關鍵句：問答紀錄把一次問答轉成下一次改善的資料；它不是真實使用者回饋。
學生動作：確認本機問答紀錄表格會彙整每次對話的主要主題，並保留每題自我測試紀錄。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講師關鍵句：改善不是憑感覺調 prompt；每一項 backlog 都要回連 query_id 和證據。
學生動作：從問答紀錄回顧哪些題目需要補資料、修解析、調整切分或改善檢索。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講師關鍵句：今天不是交作業；請每個人用自己的電腦核對完整證據鏈。
學生動作：完成個人自我檢核；不公開部署或分享連結。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YUNTECH WORKSHOP · 2026 / 08 / 05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3｜生成式人工智慧於文本資料分析的應用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DAY 03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01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03504" y="1481328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先用生成式 AI 分析校務文件，再用問答助手驗證解讀</a:t>
            </a:r>
            <a:endParaRPr lang="en-US" sz="2000" dirty="0"/>
          </a:p>
        </p:txBody>
      </p:sp>
      <p:sp>
        <p:nvSpPr>
          <p:cNvPr id="52" name="Shape 49"/>
          <p:cNvSpPr/>
          <p:nvPr/>
        </p:nvSpPr>
        <p:spPr>
          <a:xfrm>
            <a:off x="640080" y="27432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22960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四份原始文件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2852928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55" name="Shape 52"/>
          <p:cNvSpPr/>
          <p:nvPr/>
        </p:nvSpPr>
        <p:spPr>
          <a:xfrm>
            <a:off x="3291840" y="27432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474720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文件分析表</a:t>
            </a:r>
            <a:endParaRPr lang="en-US" sz="1800" dirty="0"/>
          </a:p>
        </p:txBody>
      </p:sp>
      <p:sp>
        <p:nvSpPr>
          <p:cNvPr id="57" name="Text 54"/>
          <p:cNvSpPr/>
          <p:nvPr/>
        </p:nvSpPr>
        <p:spPr>
          <a:xfrm>
            <a:off x="5504688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58" name="Shape 55"/>
          <p:cNvSpPr/>
          <p:nvPr/>
        </p:nvSpPr>
        <p:spPr>
          <a:xfrm>
            <a:off x="5943600" y="27432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126480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搜尋索引</a:t>
            </a:r>
            <a:endParaRPr lang="en-US" sz="1800" dirty="0"/>
          </a:p>
        </p:txBody>
      </p:sp>
      <p:sp>
        <p:nvSpPr>
          <p:cNvPr id="60" name="Text 57"/>
          <p:cNvSpPr/>
          <p:nvPr/>
        </p:nvSpPr>
        <p:spPr>
          <a:xfrm>
            <a:off x="8156448" y="30906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61" name="Shape 58"/>
          <p:cNvSpPr/>
          <p:nvPr/>
        </p:nvSpPr>
        <p:spPr>
          <a:xfrm>
            <a:off x="8595360" y="274320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3679B9"/>
          </a:solidFill>
          <a:ln w="12700">
            <a:solidFill>
              <a:srgbClr val="3679B9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778240" y="30540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可引用問答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621792" y="53218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79B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講師｜張育慈 Ruby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今日成果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今天結束前，你會完成什麼？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OPENING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02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85800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85800" y="1417320"/>
            <a:ext cx="91440" cy="138988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41832" y="164592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四份原始文件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941832" y="2112264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講師已提供 raw 與來源紀錄，學生不必找網址。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245352" y="1417320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245352" y="1417320"/>
            <a:ext cx="91440" cy="1389888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01384" y="164592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校務文件分析表</a:t>
            </a:r>
            <a:endParaRPr lang="en-US" sz="1800" dirty="0"/>
          </a:p>
        </p:txBody>
      </p:sp>
      <p:sp>
        <p:nvSpPr>
          <p:cNvPr id="70" name="Text 67"/>
          <p:cNvSpPr/>
          <p:nvPr/>
        </p:nvSpPr>
        <p:spPr>
          <a:xfrm>
            <a:off x="6501384" y="2112264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分開原文、AI 解讀、適用條件與不確定處。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685800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85800" y="3264408"/>
            <a:ext cx="91440" cy="1389888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41832" y="3493008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自己的資料索引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941832" y="3959352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Markdown、品質結果、chunks 與向量索引。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6245352" y="3264408"/>
            <a:ext cx="5084064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245352" y="3264408"/>
            <a:ext cx="91440" cy="1389888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501384" y="3493008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可引用 RAG</a:t>
            </a:r>
            <a:endParaRPr lang="en-US" sz="1800" dirty="0"/>
          </a:p>
        </p:txBody>
      </p:sp>
      <p:sp>
        <p:nvSpPr>
          <p:cNvPr id="78" name="Text 75"/>
          <p:cNvSpPr/>
          <p:nvPr/>
        </p:nvSpPr>
        <p:spPr>
          <a:xfrm>
            <a:off x="6501384" y="3959352"/>
            <a:ext cx="4608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回答只用自己的來源；證據不足時明確停止。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713232" y="54132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完成順序不能倒過來：原始文件 → 分析表 → 索引 → Streamlit 問答與歷程。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09:00 — 16:30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今日時程與檢查點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OPENING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914400" y="2926080"/>
            <a:ext cx="1417320" cy="0"/>
          </a:xfrm>
          <a:prstGeom prst="line">
            <a:avLst/>
          </a:prstGeom>
          <a:noFill/>
          <a:ln w="25400">
            <a:solidFill>
              <a:srgbClr val="3679B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85800" y="2670048"/>
            <a:ext cx="502920" cy="502920"/>
          </a:xfrm>
          <a:prstGeom prst="ellipse">
            <a:avLst/>
          </a:prstGeom>
          <a:solidFill>
            <a:srgbClr val="3679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7607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09:00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57607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工具建置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57607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 + Ollama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2788920" y="2926080"/>
            <a:ext cx="1417320" cy="0"/>
          </a:xfrm>
          <a:prstGeom prst="line">
            <a:avLst/>
          </a:prstGeom>
          <a:noFill/>
          <a:ln w="25400">
            <a:solidFill>
              <a:srgbClr val="3679B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560320" y="2670048"/>
            <a:ext cx="502920" cy="502920"/>
          </a:xfrm>
          <a:prstGeom prst="ellipse">
            <a:avLst/>
          </a:prstGeom>
          <a:solidFill>
            <a:srgbClr val="3679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245059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09:30</a:t>
            </a:r>
            <a:endParaRPr lang="en-US" sz="1400" dirty="0"/>
          </a:p>
        </p:txBody>
      </p:sp>
      <p:sp>
        <p:nvSpPr>
          <p:cNvPr id="71" name="Text 68"/>
          <p:cNvSpPr/>
          <p:nvPr/>
        </p:nvSpPr>
        <p:spPr>
          <a:xfrm>
            <a:off x="245059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讀懂來源資料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245059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 + manifest</a:t>
            </a:r>
            <a:endParaRPr lang="en-US" sz="1000" dirty="0"/>
          </a:p>
        </p:txBody>
      </p:sp>
      <p:sp>
        <p:nvSpPr>
          <p:cNvPr id="73" name="Shape 70"/>
          <p:cNvSpPr/>
          <p:nvPr/>
        </p:nvSpPr>
        <p:spPr>
          <a:xfrm>
            <a:off x="4663440" y="2926080"/>
            <a:ext cx="1417320" cy="0"/>
          </a:xfrm>
          <a:prstGeom prst="line">
            <a:avLst/>
          </a:prstGeom>
          <a:noFill/>
          <a:ln w="25400">
            <a:solidFill>
              <a:srgbClr val="3679B9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4434840" y="2670048"/>
            <a:ext cx="502920" cy="502920"/>
          </a:xfrm>
          <a:prstGeom prst="ellipse">
            <a:avLst/>
          </a:prstGeom>
          <a:solidFill>
            <a:srgbClr val="3679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32511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10:00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432511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解析與品質檢查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432511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 → Markdown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6537960" y="2926080"/>
            <a:ext cx="1417320" cy="0"/>
          </a:xfrm>
          <a:prstGeom prst="line">
            <a:avLst/>
          </a:prstGeom>
          <a:noFill/>
          <a:ln w="25400">
            <a:solidFill>
              <a:srgbClr val="3679B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6309360" y="2670048"/>
            <a:ext cx="502920" cy="502920"/>
          </a:xfrm>
          <a:prstGeom prst="ellipse">
            <a:avLst/>
          </a:prstGeom>
          <a:solidFill>
            <a:srgbClr val="E58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19963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13:30</a:t>
            </a:r>
            <a:endParaRPr lang="en-US" sz="1400" dirty="0"/>
          </a:p>
        </p:txBody>
      </p:sp>
      <p:sp>
        <p:nvSpPr>
          <p:cNvPr id="81" name="Text 78"/>
          <p:cNvSpPr/>
          <p:nvPr/>
        </p:nvSpPr>
        <p:spPr>
          <a:xfrm>
            <a:off x="619963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建立分析表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619963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原文 → AI 解讀</a:t>
            </a:r>
            <a:endParaRPr lang="en-US" sz="1000" dirty="0"/>
          </a:p>
        </p:txBody>
      </p:sp>
      <p:sp>
        <p:nvSpPr>
          <p:cNvPr id="83" name="Shape 80"/>
          <p:cNvSpPr/>
          <p:nvPr/>
        </p:nvSpPr>
        <p:spPr>
          <a:xfrm>
            <a:off x="8412480" y="2926080"/>
            <a:ext cx="1417320" cy="0"/>
          </a:xfrm>
          <a:prstGeom prst="line">
            <a:avLst/>
          </a:prstGeom>
          <a:noFill/>
          <a:ln w="25400">
            <a:solidFill>
              <a:srgbClr val="3679B9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83880" y="2670048"/>
            <a:ext cx="502920" cy="502920"/>
          </a:xfrm>
          <a:prstGeom prst="ellipse">
            <a:avLst/>
          </a:prstGeom>
          <a:solidFill>
            <a:srgbClr val="E58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807415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14:30</a:t>
            </a:r>
            <a:endParaRPr lang="en-US" sz="1400" dirty="0"/>
          </a:p>
        </p:txBody>
      </p:sp>
      <p:sp>
        <p:nvSpPr>
          <p:cNvPr id="86" name="Text 83"/>
          <p:cNvSpPr/>
          <p:nvPr/>
        </p:nvSpPr>
        <p:spPr>
          <a:xfrm>
            <a:off x="807415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索引與 Streamlit</a:t>
            </a:r>
            <a:endParaRPr lang="en-US" sz="1400" dirty="0"/>
          </a:p>
        </p:txBody>
      </p:sp>
      <p:sp>
        <p:nvSpPr>
          <p:cNvPr id="87" name="Text 84"/>
          <p:cNvSpPr/>
          <p:nvPr/>
        </p:nvSpPr>
        <p:spPr>
          <a:xfrm>
            <a:off x="807415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 + RAG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0287000" y="2926080"/>
            <a:ext cx="1417320" cy="0"/>
          </a:xfrm>
          <a:prstGeom prst="line">
            <a:avLst/>
          </a:prstGeom>
          <a:noFill/>
          <a:ln w="25400">
            <a:solidFill>
              <a:srgbClr val="E8F1F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0058400" y="2670048"/>
            <a:ext cx="502920" cy="502920"/>
          </a:xfrm>
          <a:prstGeom prst="ellipse">
            <a:avLst/>
          </a:prstGeom>
          <a:solidFill>
            <a:srgbClr val="E58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948672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15:40</a:t>
            </a:r>
            <a:endParaRPr lang="en-US" sz="1400" dirty="0"/>
          </a:p>
        </p:txBody>
      </p:sp>
      <p:sp>
        <p:nvSpPr>
          <p:cNvPr id="91" name="Text 88"/>
          <p:cNvSpPr/>
          <p:nvPr/>
        </p:nvSpPr>
        <p:spPr>
          <a:xfrm>
            <a:off x="9948672" y="34015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測試與歷程</a:t>
            </a:r>
            <a:endParaRPr lang="en-US" sz="1400" dirty="0"/>
          </a:p>
        </p:txBody>
      </p:sp>
      <p:sp>
        <p:nvSpPr>
          <p:cNvPr id="92" name="Text 89"/>
          <p:cNvSpPr/>
          <p:nvPr/>
        </p:nvSpPr>
        <p:spPr>
          <a:xfrm>
            <a:off x="9948672" y="37673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問答紀錄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先資料、後介面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今天的成品，如何一步一步完成？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OVERVIEW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04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822960" y="1828800"/>
            <a:ext cx="29718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901952" y="1389888"/>
            <a:ext cx="822960" cy="822960"/>
          </a:xfrm>
          <a:prstGeom prst="ellipse">
            <a:avLst/>
          </a:prstGeom>
          <a:solidFill>
            <a:srgbClr val="E58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901952" y="1618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2000" dirty="0"/>
          </a:p>
        </p:txBody>
      </p:sp>
      <p:sp>
        <p:nvSpPr>
          <p:cNvPr id="66" name="Text 63"/>
          <p:cNvSpPr/>
          <p:nvPr/>
        </p:nvSpPr>
        <p:spPr>
          <a:xfrm>
            <a:off x="109728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講師提供來源</a:t>
            </a:r>
            <a:endParaRPr lang="en-US" sz="2100" dirty="0"/>
          </a:p>
        </p:txBody>
      </p:sp>
      <p:sp>
        <p:nvSpPr>
          <p:cNvPr id="67" name="Text 64"/>
          <p:cNvSpPr/>
          <p:nvPr/>
        </p:nvSpPr>
        <p:spPr>
          <a:xfrm>
            <a:off x="1143000" y="29626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 raw 文件與來源紀錄已在 starter</a:t>
            </a:r>
            <a:endParaRPr lang="en-US" sz="1350" dirty="0"/>
          </a:p>
        </p:txBody>
      </p:sp>
      <p:sp>
        <p:nvSpPr>
          <p:cNvPr id="68" name="Text 65"/>
          <p:cNvSpPr/>
          <p:nvPr/>
        </p:nvSpPr>
        <p:spPr>
          <a:xfrm>
            <a:off x="3877056" y="2606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800" dirty="0"/>
          </a:p>
        </p:txBody>
      </p:sp>
      <p:sp>
        <p:nvSpPr>
          <p:cNvPr id="69" name="Shape 66"/>
          <p:cNvSpPr/>
          <p:nvPr/>
        </p:nvSpPr>
        <p:spPr>
          <a:xfrm>
            <a:off x="4617720" y="1828800"/>
            <a:ext cx="29718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696712" y="1389888"/>
            <a:ext cx="822960" cy="822960"/>
          </a:xfrm>
          <a:prstGeom prst="ellipse">
            <a:avLst/>
          </a:prstGeom>
          <a:solidFill>
            <a:srgbClr val="3679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696712" y="1618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2000" dirty="0"/>
          </a:p>
        </p:txBody>
      </p:sp>
      <p:sp>
        <p:nvSpPr>
          <p:cNvPr id="72" name="Text 69"/>
          <p:cNvSpPr/>
          <p:nvPr/>
        </p:nvSpPr>
        <p:spPr>
          <a:xfrm>
            <a:off x="489204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生成式 AI 分析</a:t>
            </a:r>
            <a:endParaRPr lang="en-US" sz="2100" dirty="0"/>
          </a:p>
        </p:txBody>
      </p:sp>
      <p:sp>
        <p:nvSpPr>
          <p:cNvPr id="73" name="Text 70"/>
          <p:cNvSpPr/>
          <p:nvPr/>
        </p:nvSpPr>
        <p:spPr>
          <a:xfrm>
            <a:off x="4937760" y="29626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Markdown、品質、分析表、chunks 與索引</a:t>
            </a:r>
            <a:endParaRPr lang="en-US" sz="1350" dirty="0"/>
          </a:p>
        </p:txBody>
      </p:sp>
      <p:sp>
        <p:nvSpPr>
          <p:cNvPr id="74" name="Text 71"/>
          <p:cNvSpPr/>
          <p:nvPr/>
        </p:nvSpPr>
        <p:spPr>
          <a:xfrm>
            <a:off x="7671816" y="2606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800" dirty="0"/>
          </a:p>
        </p:txBody>
      </p:sp>
      <p:sp>
        <p:nvSpPr>
          <p:cNvPr id="75" name="Shape 72"/>
          <p:cNvSpPr/>
          <p:nvPr/>
        </p:nvSpPr>
        <p:spPr>
          <a:xfrm>
            <a:off x="8412480" y="1828800"/>
            <a:ext cx="297180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491472" y="1389888"/>
            <a:ext cx="822960" cy="822960"/>
          </a:xfrm>
          <a:prstGeom prst="ellipse">
            <a:avLst/>
          </a:prstGeom>
          <a:solidFill>
            <a:srgbClr val="153E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491472" y="161848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5"/>
          <p:cNvSpPr/>
          <p:nvPr/>
        </p:nvSpPr>
        <p:spPr>
          <a:xfrm>
            <a:off x="8686800" y="2423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Codex＋Streamlit</a:t>
            </a:r>
            <a:endParaRPr lang="en-US" sz="2100" dirty="0"/>
          </a:p>
        </p:txBody>
      </p:sp>
      <p:sp>
        <p:nvSpPr>
          <p:cNvPr id="79" name="Text 76"/>
          <p:cNvSpPr/>
          <p:nvPr/>
        </p:nvSpPr>
        <p:spPr>
          <a:xfrm>
            <a:off x="8732520" y="296265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從空白建立介面，再接上自己的 RAG</a:t>
            </a:r>
            <a:endParaRPr lang="en-US" sz="1350" dirty="0"/>
          </a:p>
        </p:txBody>
      </p:sp>
      <p:sp>
        <p:nvSpPr>
          <p:cNvPr id="80" name="Text 77"/>
          <p:cNvSpPr/>
          <p:nvPr/>
        </p:nvSpPr>
        <p:spPr>
          <a:xfrm>
            <a:off x="1188720" y="4983480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關鍵順序：先分析文件，再建立索引與問答介面。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概念橋接 02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Codex、MarkItDown 與 Ollama：各自在正確階段幫忙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VOCABULARY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05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86384" y="1572768"/>
            <a:ext cx="2834640" cy="3108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115568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</a:t>
            </a:r>
            <a:endParaRPr lang="en-US" sz="2700" dirty="0"/>
          </a:p>
        </p:txBody>
      </p:sp>
      <p:sp>
        <p:nvSpPr>
          <p:cNvPr id="65" name="Text 62"/>
          <p:cNvSpPr/>
          <p:nvPr/>
        </p:nvSpPr>
        <p:spPr>
          <a:xfrm>
            <a:off x="1115568" y="263347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依提示詞協助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建立資料流程與介面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4736592" y="2304288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3679B9"/>
          </a:solidFill>
          <a:ln w="12700">
            <a:solidFill>
              <a:srgbClr val="3679B9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828032" y="2542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MarkItDown MCP</a:t>
            </a:r>
            <a:endParaRPr lang="en-US" sz="2100" dirty="0"/>
          </a:p>
        </p:txBody>
      </p:sp>
      <p:sp>
        <p:nvSpPr>
          <p:cNvPr id="68" name="Text 65"/>
          <p:cNvSpPr/>
          <p:nvPr/>
        </p:nvSpPr>
        <p:spPr>
          <a:xfrm>
            <a:off x="5074920" y="30358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解析已下載文件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8366760" y="1572768"/>
            <a:ext cx="2880360" cy="31089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22792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MarkItDown</a:t>
            </a:r>
            <a:endParaRPr lang="en-US" sz="2400" dirty="0"/>
          </a:p>
        </p:txBody>
      </p:sp>
      <p:sp>
        <p:nvSpPr>
          <p:cNvPr id="71" name="Text 68"/>
          <p:cNvSpPr/>
          <p:nvPr/>
        </p:nvSpPr>
        <p:spPr>
          <a:xfrm>
            <a:off x="8622792" y="26334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HTML / PDF / DOCX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 Markdown</a:t>
            </a:r>
            <a:endParaRPr lang="en-US" sz="1600" dirty="0"/>
          </a:p>
        </p:txBody>
      </p:sp>
      <p:sp>
        <p:nvSpPr>
          <p:cNvPr id="72" name="Text 69"/>
          <p:cNvSpPr/>
          <p:nvPr/>
        </p:nvSpPr>
        <p:spPr>
          <a:xfrm>
            <a:off x="3767328" y="2697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↔</a:t>
            </a:r>
            <a:endParaRPr lang="en-US" sz="3200" dirty="0"/>
          </a:p>
        </p:txBody>
      </p:sp>
      <p:sp>
        <p:nvSpPr>
          <p:cNvPr id="73" name="Text 70"/>
          <p:cNvSpPr/>
          <p:nvPr/>
        </p:nvSpPr>
        <p:spPr>
          <a:xfrm>
            <a:off x="7498080" y="26974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↔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不是先做聊天畫面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資料完成前，必須看見的七個產物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VOCABULARY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06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76072" y="1417320"/>
            <a:ext cx="91440" cy="141732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32104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scope</a:t>
            </a:r>
            <a:endParaRPr lang="en-US" sz="1700" dirty="0"/>
          </a:p>
        </p:txBody>
      </p:sp>
      <p:sp>
        <p:nvSpPr>
          <p:cNvPr id="66" name="Text 63"/>
          <p:cNvSpPr/>
          <p:nvPr/>
        </p:nvSpPr>
        <p:spPr>
          <a:xfrm>
            <a:off x="832104" y="21122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四份指定來源與規則</a:t>
            </a:r>
            <a:endParaRPr lang="en-US" sz="1250" dirty="0"/>
          </a:p>
        </p:txBody>
      </p:sp>
      <p:sp>
        <p:nvSpPr>
          <p:cNvPr id="67" name="Shape 64"/>
          <p:cNvSpPr/>
          <p:nvPr/>
        </p:nvSpPr>
        <p:spPr>
          <a:xfrm>
            <a:off x="3456432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456432" y="1417320"/>
            <a:ext cx="91440" cy="141732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712464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</a:t>
            </a:r>
            <a:endParaRPr lang="en-US" sz="1700" dirty="0"/>
          </a:p>
        </p:txBody>
      </p:sp>
      <p:sp>
        <p:nvSpPr>
          <p:cNvPr id="70" name="Text 67"/>
          <p:cNvSpPr/>
          <p:nvPr/>
        </p:nvSpPr>
        <p:spPr>
          <a:xfrm>
            <a:off x="3712464" y="21122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保留不改的原始檔</a:t>
            </a:r>
            <a:endParaRPr lang="en-US" sz="1250" dirty="0"/>
          </a:p>
        </p:txBody>
      </p:sp>
      <p:sp>
        <p:nvSpPr>
          <p:cNvPr id="71" name="Shape 68"/>
          <p:cNvSpPr/>
          <p:nvPr/>
        </p:nvSpPr>
        <p:spPr>
          <a:xfrm>
            <a:off x="6336792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336792" y="1417320"/>
            <a:ext cx="91440" cy="141732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592824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Markdown</a:t>
            </a:r>
            <a:endParaRPr lang="en-US" sz="1700" dirty="0"/>
          </a:p>
        </p:txBody>
      </p:sp>
      <p:sp>
        <p:nvSpPr>
          <p:cNvPr id="74" name="Text 71"/>
          <p:cNvSpPr/>
          <p:nvPr/>
        </p:nvSpPr>
        <p:spPr>
          <a:xfrm>
            <a:off x="6592824" y="21122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可閱讀、可搜尋的文字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9217152" y="141732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217152" y="1417320"/>
            <a:ext cx="91440" cy="1417320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473184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quality</a:t>
            </a:r>
            <a:endParaRPr lang="en-US" sz="1700" dirty="0"/>
          </a:p>
        </p:txBody>
      </p:sp>
      <p:sp>
        <p:nvSpPr>
          <p:cNvPr id="78" name="Text 75"/>
          <p:cNvSpPr/>
          <p:nvPr/>
        </p:nvSpPr>
        <p:spPr>
          <a:xfrm>
            <a:off x="9473184" y="211226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可否進入分析與索引</a:t>
            </a:r>
            <a:endParaRPr lang="en-US" sz="1250" dirty="0"/>
          </a:p>
        </p:txBody>
      </p:sp>
      <p:sp>
        <p:nvSpPr>
          <p:cNvPr id="79" name="Shape 76"/>
          <p:cNvSpPr/>
          <p:nvPr/>
        </p:nvSpPr>
        <p:spPr>
          <a:xfrm>
            <a:off x="576072" y="3383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76072" y="3383280"/>
            <a:ext cx="91440" cy="141732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32104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chunk</a:t>
            </a:r>
            <a:endParaRPr lang="en-US" sz="1700" dirty="0"/>
          </a:p>
        </p:txBody>
      </p:sp>
      <p:sp>
        <p:nvSpPr>
          <p:cNvPr id="82" name="Text 79"/>
          <p:cNvSpPr/>
          <p:nvPr/>
        </p:nvSpPr>
        <p:spPr>
          <a:xfrm>
            <a:off x="832104" y="407822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可檢索、可引用的段落</a:t>
            </a:r>
            <a:endParaRPr lang="en-US" sz="1250" dirty="0"/>
          </a:p>
        </p:txBody>
      </p:sp>
      <p:sp>
        <p:nvSpPr>
          <p:cNvPr id="83" name="Shape 80"/>
          <p:cNvSpPr/>
          <p:nvPr/>
        </p:nvSpPr>
        <p:spPr>
          <a:xfrm>
            <a:off x="3456432" y="3383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456432" y="3383280"/>
            <a:ext cx="91440" cy="141732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712464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vector index</a:t>
            </a:r>
            <a:endParaRPr lang="en-US" sz="1700" dirty="0"/>
          </a:p>
        </p:txBody>
      </p:sp>
      <p:sp>
        <p:nvSpPr>
          <p:cNvPr id="86" name="Text 83"/>
          <p:cNvSpPr/>
          <p:nvPr/>
        </p:nvSpPr>
        <p:spPr>
          <a:xfrm>
            <a:off x="3712464" y="407822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向量索引給 RAG 使用</a:t>
            </a:r>
            <a:endParaRPr lang="en-US" sz="1250" dirty="0"/>
          </a:p>
        </p:txBody>
      </p:sp>
      <p:sp>
        <p:nvSpPr>
          <p:cNvPr id="87" name="Shape 84"/>
          <p:cNvSpPr/>
          <p:nvPr/>
        </p:nvSpPr>
        <p:spPr>
          <a:xfrm>
            <a:off x="6336792" y="3383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336792" y="3383280"/>
            <a:ext cx="91440" cy="141732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6592824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JSONL</a:t>
            </a:r>
            <a:endParaRPr lang="en-US" sz="1700" dirty="0"/>
          </a:p>
        </p:txBody>
      </p:sp>
      <p:sp>
        <p:nvSpPr>
          <p:cNvPr id="90" name="Text 87"/>
          <p:cNvSpPr/>
          <p:nvPr/>
        </p:nvSpPr>
        <p:spPr>
          <a:xfrm>
            <a:off x="6592824" y="4078224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來源與問答的本機紀錄</a:t>
            </a:r>
            <a:endParaRPr lang="en-US" sz="1250" dirty="0"/>
          </a:p>
        </p:txBody>
      </p:sp>
      <p:sp>
        <p:nvSpPr>
          <p:cNvPr id="91" name="Text 88"/>
          <p:cNvSpPr/>
          <p:nvPr/>
        </p:nvSpPr>
        <p:spPr>
          <a:xfrm>
            <a:off x="749808" y="5468112"/>
            <a:ext cx="10744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以上產物完成後，才開始用 Codex 建立 Streamlit 問答助手。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 1 · 環境與來源確認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01｜讀取講師提供的四份原始文件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SCOPE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58368" y="14173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58368" y="1417320"/>
            <a:ext cx="91440" cy="36118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14400" y="16459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四份固定資料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914400" y="2112264"/>
            <a:ext cx="48737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 技職所碩士班修業流程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 115 研究生手冊（DOCX）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 語言中心英文畢業門檻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 115-1 校務行事曆（PDF）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537960" y="1417320"/>
            <a:ext cx="4919472" cy="3611880"/>
          </a:xfrm>
          <a:prstGeom prst="roundRect">
            <a:avLst>
              <a:gd name="adj" fmla="val 2025"/>
            </a:avLst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876288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679B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starter 已備妥</a:t>
            </a:r>
            <a:endParaRPr lang="en-US" sz="2000" dirty="0"/>
          </a:p>
        </p:txBody>
      </p:sp>
      <p:sp>
        <p:nvSpPr>
          <p:cNvPr id="69" name="Text 66"/>
          <p:cNvSpPr/>
          <p:nvPr/>
        </p:nvSpPr>
        <p:spPr>
          <a:xfrm>
            <a:off x="6931152" y="21945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data/raw/      原始文件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data/manifests/ 來源紀錄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data/markdown/  轉換結果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analysis/       分析表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data/processed/ 索引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rag/  feedback/  介面與歷程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 2 · MARKITDOWN 轉換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02｜轉換四份原始文件並做品質檢查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PARSE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08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22960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640080" y="26791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讀取 manifest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530352" y="2935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確認四份來源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與原始檔</a:t>
            </a:r>
            <a:endParaRPr lang="en-US" sz="880" dirty="0"/>
          </a:p>
        </p:txBody>
      </p:sp>
      <p:sp>
        <p:nvSpPr>
          <p:cNvPr id="67" name="Shape 64"/>
          <p:cNvSpPr/>
          <p:nvPr/>
        </p:nvSpPr>
        <p:spPr>
          <a:xfrm>
            <a:off x="3611880" y="1874520"/>
            <a:ext cx="658368" cy="658368"/>
          </a:xfrm>
          <a:prstGeom prst="ellipse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11880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3429000" y="26791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保留原始檔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3319272" y="2935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HTML／DOCX／PDF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不覆寫</a:t>
            </a:r>
            <a:endParaRPr lang="en-US" sz="880" dirty="0"/>
          </a:p>
        </p:txBody>
      </p:sp>
      <p:sp>
        <p:nvSpPr>
          <p:cNvPr id="71" name="Shape 68"/>
          <p:cNvSpPr/>
          <p:nvPr/>
        </p:nvSpPr>
        <p:spPr>
          <a:xfrm>
            <a:off x="6400800" y="1874520"/>
            <a:ext cx="658368" cy="658368"/>
          </a:xfrm>
          <a:prstGeom prst="ellipse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400800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6217920" y="26791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解析文字</a:t>
            </a:r>
            <a:endParaRPr lang="en-US" sz="1200" dirty="0"/>
          </a:p>
        </p:txBody>
      </p:sp>
      <p:sp>
        <p:nvSpPr>
          <p:cNvPr id="74" name="Text 71"/>
          <p:cNvSpPr/>
          <p:nvPr/>
        </p:nvSpPr>
        <p:spPr>
          <a:xfrm>
            <a:off x="6108192" y="2935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MarkItDown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轉為 Markdown</a:t>
            </a:r>
            <a:endParaRPr lang="en-US" sz="880" dirty="0"/>
          </a:p>
        </p:txBody>
      </p:sp>
      <p:sp>
        <p:nvSpPr>
          <p:cNvPr id="75" name="Shape 72"/>
          <p:cNvSpPr/>
          <p:nvPr/>
        </p:nvSpPr>
        <p:spPr>
          <a:xfrm>
            <a:off x="9189720" y="1874520"/>
            <a:ext cx="658368" cy="658368"/>
          </a:xfrm>
          <a:prstGeom prst="ellipse">
            <a:avLst/>
          </a:prstGeom>
          <a:solidFill>
            <a:srgbClr val="153E6E"/>
          </a:solidFill>
          <a:ln w="12700">
            <a:solidFill>
              <a:srgbClr val="153E6E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189720" y="20391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4"/>
          <p:cNvSpPr/>
          <p:nvPr/>
        </p:nvSpPr>
        <p:spPr>
          <a:xfrm>
            <a:off x="9006840" y="26791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品質結果</a:t>
            </a:r>
            <a:endParaRPr lang="en-US" sz="1200" dirty="0"/>
          </a:p>
        </p:txBody>
      </p:sp>
      <p:sp>
        <p:nvSpPr>
          <p:cNvPr id="78" name="Text 75"/>
          <p:cNvSpPr/>
          <p:nvPr/>
        </p:nvSpPr>
        <p:spPr>
          <a:xfrm>
            <a:off x="8897112" y="293522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可分析或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人工查看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 3 · 原文與 AI 解讀分開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03｜先做校務文件分析表，再建立搜尋索引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31520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31520" y="1417320"/>
            <a:ext cx="91440" cy="342900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文件明確寫了什麼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987552" y="2112264"/>
            <a:ext cx="27706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保留可回查的原文、年度、對象與來源段落。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不把推論寫成規定。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4462272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462272" y="1417320"/>
            <a:ext cx="91440" cy="342900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718304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摘要或分類</a:t>
            </a:r>
            <a:endParaRPr lang="en-US" sz="1800" dirty="0"/>
          </a:p>
        </p:txBody>
      </p:sp>
      <p:sp>
        <p:nvSpPr>
          <p:cNvPr id="70" name="Text 67"/>
          <p:cNvSpPr/>
          <p:nvPr/>
        </p:nvSpPr>
        <p:spPr>
          <a:xfrm>
            <a:off x="4718304" y="2112264"/>
            <a:ext cx="27706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協助整理學生行動、主題與重點。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明確標示這是 AI 解讀。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193024" y="1417320"/>
            <a:ext cx="3246120" cy="34290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193024" y="1417320"/>
            <a:ext cx="91440" cy="342900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449056" y="164592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不確定處與索引</a:t>
            </a:r>
            <a:endParaRPr lang="en-US" sz="1800" dirty="0"/>
          </a:p>
        </p:txBody>
      </p:sp>
      <p:sp>
        <p:nvSpPr>
          <p:cNvPr id="74" name="Text 71"/>
          <p:cNvSpPr/>
          <p:nvPr/>
        </p:nvSpPr>
        <p:spPr>
          <a:xfrm>
            <a:off x="8449056" y="2112264"/>
            <a:ext cx="277063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條件不足就標示不確定；只有可用文字才切成 chunks。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1097280" y="5349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分析表是主要成果；索引與問答助手用來驗證它。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建立索引前的門檻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品質檢查：只有可用文字才能進入索引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PARSE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58952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3679B9"/>
          </a:solidFill>
          <a:ln w="12700">
            <a:solidFill>
              <a:srgbClr val="3679B9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87552" y="20848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ready_for_analysis</a:t>
            </a:r>
            <a:endParaRPr lang="en-US" sz="1900" dirty="0"/>
          </a:p>
        </p:txBody>
      </p:sp>
      <p:sp>
        <p:nvSpPr>
          <p:cNvPr id="65" name="Text 62"/>
          <p:cNvSpPr/>
          <p:nvPr/>
        </p:nvSpPr>
        <p:spPr>
          <a:xfrm>
            <a:off x="1124712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標題、段落與表格可讀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可以進入 chunks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1124712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可進 RAG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4562856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E58A4A"/>
          </a:solidFill>
          <a:ln w="12700">
            <a:solidFill>
              <a:srgbClr val="E58A4A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791456" y="20848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needs_review</a:t>
            </a:r>
            <a:endParaRPr lang="en-US" sz="1900" dirty="0"/>
          </a:p>
        </p:txBody>
      </p:sp>
      <p:sp>
        <p:nvSpPr>
          <p:cNvPr id="69" name="Text 66"/>
          <p:cNvSpPr/>
          <p:nvPr/>
        </p:nvSpPr>
        <p:spPr>
          <a:xfrm>
            <a:off x="4928616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掃描、表格或結構有缺失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先人工檢視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4928616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暫停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366760" y="1572768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49657A"/>
          </a:solidFill>
          <a:ln w="12700">
            <a:solidFill>
              <a:srgbClr val="49657A">
                <a:alpha val="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595360" y="208483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excluded</a:t>
            </a:r>
            <a:endParaRPr lang="en-US" sz="1900" dirty="0"/>
          </a:p>
        </p:txBody>
      </p:sp>
      <p:sp>
        <p:nvSpPr>
          <p:cNvPr id="73" name="Text 70"/>
          <p:cNvSpPr/>
          <p:nvPr/>
        </p:nvSpPr>
        <p:spPr>
          <a:xfrm>
            <a:off x="8732520" y="2852928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受限、白名單外或無法確認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不進後續流程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8732520" y="3913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✕ 暫停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 4 · 資料處理與索引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04｜切成 chunks，建立自己的向量索引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77240" y="1444752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972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一份長文件</a:t>
            </a:r>
            <a:endParaRPr lang="en-US" sz="2000" dirty="0"/>
          </a:p>
        </p:txBody>
      </p:sp>
      <p:sp>
        <p:nvSpPr>
          <p:cNvPr id="65" name="Shape 62"/>
          <p:cNvSpPr/>
          <p:nvPr/>
        </p:nvSpPr>
        <p:spPr>
          <a:xfrm>
            <a:off x="1115568" y="2359152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115568" y="3017520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E8F1F8"/>
          </a:solidFill>
          <a:ln w="12700">
            <a:solidFill>
              <a:srgbClr val="E8F1F8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15568" y="3675888"/>
            <a:ext cx="2048256" cy="420624"/>
          </a:xfrm>
          <a:prstGeom prst="roundRect">
            <a:avLst>
              <a:gd name="adj" fmla="val 17391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243584" y="246888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第一章：修業規定</a:t>
            </a:r>
            <a:endParaRPr lang="en-US" sz="1150" dirty="0"/>
          </a:p>
        </p:txBody>
      </p:sp>
      <p:sp>
        <p:nvSpPr>
          <p:cNvPr id="69" name="Text 66"/>
          <p:cNvSpPr/>
          <p:nvPr/>
        </p:nvSpPr>
        <p:spPr>
          <a:xfrm>
            <a:off x="1243584" y="31272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第二章：英文門檻</a:t>
            </a:r>
            <a:endParaRPr lang="en-US" sz="1150" dirty="0"/>
          </a:p>
        </p:txBody>
      </p:sp>
      <p:sp>
        <p:nvSpPr>
          <p:cNvPr id="70" name="Text 67"/>
          <p:cNvSpPr/>
          <p:nvPr/>
        </p:nvSpPr>
        <p:spPr>
          <a:xfrm>
            <a:off x="1243584" y="37856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第三章：行事曆</a:t>
            </a:r>
            <a:endParaRPr lang="en-US" sz="1150" dirty="0"/>
          </a:p>
        </p:txBody>
      </p:sp>
      <p:sp>
        <p:nvSpPr>
          <p:cNvPr id="71" name="Text 68"/>
          <p:cNvSpPr/>
          <p:nvPr/>
        </p:nvSpPr>
        <p:spPr>
          <a:xfrm>
            <a:off x="3703320" y="2834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800" dirty="0"/>
          </a:p>
        </p:txBody>
      </p:sp>
      <p:sp>
        <p:nvSpPr>
          <p:cNvPr id="72" name="Shape 69"/>
          <p:cNvSpPr/>
          <p:nvPr/>
        </p:nvSpPr>
        <p:spPr>
          <a:xfrm>
            <a:off x="4498848" y="1508760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498848" y="1508760"/>
            <a:ext cx="91440" cy="129844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754880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chunk-001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4754880" y="2203704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段落＋來源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可建立向量索引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7900416" y="1508760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900416" y="1508760"/>
            <a:ext cx="91440" cy="1298448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156448" y="1737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chunk-002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8156448" y="2203704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段落＋來源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可建立向量索引</a:t>
            </a:r>
            <a:endParaRPr lang="en-US" sz="1250" dirty="0"/>
          </a:p>
        </p:txBody>
      </p:sp>
      <p:sp>
        <p:nvSpPr>
          <p:cNvPr id="80" name="Shape 77"/>
          <p:cNvSpPr/>
          <p:nvPr/>
        </p:nvSpPr>
        <p:spPr>
          <a:xfrm>
            <a:off x="4498848" y="3355848"/>
            <a:ext cx="2971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498848" y="3355848"/>
            <a:ext cx="91440" cy="1298448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754880" y="3584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chunk-003</a:t>
            </a:r>
            <a:endParaRPr lang="en-US" sz="1600" dirty="0"/>
          </a:p>
        </p:txBody>
      </p:sp>
      <p:sp>
        <p:nvSpPr>
          <p:cNvPr id="83" name="Text 80"/>
          <p:cNvSpPr/>
          <p:nvPr/>
        </p:nvSpPr>
        <p:spPr>
          <a:xfrm>
            <a:off x="4754880" y="4050792"/>
            <a:ext cx="24963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段落＋來源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可建立向量索引</a:t>
            </a:r>
            <a:endParaRPr lang="en-US" sz="1250" dirty="0"/>
          </a:p>
        </p:txBody>
      </p:sp>
      <p:sp>
        <p:nvSpPr>
          <p:cNvPr id="84" name="Text 81"/>
          <p:cNvSpPr/>
          <p:nvPr/>
        </p:nvSpPr>
        <p:spPr>
          <a:xfrm>
            <a:off x="1261872" y="534924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只讓 ready_for_analysis 的 chunks 進入 vector_index.jsonl。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建立 STREAMLIT 前的最後確認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索引完成檢查：RAG 只能讀自己的資料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ANALYZE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03504" y="1600200"/>
            <a:ext cx="1143000" cy="54864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76656" y="177393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chunk_id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1746504" y="1600200"/>
            <a:ext cx="2057400" cy="54864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819656" y="1773936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document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3803904" y="1600200"/>
            <a:ext cx="1417320" cy="54864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877056" y="177393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source_url</a:t>
            </a:r>
            <a:endParaRPr lang="en-US" sz="1050" dirty="0"/>
          </a:p>
        </p:txBody>
      </p:sp>
      <p:sp>
        <p:nvSpPr>
          <p:cNvPr id="69" name="Shape 66"/>
          <p:cNvSpPr/>
          <p:nvPr/>
        </p:nvSpPr>
        <p:spPr>
          <a:xfrm>
            <a:off x="5221224" y="1600200"/>
            <a:ext cx="3063240" cy="54864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294376" y="1773936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section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8284464" y="1600200"/>
            <a:ext cx="3063240" cy="54864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357616" y="1773936"/>
            <a:ext cx="2916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crawled_at</a:t>
            </a:r>
            <a:endParaRPr lang="en-US" sz="1050" dirty="0"/>
          </a:p>
        </p:txBody>
      </p:sp>
      <p:sp>
        <p:nvSpPr>
          <p:cNvPr id="73" name="Shape 70"/>
          <p:cNvSpPr/>
          <p:nvPr/>
        </p:nvSpPr>
        <p:spPr>
          <a:xfrm>
            <a:off x="603504" y="2157984"/>
            <a:ext cx="11430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85800" y="2304288"/>
            <a:ext cx="978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master-115-001</a:t>
            </a:r>
            <a:endParaRPr lang="en-US" sz="1150" dirty="0"/>
          </a:p>
        </p:txBody>
      </p:sp>
      <p:sp>
        <p:nvSpPr>
          <p:cNvPr id="75" name="Shape 72"/>
          <p:cNvSpPr/>
          <p:nvPr/>
        </p:nvSpPr>
        <p:spPr>
          <a:xfrm>
            <a:off x="1746504" y="2157984"/>
            <a:ext cx="20574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828800" y="2304288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 研究生手冊</a:t>
            </a:r>
            <a:endParaRPr lang="en-US" sz="1150" dirty="0"/>
          </a:p>
        </p:txBody>
      </p:sp>
      <p:sp>
        <p:nvSpPr>
          <p:cNvPr id="77" name="Shape 74"/>
          <p:cNvSpPr/>
          <p:nvPr/>
        </p:nvSpPr>
        <p:spPr>
          <a:xfrm>
            <a:off x="3803904" y="2157984"/>
            <a:ext cx="1417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886200" y="230428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tve.yuntech.edu.tw</a:t>
            </a:r>
            <a:endParaRPr lang="en-US" sz="1150" dirty="0"/>
          </a:p>
        </p:txBody>
      </p:sp>
      <p:sp>
        <p:nvSpPr>
          <p:cNvPr id="79" name="Shape 76"/>
          <p:cNvSpPr/>
          <p:nvPr/>
        </p:nvSpPr>
        <p:spPr>
          <a:xfrm>
            <a:off x="5221224" y="2157984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303520" y="2304288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修業規定</a:t>
            </a:r>
            <a:endParaRPr lang="en-US" sz="1050" dirty="0"/>
          </a:p>
        </p:txBody>
      </p:sp>
      <p:sp>
        <p:nvSpPr>
          <p:cNvPr id="81" name="Shape 78"/>
          <p:cNvSpPr/>
          <p:nvPr/>
        </p:nvSpPr>
        <p:spPr>
          <a:xfrm>
            <a:off x="8284464" y="2157984"/>
            <a:ext cx="3063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8366760" y="2304288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2026-08-01</a:t>
            </a:r>
            <a:endParaRPr lang="en-US" sz="1050" dirty="0"/>
          </a:p>
        </p:txBody>
      </p:sp>
      <p:sp>
        <p:nvSpPr>
          <p:cNvPr id="83" name="Shape 80"/>
          <p:cNvSpPr/>
          <p:nvPr/>
        </p:nvSpPr>
        <p:spPr>
          <a:xfrm>
            <a:off x="603504" y="3200400"/>
            <a:ext cx="1143000" cy="1024128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85800" y="3346704"/>
            <a:ext cx="978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calendar-115-1</a:t>
            </a:r>
            <a:endParaRPr lang="en-US" sz="1150" dirty="0"/>
          </a:p>
        </p:txBody>
      </p:sp>
      <p:sp>
        <p:nvSpPr>
          <p:cNvPr id="85" name="Shape 82"/>
          <p:cNvSpPr/>
          <p:nvPr/>
        </p:nvSpPr>
        <p:spPr>
          <a:xfrm>
            <a:off x="1746504" y="3200400"/>
            <a:ext cx="2057400" cy="1024128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828800" y="3346704"/>
            <a:ext cx="1892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115-1 行事曆</a:t>
            </a:r>
            <a:endParaRPr lang="en-US" sz="1150" dirty="0"/>
          </a:p>
        </p:txBody>
      </p:sp>
      <p:sp>
        <p:nvSpPr>
          <p:cNvPr id="87" name="Shape 84"/>
          <p:cNvSpPr/>
          <p:nvPr/>
        </p:nvSpPr>
        <p:spPr>
          <a:xfrm>
            <a:off x="3803904" y="3200400"/>
            <a:ext cx="1417320" cy="1024128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3886200" y="3346704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aax.yuntech.edu.tw</a:t>
            </a:r>
            <a:endParaRPr lang="en-US" sz="1150" dirty="0"/>
          </a:p>
        </p:txBody>
      </p:sp>
      <p:sp>
        <p:nvSpPr>
          <p:cNvPr id="89" name="Shape 86"/>
          <p:cNvSpPr/>
          <p:nvPr/>
        </p:nvSpPr>
        <p:spPr>
          <a:xfrm>
            <a:off x="5221224" y="3200400"/>
            <a:ext cx="3063240" cy="1024128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5303520" y="3346704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加退選</a:t>
            </a:r>
            <a:endParaRPr lang="en-US" sz="1050" dirty="0"/>
          </a:p>
        </p:txBody>
      </p:sp>
      <p:sp>
        <p:nvSpPr>
          <p:cNvPr id="91" name="Shape 88"/>
          <p:cNvSpPr/>
          <p:nvPr/>
        </p:nvSpPr>
        <p:spPr>
          <a:xfrm>
            <a:off x="8284464" y="3200400"/>
            <a:ext cx="3063240" cy="1024128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366760" y="3346704"/>
            <a:ext cx="28986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2026-08-01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操作 5 · 一段提示詞完成介面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05｜用 Codex 建立 Streamlit RAG 問答助手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8580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85800" y="1828800"/>
            <a:ext cx="91440" cy="201168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4183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先建介面</a:t>
            </a:r>
            <a:endParaRPr lang="en-US" sz="1700" dirty="0"/>
          </a:p>
        </p:txBody>
      </p:sp>
      <p:sp>
        <p:nvSpPr>
          <p:cNvPr id="66" name="Text 63"/>
          <p:cNvSpPr/>
          <p:nvPr/>
        </p:nvSpPr>
        <p:spPr>
          <a:xfrm>
            <a:off x="94183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Codex 從空白建立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rag/app.py</a:t>
            </a:r>
            <a:endParaRPr lang="en-US" sz="1350" dirty="0"/>
          </a:p>
        </p:txBody>
      </p:sp>
      <p:sp>
        <p:nvSpPr>
          <p:cNvPr id="67" name="Text 64"/>
          <p:cNvSpPr/>
          <p:nvPr/>
        </p:nvSpPr>
        <p:spPr>
          <a:xfrm>
            <a:off x="308152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68" name="Shape 65"/>
          <p:cNvSpPr/>
          <p:nvPr/>
        </p:nvSpPr>
        <p:spPr>
          <a:xfrm>
            <a:off x="352044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520440" y="1828800"/>
            <a:ext cx="91440" cy="20116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77647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接上我的索引</a:t>
            </a:r>
            <a:endParaRPr lang="en-US" sz="1700" dirty="0"/>
          </a:p>
        </p:txBody>
      </p:sp>
      <p:sp>
        <p:nvSpPr>
          <p:cNvPr id="71" name="Text 68"/>
          <p:cNvSpPr/>
          <p:nvPr/>
        </p:nvSpPr>
        <p:spPr>
          <a:xfrm>
            <a:off x="377647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vector_index.jsonl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最多三筆</a:t>
            </a:r>
            <a:endParaRPr lang="en-US" sz="1350" dirty="0"/>
          </a:p>
        </p:txBody>
      </p:sp>
      <p:sp>
        <p:nvSpPr>
          <p:cNvPr id="72" name="Text 69"/>
          <p:cNvSpPr/>
          <p:nvPr/>
        </p:nvSpPr>
        <p:spPr>
          <a:xfrm>
            <a:off x="591616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73" name="Shape 70"/>
          <p:cNvSpPr/>
          <p:nvPr/>
        </p:nvSpPr>
        <p:spPr>
          <a:xfrm>
            <a:off x="635508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355080" y="1828800"/>
            <a:ext cx="91440" cy="2011680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61111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本機模型</a:t>
            </a:r>
            <a:endParaRPr lang="en-US" sz="1700" dirty="0"/>
          </a:p>
        </p:txBody>
      </p:sp>
      <p:sp>
        <p:nvSpPr>
          <p:cNvPr id="76" name="Text 73"/>
          <p:cNvSpPr/>
          <p:nvPr/>
        </p:nvSpPr>
        <p:spPr>
          <a:xfrm>
            <a:off x="661111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Ollama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qwen2.5:3b</a:t>
            </a:r>
            <a:endParaRPr lang="en-US" sz="1350" dirty="0"/>
          </a:p>
        </p:txBody>
      </p:sp>
      <p:sp>
        <p:nvSpPr>
          <p:cNvPr id="77" name="Text 74"/>
          <p:cNvSpPr/>
          <p:nvPr/>
        </p:nvSpPr>
        <p:spPr>
          <a:xfrm>
            <a:off x="8750808" y="262432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78" name="Shape 75"/>
          <p:cNvSpPr/>
          <p:nvPr/>
        </p:nvSpPr>
        <p:spPr>
          <a:xfrm>
            <a:off x="9189720" y="182880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189720" y="1828800"/>
            <a:ext cx="91440" cy="20116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445752" y="20574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回答＋引用</a:t>
            </a:r>
            <a:endParaRPr lang="en-US" sz="1700" dirty="0"/>
          </a:p>
        </p:txBody>
      </p:sp>
      <p:sp>
        <p:nvSpPr>
          <p:cNvPr id="81" name="Text 78"/>
          <p:cNvSpPr/>
          <p:nvPr/>
        </p:nvSpPr>
        <p:spPr>
          <a:xfrm>
            <a:off x="9445752" y="2523744"/>
            <a:ext cx="18562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答案、URL、年度、時間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學生建立的 STREAMLIT 問答頁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 RAG：從底部輸入問題，顯示答案與引用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960120" y="1389888"/>
            <a:ext cx="101955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417320" y="1847088"/>
            <a:ext cx="4937760" cy="694944"/>
          </a:xfrm>
          <a:prstGeom prst="roundRect">
            <a:avLst>
              <a:gd name="adj" fmla="val 10526"/>
            </a:avLst>
          </a:prstGeom>
          <a:solidFill>
            <a:srgbClr val="E8F1F8"/>
          </a:solidFill>
          <a:ln w="12700">
            <a:solidFill>
              <a:srgbClr val="E8F1F8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691640" y="2057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 學年度碩士班畢業至少需要幾學分？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5074920" y="2862072"/>
            <a:ext cx="5440680" cy="987552"/>
          </a:xfrm>
          <a:prstGeom prst="roundRect">
            <a:avLst>
              <a:gd name="adj" fmla="val 7407"/>
            </a:avLst>
          </a:prstGeom>
          <a:solidFill>
            <a:srgbClr val="E0F1EC"/>
          </a:solidFill>
          <a:ln w="12700">
            <a:solidFill>
              <a:srgbClr val="E0F1EC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76672" y="3136392"/>
            <a:ext cx="4800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至少 39 學分</a:t>
            </a:r>
            <a:endParaRPr lang="en-US" sz="1900" dirty="0"/>
          </a:p>
        </p:txBody>
      </p:sp>
      <p:sp>
        <p:nvSpPr>
          <p:cNvPr id="68" name="Text 65"/>
          <p:cNvSpPr/>
          <p:nvPr/>
        </p:nvSpPr>
        <p:spPr>
          <a:xfrm>
            <a:off x="5376672" y="34930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679B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狀態：supported</a:t>
            </a:r>
            <a:endParaRPr lang="en-US" sz="1150" dirty="0"/>
          </a:p>
        </p:txBody>
      </p:sp>
      <p:sp>
        <p:nvSpPr>
          <p:cNvPr id="69" name="Shape 66"/>
          <p:cNvSpPr/>
          <p:nvPr/>
        </p:nvSpPr>
        <p:spPr>
          <a:xfrm>
            <a:off x="1874520" y="4389120"/>
            <a:ext cx="8366760" cy="73152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12700">
            <a:solidFill>
              <a:srgbClr val="F4F8FB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874520" y="4389120"/>
            <a:ext cx="91440" cy="73152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130552" y="4498848"/>
            <a:ext cx="184068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引用與檢索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3971239" y="4498848"/>
            <a:ext cx="60505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 研究生手冊｜五、修課規定｜115 學年度｜蒐集：2026-07-29｜相似度：0.87</a:t>
            </a:r>
            <a:endParaRPr lang="en-US" sz="1300" dirty="0"/>
          </a:p>
        </p:txBody>
      </p:sp>
      <p:sp>
        <p:nvSpPr>
          <p:cNvPr id="73" name="Text 70"/>
          <p:cNvSpPr/>
          <p:nvPr/>
        </p:nvSpPr>
        <p:spPr>
          <a:xfrm>
            <a:off x="1828800" y="54864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期限、數字、單位名稱都必須可逐字回查。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四類自我測試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 測試：有證據回答，資料不足就停止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RAG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31520" y="1371600"/>
            <a:ext cx="51663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1078992" y="1783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 學年度第 2 學期何時開學？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078992" y="2395728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FDE7E1"/>
          </a:solidFill>
          <a:ln w="12700">
            <a:solidFill>
              <a:srgbClr val="FDE7E1">
                <a:alpha val="0"/>
              </a:srgbClr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371600" y="26974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目前語料沒有足夠證據回答此問題。</a:t>
            </a:r>
            <a:endParaRPr lang="en-US" sz="1650" dirty="0"/>
          </a:p>
        </p:txBody>
      </p:sp>
      <p:sp>
        <p:nvSpPr>
          <p:cNvPr id="67" name="Text 64"/>
          <p:cNvSpPr/>
          <p:nvPr/>
        </p:nvSpPr>
        <p:spPr>
          <a:xfrm>
            <a:off x="1307592" y="3182112"/>
            <a:ext cx="4041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狀態：insufficient_evidence</a:t>
            </a:r>
            <a:endParaRPr lang="en-US" sz="1150" dirty="0"/>
          </a:p>
        </p:txBody>
      </p:sp>
      <p:sp>
        <p:nvSpPr>
          <p:cNvPr id="68" name="Shape 65"/>
          <p:cNvSpPr/>
          <p:nvPr/>
        </p:nvSpPr>
        <p:spPr>
          <a:xfrm>
            <a:off x="6537960" y="1371600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37960" y="1371600"/>
            <a:ext cx="91440" cy="114300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793992" y="16002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800" dirty="0"/>
          </a:p>
        </p:txBody>
      </p:sp>
      <p:sp>
        <p:nvSpPr>
          <p:cNvPr id="71" name="Text 68"/>
          <p:cNvSpPr/>
          <p:nvPr/>
        </p:nvSpPr>
        <p:spPr>
          <a:xfrm>
            <a:off x="6793992" y="20665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修課與畢業學分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9025128" y="1371600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025128" y="1371600"/>
            <a:ext cx="91440" cy="114300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81160" y="16002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800" dirty="0"/>
          </a:p>
        </p:txBody>
      </p:sp>
      <p:sp>
        <p:nvSpPr>
          <p:cNvPr id="75" name="Text 72"/>
          <p:cNvSpPr/>
          <p:nvPr/>
        </p:nvSpPr>
        <p:spPr>
          <a:xfrm>
            <a:off x="9281160" y="2066544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英文門檻與年度</a:t>
            </a:r>
            <a:endParaRPr lang="en-US" sz="1250" dirty="0"/>
          </a:p>
        </p:txBody>
      </p:sp>
      <p:sp>
        <p:nvSpPr>
          <p:cNvPr id="76" name="Shape 73"/>
          <p:cNvSpPr/>
          <p:nvPr/>
        </p:nvSpPr>
        <p:spPr>
          <a:xfrm>
            <a:off x="6537960" y="2944368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537960" y="2944368"/>
            <a:ext cx="91440" cy="114300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793992" y="31729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800" dirty="0"/>
          </a:p>
        </p:txBody>
      </p:sp>
      <p:sp>
        <p:nvSpPr>
          <p:cNvPr id="79" name="Text 76"/>
          <p:cNvSpPr/>
          <p:nvPr/>
        </p:nvSpPr>
        <p:spPr>
          <a:xfrm>
            <a:off x="6793992" y="3639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流程或表單</a:t>
            </a:r>
            <a:endParaRPr lang="en-US" sz="1250" dirty="0"/>
          </a:p>
        </p:txBody>
      </p:sp>
      <p:sp>
        <p:nvSpPr>
          <p:cNvPr id="80" name="Shape 77"/>
          <p:cNvSpPr/>
          <p:nvPr/>
        </p:nvSpPr>
        <p:spPr>
          <a:xfrm>
            <a:off x="9025128" y="2944368"/>
            <a:ext cx="217627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025128" y="2944368"/>
            <a:ext cx="91440" cy="1143000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9281160" y="3172968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800" dirty="0"/>
          </a:p>
        </p:txBody>
      </p:sp>
      <p:sp>
        <p:nvSpPr>
          <p:cNvPr id="83" name="Text 80"/>
          <p:cNvSpPr/>
          <p:nvPr/>
        </p:nvSpPr>
        <p:spPr>
          <a:xfrm>
            <a:off x="9281160" y="363931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校務日期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學生自己本機的後台頁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問答紀錄：把同一串對話整理成主要主題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IMPROVE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77240" y="1389888"/>
            <a:ext cx="106527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14400" y="1773936"/>
            <a:ext cx="141732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192024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query_id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331720" y="1773936"/>
            <a:ext cx="30632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404872" y="1920240"/>
            <a:ext cx="2916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394960" y="1773936"/>
            <a:ext cx="19202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468112" y="1920240"/>
            <a:ext cx="1773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answer_status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315200" y="1773936"/>
            <a:ext cx="210312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388352" y="1920240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cited_chunk_ids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9418320" y="1773936"/>
            <a:ext cx="2148840" cy="475488"/>
          </a:xfrm>
          <a:prstGeom prst="rect">
            <a:avLst/>
          </a:prstGeom>
          <a:solidFill>
            <a:srgbClr val="153E6E"/>
          </a:solidFill>
          <a:ln w="12700">
            <a:solidFill>
              <a:srgbClr val="153E6E">
                <a:alpha val="0"/>
              </a:srgbClr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9491472" y="1920240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self_test_note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14400" y="2249424"/>
            <a:ext cx="141732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05840" y="2514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q-103</a:t>
            </a:r>
            <a:endParaRPr lang="en-US" sz="1200" dirty="0"/>
          </a:p>
        </p:txBody>
      </p:sp>
      <p:sp>
        <p:nvSpPr>
          <p:cNvPr id="76" name="Shape 73"/>
          <p:cNvSpPr/>
          <p:nvPr/>
        </p:nvSpPr>
        <p:spPr>
          <a:xfrm>
            <a:off x="2331720" y="2249424"/>
            <a:ext cx="30632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2423160" y="25146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115-1 加退選何時截止？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5394960" y="2249424"/>
            <a:ext cx="19202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486400" y="251460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80" name="Shape 77"/>
          <p:cNvSpPr/>
          <p:nvPr/>
        </p:nvSpPr>
        <p:spPr>
          <a:xfrm>
            <a:off x="7315200" y="2249424"/>
            <a:ext cx="210312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7406640" y="25146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calendar-115-1</a:t>
            </a:r>
            <a:endParaRPr lang="en-US" sz="1200" dirty="0"/>
          </a:p>
        </p:txBody>
      </p:sp>
      <p:sp>
        <p:nvSpPr>
          <p:cNvPr id="82" name="Shape 79"/>
          <p:cNvSpPr/>
          <p:nvPr/>
        </p:nvSpPr>
        <p:spPr>
          <a:xfrm>
            <a:off x="9418320" y="2249424"/>
            <a:ext cx="2148840" cy="859536"/>
          </a:xfrm>
          <a:prstGeom prst="rect">
            <a:avLst/>
          </a:prstGeom>
          <a:solidFill>
            <a:srgbClr val="F4F8FB"/>
          </a:solidFill>
          <a:ln w="12700">
            <a:solidFill>
              <a:srgbClr val="D7E3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509760" y="25146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確認年度與公告日期</a:t>
            </a:r>
            <a:endParaRPr lang="en-US" sz="1200" dirty="0"/>
          </a:p>
        </p:txBody>
      </p:sp>
      <p:sp>
        <p:nvSpPr>
          <p:cNvPr id="84" name="Text 81"/>
          <p:cNvSpPr/>
          <p:nvPr/>
        </p:nvSpPr>
        <p:spPr>
          <a:xfrm>
            <a:off x="1188720" y="37033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JSONL：每行一筆紀錄，方便追加、分類與分析。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不計分的自我檢查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從問答紀錄，找到下一步要改善什麼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IMPROVE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73152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731520" y="1828800"/>
            <a:ext cx="91440" cy="2240280"/>
          </a:xfrm>
          <a:prstGeom prst="rect">
            <a:avLst/>
          </a:prstGeom>
          <a:solidFill>
            <a:srgbClr val="E58A4A"/>
          </a:solidFill>
          <a:ln w="12700">
            <a:solidFill>
              <a:srgbClr val="E58A4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755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現象</a:t>
            </a:r>
            <a:endParaRPr lang="en-US" sz="1900" dirty="0"/>
          </a:p>
        </p:txBody>
      </p:sp>
      <p:sp>
        <p:nvSpPr>
          <p:cNvPr id="66" name="Text 63"/>
          <p:cNvSpPr/>
          <p:nvPr/>
        </p:nvSpPr>
        <p:spPr>
          <a:xfrm>
            <a:off x="98755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英文門檻問題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反覆無法回答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315468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68" name="Shape 65"/>
          <p:cNvSpPr/>
          <p:nvPr/>
        </p:nvSpPr>
        <p:spPr>
          <a:xfrm>
            <a:off x="356616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566160" y="1828800"/>
            <a:ext cx="91440" cy="2240280"/>
          </a:xfrm>
          <a:prstGeom prst="rect">
            <a:avLst/>
          </a:prstGeom>
          <a:solidFill>
            <a:srgbClr val="E8B849"/>
          </a:solidFill>
          <a:ln w="12700">
            <a:solidFill>
              <a:srgbClr val="E8B84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2219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證據</a:t>
            </a:r>
            <a:endParaRPr lang="en-US" sz="1900" dirty="0"/>
          </a:p>
        </p:txBody>
      </p:sp>
      <p:sp>
        <p:nvSpPr>
          <p:cNvPr id="71" name="Text 68"/>
          <p:cNvSpPr/>
          <p:nvPr/>
        </p:nvSpPr>
        <p:spPr>
          <a:xfrm>
            <a:off x="382219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query_id · 狀態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沒有引用</a:t>
            </a:r>
            <a:endParaRPr lang="en-US" sz="1500" dirty="0"/>
          </a:p>
        </p:txBody>
      </p:sp>
      <p:sp>
        <p:nvSpPr>
          <p:cNvPr id="72" name="Text 69"/>
          <p:cNvSpPr/>
          <p:nvPr/>
        </p:nvSpPr>
        <p:spPr>
          <a:xfrm>
            <a:off x="59893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73" name="Shape 70"/>
          <p:cNvSpPr/>
          <p:nvPr/>
        </p:nvSpPr>
        <p:spPr>
          <a:xfrm>
            <a:off x="640080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400800" y="1828800"/>
            <a:ext cx="91440" cy="2240280"/>
          </a:xfrm>
          <a:prstGeom prst="rect">
            <a:avLst/>
          </a:prstGeom>
          <a:solidFill>
            <a:srgbClr val="49657A"/>
          </a:solidFill>
          <a:ln w="12700">
            <a:solidFill>
              <a:srgbClr val="49657A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65683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原因</a:t>
            </a:r>
            <a:endParaRPr lang="en-US" sz="1900" dirty="0"/>
          </a:p>
        </p:txBody>
      </p:sp>
      <p:sp>
        <p:nvSpPr>
          <p:cNvPr id="76" name="Text 73"/>
          <p:cNvSpPr/>
          <p:nvPr/>
        </p:nvSpPr>
        <p:spPr>
          <a:xfrm>
            <a:off x="665683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缺少適用年度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或解析失敗</a:t>
            </a:r>
            <a:endParaRPr lang="en-US" sz="1500" dirty="0"/>
          </a:p>
        </p:txBody>
      </p:sp>
      <p:sp>
        <p:nvSpPr>
          <p:cNvPr id="77" name="Text 74"/>
          <p:cNvSpPr/>
          <p:nvPr/>
        </p:nvSpPr>
        <p:spPr>
          <a:xfrm>
            <a:off x="882396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58A4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2500" dirty="0"/>
          </a:p>
        </p:txBody>
      </p:sp>
      <p:sp>
        <p:nvSpPr>
          <p:cNvPr id="78" name="Shape 75"/>
          <p:cNvSpPr/>
          <p:nvPr/>
        </p:nvSpPr>
        <p:spPr>
          <a:xfrm>
            <a:off x="9235440" y="1828800"/>
            <a:ext cx="2359152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235440" y="1828800"/>
            <a:ext cx="91440" cy="2240280"/>
          </a:xfrm>
          <a:prstGeom prst="rect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491472" y="2057400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動作</a:t>
            </a:r>
            <a:endParaRPr lang="en-US" sz="1900" dirty="0"/>
          </a:p>
        </p:txBody>
      </p:sp>
      <p:sp>
        <p:nvSpPr>
          <p:cNvPr id="81" name="Text 78"/>
          <p:cNvSpPr/>
          <p:nvPr/>
        </p:nvSpPr>
        <p:spPr>
          <a:xfrm>
            <a:off x="9491472" y="2523744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add_source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repair_parse</a:t>
            </a:r>
            <a:endParaRPr lang="en-US" sz="1500" dirty="0"/>
          </a:p>
        </p:txBody>
      </p:sp>
      <p:sp>
        <p:nvSpPr>
          <p:cNvPr id="82" name="Text 79"/>
          <p:cNvSpPr/>
          <p:nvPr/>
        </p:nvSpPr>
        <p:spPr>
          <a:xfrm>
            <a:off x="841248" y="5001768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允許的改善動作：add_source · repair_parse · revise_chunking_or_metadata · improve_retrieval · revise_prompt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57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914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1828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200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657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64008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6858000"/>
            <a:ext cx="12191695" cy="0"/>
          </a:xfrm>
          <a:prstGeom prst="line">
            <a:avLst/>
          </a:prstGeom>
          <a:noFill/>
          <a:ln w="4445">
            <a:solidFill>
              <a:srgbClr val="EAF0F5"/>
            </a:solidFill>
            <a:prstDash val="solid"/>
          </a:ln>
        </p:spPr>
      </p:sp>
      <p:pic>
        <p:nvPicPr>
          <p:cNvPr id="45" name="Image 0" descr="/private/tmp/20260803-Workshop-day03-analysis-first/course/day-03/instructor/slides/assets/med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164592"/>
            <a:ext cx="1024128" cy="265176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566928" y="4023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個人自我完成檢核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66928" y="667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把文件變成可用的知識，前提是它仍然可追溯。</a:t>
            </a:r>
            <a:endParaRPr lang="en-US" sz="3200" dirty="0"/>
          </a:p>
        </p:txBody>
      </p:sp>
      <p:sp>
        <p:nvSpPr>
          <p:cNvPr id="48" name="Shape 4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255">
            <a:solidFill>
              <a:srgbClr val="D7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0352" y="6510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WRAP UP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064240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419088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2940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6986016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196328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</a:t>
            </a:r>
            <a:endParaRPr lang="en-US" sz="750" dirty="0"/>
          </a:p>
        </p:txBody>
      </p:sp>
      <p:sp>
        <p:nvSpPr>
          <p:cNvPr id="55" name="Shape 52"/>
          <p:cNvSpPr/>
          <p:nvPr/>
        </p:nvSpPr>
        <p:spPr>
          <a:xfrm>
            <a:off x="7552944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763256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</a:t>
            </a:r>
            <a:endParaRPr lang="en-US" sz="750" dirty="0"/>
          </a:p>
        </p:txBody>
      </p:sp>
      <p:sp>
        <p:nvSpPr>
          <p:cNvPr id="57" name="Shape 54"/>
          <p:cNvSpPr/>
          <p:nvPr/>
        </p:nvSpPr>
        <p:spPr>
          <a:xfrm>
            <a:off x="8119872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330184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</a:t>
            </a:r>
            <a:endParaRPr lang="en-US" sz="750" dirty="0"/>
          </a:p>
        </p:txBody>
      </p:sp>
      <p:sp>
        <p:nvSpPr>
          <p:cNvPr id="59" name="Shape 56"/>
          <p:cNvSpPr/>
          <p:nvPr/>
        </p:nvSpPr>
        <p:spPr>
          <a:xfrm>
            <a:off x="8686800" y="6492240"/>
            <a:ext cx="164592" cy="164592"/>
          </a:xfrm>
          <a:prstGeom prst="ellipse">
            <a:avLst/>
          </a:prstGeom>
          <a:solidFill>
            <a:srgbClr val="E8F1F8"/>
          </a:solidFill>
          <a:ln w="12700">
            <a:solidFill>
              <a:srgbClr val="E8F1F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897112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9253728" y="6492240"/>
            <a:ext cx="164592" cy="164592"/>
          </a:xfrm>
          <a:prstGeom prst="ellipse">
            <a:avLst/>
          </a:prstGeom>
          <a:solidFill>
            <a:srgbClr val="3679B9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464040" y="64968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F829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694944" y="2240280"/>
            <a:ext cx="932688" cy="932688"/>
          </a:xfrm>
          <a:prstGeom prst="ellipse">
            <a:avLst/>
          </a:prstGeom>
          <a:solidFill>
            <a:srgbClr val="153E6E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94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700" dirty="0"/>
          </a:p>
        </p:txBody>
      </p:sp>
      <p:sp>
        <p:nvSpPr>
          <p:cNvPr id="65" name="Text 62"/>
          <p:cNvSpPr/>
          <p:nvPr/>
        </p:nvSpPr>
        <p:spPr>
          <a:xfrm>
            <a:off x="347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四份指定資料</a:t>
            </a:r>
            <a:endParaRPr lang="en-US" sz="1500" dirty="0"/>
          </a:p>
        </p:txBody>
      </p:sp>
      <p:sp>
        <p:nvSpPr>
          <p:cNvPr id="66" name="Shape 63"/>
          <p:cNvSpPr/>
          <p:nvPr/>
        </p:nvSpPr>
        <p:spPr>
          <a:xfrm>
            <a:off x="2980944" y="2240280"/>
            <a:ext cx="932688" cy="932688"/>
          </a:xfrm>
          <a:prstGeom prst="ellipse">
            <a:avLst/>
          </a:prstGeom>
          <a:solidFill>
            <a:srgbClr val="153E6E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980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700" dirty="0"/>
          </a:p>
        </p:txBody>
      </p:sp>
      <p:sp>
        <p:nvSpPr>
          <p:cNvPr id="68" name="Text 65"/>
          <p:cNvSpPr/>
          <p:nvPr/>
        </p:nvSpPr>
        <p:spPr>
          <a:xfrm>
            <a:off x="2633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品質與 chunks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5266944" y="2240280"/>
            <a:ext cx="932688" cy="932688"/>
          </a:xfrm>
          <a:prstGeom prst="ellipse">
            <a:avLst/>
          </a:prstGeom>
          <a:solidFill>
            <a:srgbClr val="153E6E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266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700" dirty="0"/>
          </a:p>
        </p:txBody>
      </p:sp>
      <p:sp>
        <p:nvSpPr>
          <p:cNvPr id="71" name="Text 68"/>
          <p:cNvSpPr/>
          <p:nvPr/>
        </p:nvSpPr>
        <p:spPr>
          <a:xfrm>
            <a:off x="4919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向量索引</a:t>
            </a:r>
            <a:endParaRPr lang="en-US" sz="1500" dirty="0"/>
          </a:p>
        </p:txBody>
      </p:sp>
      <p:sp>
        <p:nvSpPr>
          <p:cNvPr id="72" name="Shape 69"/>
          <p:cNvSpPr/>
          <p:nvPr/>
        </p:nvSpPr>
        <p:spPr>
          <a:xfrm>
            <a:off x="7552944" y="2240280"/>
            <a:ext cx="932688" cy="932688"/>
          </a:xfrm>
          <a:prstGeom prst="ellipse">
            <a:avLst/>
          </a:prstGeom>
          <a:solidFill>
            <a:srgbClr val="153E6E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552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</a:t>
            </a:r>
            <a:endParaRPr lang="en-US" sz="1700" dirty="0"/>
          </a:p>
        </p:txBody>
      </p:sp>
      <p:sp>
        <p:nvSpPr>
          <p:cNvPr id="74" name="Text 71"/>
          <p:cNvSpPr/>
          <p:nvPr/>
        </p:nvSpPr>
        <p:spPr>
          <a:xfrm>
            <a:off x="7205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Streamlit 問答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9838944" y="2240280"/>
            <a:ext cx="932688" cy="932688"/>
          </a:xfrm>
          <a:prstGeom prst="ellipse">
            <a:avLst/>
          </a:prstGeom>
          <a:solidFill>
            <a:srgbClr val="E58A4A"/>
          </a:solidFill>
          <a:ln w="12700">
            <a:solidFill>
              <a:srgbClr val="3679B9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9838944" y="251460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</a:t>
            </a:r>
            <a:endParaRPr lang="en-US" sz="1700" dirty="0"/>
          </a:p>
        </p:txBody>
      </p:sp>
      <p:sp>
        <p:nvSpPr>
          <p:cNvPr id="77" name="Text 74"/>
          <p:cNvSpPr/>
          <p:nvPr/>
        </p:nvSpPr>
        <p:spPr>
          <a:xfrm>
            <a:off x="9491472" y="352958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E6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歷程與改善</a:t>
            </a:r>
            <a:endParaRPr lang="en-US" sz="1500" dirty="0"/>
          </a:p>
        </p:txBody>
      </p:sp>
      <p:sp>
        <p:nvSpPr>
          <p:cNvPr id="78" name="Text 75"/>
          <p:cNvSpPr/>
          <p:nvPr/>
        </p:nvSpPr>
        <p:spPr>
          <a:xfrm>
            <a:off x="1097280" y="51206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9B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完成順序：原始文件 → 分析表 → 索引 → Streamlit 問答與歷程。</a:t>
            </a:r>
            <a:endParaRPr lang="en-US" sz="2000" dirty="0"/>
          </a:p>
        </p:txBody>
      </p:sp>
      <p:sp>
        <p:nvSpPr>
          <p:cNvPr id="79" name="Text 76"/>
          <p:cNvSpPr/>
          <p:nvPr/>
        </p:nvSpPr>
        <p:spPr>
          <a:xfrm>
            <a:off x="1417320" y="571500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4965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只在本機執行｜回答附來源｜證據不足時不猜｜以原始網站最新公告為準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YunTech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3｜生成式人工智慧於文本資料分析的應用</dc:title>
  <dc:subject>Day 3 — 生成式人工智慧於文本資料分析的應用</dc:subject>
  <dc:creator>張育慈 Ruby</dc:creator>
  <cp:lastModifiedBy>張育慈 Ruby</cp:lastModifiedBy>
  <cp:revision>1</cp:revision>
  <dcterms:created xsi:type="dcterms:W3CDTF">2026-08-03T03:53:03Z</dcterms:created>
  <dcterms:modified xsi:type="dcterms:W3CDTF">2026-08-03T03:53:03Z</dcterms:modified>
</cp:coreProperties>
</file>